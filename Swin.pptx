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68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9" r:id="rId12"/>
    <p:sldId id="274" r:id="rId13"/>
    <p:sldId id="289" r:id="rId14"/>
    <p:sldId id="281" r:id="rId15"/>
    <p:sldId id="282" r:id="rId16"/>
    <p:sldId id="286" r:id="rId17"/>
    <p:sldId id="278" r:id="rId18"/>
    <p:sldId id="283" r:id="rId19"/>
    <p:sldId id="285" r:id="rId20"/>
    <p:sldId id="288" r:id="rId21"/>
  </p:sldIdLst>
  <p:sldSz cx="12192000" cy="6858000"/>
  <p:notesSz cx="6858000" cy="9144000"/>
  <p:defaultTextStyle>
    <a:defPPr>
      <a:defRPr lang="en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805"/>
    <p:restoredTop sz="94767"/>
  </p:normalViewPr>
  <p:slideViewPr>
    <p:cSldViewPr snapToGrid="0">
      <p:cViewPr>
        <p:scale>
          <a:sx n="114" d="100"/>
          <a:sy n="114" d="100"/>
        </p:scale>
        <p:origin x="720" y="1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33BDF3-2A01-1A91-0AEB-106DD68A8AB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IT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4478EF3-6AB1-D6EA-AF74-96B6A7DF536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3F9AD6-E388-3314-2D4F-6A4560C6FD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06EC92-AD42-EA4E-843F-66F941399442}" type="datetimeFigureOut">
              <a:rPr lang="en-IT" smtClean="0"/>
              <a:t>30/01/26</a:t>
            </a:fld>
            <a:endParaRPr lang="en-I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B71BEE-B79F-EC07-9928-43382809DD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40C3E4-8A54-66D9-693D-339CF0C894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640952-BDAF-C745-9B3E-D577F167F08C}" type="slidenum">
              <a:rPr lang="en-IT" smtClean="0"/>
              <a:t>‹#›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3324792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4C2EDB-B9DC-00F7-D469-E85421CB7E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I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0085B3-2F71-9B09-8849-F4CF60D8A8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996AD42-385F-CE7B-1B59-9651D34ABF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06EC92-AD42-EA4E-843F-66F941399442}" type="datetimeFigureOut">
              <a:rPr lang="en-IT" smtClean="0"/>
              <a:t>30/01/26</a:t>
            </a:fld>
            <a:endParaRPr lang="en-I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25AC86-FADD-DBCA-6CD8-C44D5F5D2A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3510FE-6B20-E106-EB6D-498417F56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640952-BDAF-C745-9B3E-D577F167F08C}" type="slidenum">
              <a:rPr lang="en-IT" smtClean="0"/>
              <a:t>‹#›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12448998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495095-47F4-2558-3A4A-EB309E53A7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I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E9E368B-CB08-B1AC-0E8C-28BBD72F44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5646F2-915A-EC79-86B6-C043577605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06EC92-AD42-EA4E-843F-66F941399442}" type="datetimeFigureOut">
              <a:rPr lang="en-IT" smtClean="0"/>
              <a:t>30/01/26</a:t>
            </a:fld>
            <a:endParaRPr lang="en-I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B0B1C0-6DF1-A0AC-1E4F-8E2D8931AF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A24C4B-D9CB-9F57-9A09-856803C473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640952-BDAF-C745-9B3E-D577F167F08C}" type="slidenum">
              <a:rPr lang="en-IT" smtClean="0"/>
              <a:t>‹#›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23295837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4CF202-8C8F-18C8-5FE7-8065357176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I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9C2006-9997-B892-CEE1-F5AB1EBD0C6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T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FE12833-201A-F49C-78A5-353A414D19D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T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2EAF481-0E74-91FF-B8A2-3DB6D0139D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06EC92-AD42-EA4E-843F-66F941399442}" type="datetimeFigureOut">
              <a:rPr lang="en-IT" smtClean="0"/>
              <a:t>30/01/26</a:t>
            </a:fld>
            <a:endParaRPr lang="en-I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1898A0F-2E04-A3BA-F524-0D92E3D8BC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C422E70-6E01-CAF3-284A-7112070BB7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640952-BDAF-C745-9B3E-D577F167F08C}" type="slidenum">
              <a:rPr lang="en-IT" smtClean="0"/>
              <a:t>‹#›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19541060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0BBA48-6322-FF39-E568-7316407CB0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I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61AE153-DB10-8122-6E0C-5FF0D95DA9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A27F977-60E3-BBAE-DC04-61D90CBDCEB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T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721B0F5-AA19-6EC9-A887-3D682B83DE5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516FEAC-4BD3-6139-CE03-B0B93C7462A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T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DF6D31A-FC73-7C3C-5E69-59CF27A2C9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06EC92-AD42-EA4E-843F-66F941399442}" type="datetimeFigureOut">
              <a:rPr lang="en-IT" smtClean="0"/>
              <a:t>30/01/26</a:t>
            </a:fld>
            <a:endParaRPr lang="en-IT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A164ACD-3DAA-AAE2-A6D6-278034E882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T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4808E4C-D41F-4AB4-1B2A-97D2510E97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640952-BDAF-C745-9B3E-D577F167F08C}" type="slidenum">
              <a:rPr lang="en-IT" smtClean="0"/>
              <a:t>‹#›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29437549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0081C8-2AD7-5774-C54C-CBECB35334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IT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82CE189-6910-6C78-5184-60DD084B34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06EC92-AD42-EA4E-843F-66F941399442}" type="datetimeFigureOut">
              <a:rPr lang="en-IT" smtClean="0"/>
              <a:t>30/01/26</a:t>
            </a:fld>
            <a:endParaRPr lang="en-IT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1D87055-6A42-90BB-09FF-93DE8A9940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T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6322005-5F34-59F8-E046-E82C801774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640952-BDAF-C745-9B3E-D577F167F08C}" type="slidenum">
              <a:rPr lang="en-IT" smtClean="0"/>
              <a:t>‹#›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15508955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E8CBD40-8612-12B1-32B2-04237732CD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06EC92-AD42-EA4E-843F-66F941399442}" type="datetimeFigureOut">
              <a:rPr lang="en-IT" smtClean="0"/>
              <a:t>30/01/26</a:t>
            </a:fld>
            <a:endParaRPr lang="en-IT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B2C795D-F975-E446-BF2B-F75FD8B398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T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416B0A-34F0-C4D0-5DF9-1E4AA960DC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640952-BDAF-C745-9B3E-D577F167F08C}" type="slidenum">
              <a:rPr lang="en-IT" smtClean="0"/>
              <a:t>‹#›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23700303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0F1E7F-BED4-7102-8818-83793F1958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I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A755CB-9E13-E16E-983F-35D03CF2BF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T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9B91491-203F-13AB-5816-23EFE00C1AE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6BDCA6F-1F88-0175-6598-F72BDD2F95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06EC92-AD42-EA4E-843F-66F941399442}" type="datetimeFigureOut">
              <a:rPr lang="en-IT" smtClean="0"/>
              <a:t>30/01/26</a:t>
            </a:fld>
            <a:endParaRPr lang="en-I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31ECB8F-98A1-FECD-1FD8-1C3B8159AA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CD94BB-B28C-5E8F-DDB9-D05DC2E992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640952-BDAF-C745-9B3E-D577F167F08C}" type="slidenum">
              <a:rPr lang="en-IT" smtClean="0"/>
              <a:t>‹#›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35334484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30F30C-8EC4-F7DF-A961-5707D2B552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IT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E3EBEAF-DF08-E79A-6AAE-856863A83C4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T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A221E3A-029C-A1F1-1D09-FE689832B35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D97A312-D776-DAD9-DDBA-C7E147E5E5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06EC92-AD42-EA4E-843F-66F941399442}" type="datetimeFigureOut">
              <a:rPr lang="en-IT" smtClean="0"/>
              <a:t>30/01/26</a:t>
            </a:fld>
            <a:endParaRPr lang="en-I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95EEC34-D18B-6AA3-F549-EBFB6E0642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4C70F9-2DE6-1B5D-A6F6-47D8D31BED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640952-BDAF-C745-9B3E-D577F167F08C}" type="slidenum">
              <a:rPr lang="en-IT" smtClean="0"/>
              <a:t>‹#›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5553748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FD9D21-9F45-D502-5A37-2688AC91FA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IT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6DB209D-F034-6BC2-C262-DB45D0CDC85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127493-7B5C-016A-EE1F-198FE995C4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06EC92-AD42-EA4E-843F-66F941399442}" type="datetimeFigureOut">
              <a:rPr lang="en-IT" smtClean="0"/>
              <a:t>30/01/26</a:t>
            </a:fld>
            <a:endParaRPr lang="en-I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BDC203-B23B-05E8-9A75-FEBFD9EC40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DB494F-A751-A137-B0BC-A9CA6B9A17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640952-BDAF-C745-9B3E-D577F167F08C}" type="slidenum">
              <a:rPr lang="en-IT" smtClean="0"/>
              <a:t>‹#›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16674812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1FFF7A7-FB0B-F2AB-61A5-291066371FE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IT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02132AE-23BE-5E11-4E5F-4D7AF0611B4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AFD414-9CBF-5311-4FA5-BCE03B24EB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06EC92-AD42-EA4E-843F-66F941399442}" type="datetimeFigureOut">
              <a:rPr lang="en-IT" smtClean="0"/>
              <a:t>30/01/26</a:t>
            </a:fld>
            <a:endParaRPr lang="en-I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1D895C-0802-FD8F-E351-39D5B15BB8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90586C-A8D7-6400-A5DA-34A2835CEB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640952-BDAF-C745-9B3E-D577F167F08C}" type="slidenum">
              <a:rPr lang="en-IT" smtClean="0"/>
              <a:t>‹#›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14114790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3FD91F8-75D7-8C1F-0FA8-2D45FA9D20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I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EA90823-5D75-0FF4-F210-4F790BA7DE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9BA2E6-0268-0076-42D6-1528F3CC546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906EC92-AD42-EA4E-843F-66F941399442}" type="datetimeFigureOut">
              <a:rPr lang="en-IT" smtClean="0"/>
              <a:t>30/01/26</a:t>
            </a:fld>
            <a:endParaRPr lang="en-I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213972-287A-7E38-CE18-F77A204D59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AB713AE-1C94-CC40-6700-C99B80CB34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9640952-BDAF-C745-9B3E-D577F167F08C}" type="slidenum">
              <a:rPr lang="en-IT" smtClean="0"/>
              <a:t>‹#›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1827795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63EC76-45AC-C925-D594-B5C1B11D3B6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T" dirty="0"/>
              <a:t>Swin Transformer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BE82987-BC4E-49AC-F87C-D10E106E82E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IT" dirty="0"/>
              <a:t>Computer Vision 24/25</a:t>
            </a:r>
          </a:p>
          <a:p>
            <a:endParaRPr lang="en-IT" dirty="0"/>
          </a:p>
          <a:p>
            <a:r>
              <a:rPr lang="en-IT" dirty="0"/>
              <a:t>Matteo Fontana</a:t>
            </a:r>
          </a:p>
        </p:txBody>
      </p:sp>
    </p:spTree>
    <p:extLst>
      <p:ext uri="{BB962C8B-B14F-4D97-AF65-F5344CB8AC3E}">
        <p14:creationId xmlns:p14="http://schemas.microsoft.com/office/powerpoint/2010/main" val="41600042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B0BC9A-9B0B-454A-27D0-C6D50397F9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Introduction and Context</a:t>
            </a:r>
            <a:endParaRPr lang="en-IT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568987-24BC-F0E7-94C8-E12CAE389F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2400" b="1" dirty="0"/>
              <a:t>Evolution: </a:t>
            </a:r>
            <a:r>
              <a:rPr lang="en-GB" sz="2400" dirty="0"/>
              <a:t>Modelling in computer vision has long been dominated by CNNs.</a:t>
            </a:r>
          </a:p>
          <a:p>
            <a:pPr lvl="1"/>
            <a:r>
              <a:rPr lang="en-GB" sz="2000" dirty="0"/>
              <a:t>Meanwhile, in NLP the dominant architecture has become Transformer.</a:t>
            </a:r>
          </a:p>
          <a:p>
            <a:r>
              <a:rPr lang="en-GB" sz="2400" b="1" dirty="0"/>
              <a:t>The problem: </a:t>
            </a:r>
            <a:r>
              <a:rPr lang="en-GB" sz="2400" dirty="0"/>
              <a:t>Adapting Transformers from language to vision is difficult due to two main differences:</a:t>
            </a:r>
          </a:p>
          <a:p>
            <a:pPr marL="914400" lvl="1" indent="-457200">
              <a:buAutoNum type="arabicPeriod"/>
            </a:pPr>
            <a:r>
              <a:rPr lang="en-GB" sz="2000" b="1" dirty="0"/>
              <a:t>Scale</a:t>
            </a:r>
            <a:r>
              <a:rPr lang="en-GB" sz="2000" dirty="0"/>
              <a:t>: Visual entities vary dramatically in scale (unlike word "tokens" that have a fixed size).</a:t>
            </a:r>
          </a:p>
          <a:p>
            <a:pPr marL="914400" lvl="1" indent="-457200">
              <a:buAutoNum type="arabicPeriod"/>
            </a:pPr>
            <a:r>
              <a:rPr lang="en-GB" sz="2000" b="1" dirty="0"/>
              <a:t>Resolution</a:t>
            </a:r>
            <a:r>
              <a:rPr lang="en-GB" sz="2000" dirty="0"/>
              <a:t>: Images have a much higher resolution than texts, making global attention computationally expensive.</a:t>
            </a:r>
            <a:endParaRPr lang="en-IT" sz="2000" dirty="0"/>
          </a:p>
        </p:txBody>
      </p:sp>
    </p:spTree>
    <p:extLst>
      <p:ext uri="{BB962C8B-B14F-4D97-AF65-F5344CB8AC3E}">
        <p14:creationId xmlns:p14="http://schemas.microsoft.com/office/powerpoint/2010/main" val="16032840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F41722-D410-475C-DFC3-1B46D71215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Transformer Limitations</a:t>
            </a:r>
            <a:endParaRPr lang="en-IT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6F9060-66B2-448F-ADBA-A3B373440F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2400" b="1" dirty="0"/>
              <a:t>Vision Transformer</a:t>
            </a:r>
            <a:r>
              <a:rPr lang="en-GB" sz="2400" dirty="0"/>
              <a:t> (</a:t>
            </a:r>
            <a:r>
              <a:rPr lang="en-GB" sz="2400" dirty="0" err="1"/>
              <a:t>ViT</a:t>
            </a:r>
            <a:r>
              <a:rPr lang="en-GB" sz="2400" dirty="0"/>
              <a:t>): Processes low-resolution feature maps and has quadratic complexity with respect to image size.</a:t>
            </a:r>
          </a:p>
          <a:p>
            <a:r>
              <a:rPr lang="en-GB" sz="2400" b="1" dirty="0"/>
              <a:t>The bottleneck</a:t>
            </a:r>
            <a:r>
              <a:rPr lang="en-GB" sz="2400" dirty="0"/>
              <a:t>: The global self-attention algorithm calculates the relationships between one token and all other tokens.</a:t>
            </a:r>
          </a:p>
          <a:p>
            <a:r>
              <a:rPr lang="en-GB" sz="2400" b="1" dirty="0"/>
              <a:t>Complexity</a:t>
            </a:r>
            <a:r>
              <a:rPr lang="en-GB" sz="2400" dirty="0"/>
              <a:t>: O(N^2), where N is the number of tokens (patches)</a:t>
            </a:r>
          </a:p>
          <a:p>
            <a:r>
              <a:rPr lang="en-GB" sz="2400" b="1" dirty="0"/>
              <a:t>Consequence</a:t>
            </a:r>
            <a:r>
              <a:rPr lang="en-GB" sz="2400" dirty="0"/>
              <a:t>: This makes classical Transformers unsuitable for "dense prediction" tasks (such as segmentation) or for high-resolution images</a:t>
            </a:r>
          </a:p>
        </p:txBody>
      </p:sp>
    </p:spTree>
    <p:extLst>
      <p:ext uri="{BB962C8B-B14F-4D97-AF65-F5344CB8AC3E}">
        <p14:creationId xmlns:p14="http://schemas.microsoft.com/office/powerpoint/2010/main" val="42335191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62ECD0-4E89-AB35-7334-B3DB563F3C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The Solution: Swin Transformer</a:t>
            </a:r>
            <a:endParaRPr lang="en-IT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BA687E-8ED4-FFE5-98B0-91C037A63B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2400" b="1" dirty="0"/>
              <a:t>Key Concept</a:t>
            </a:r>
            <a:r>
              <a:rPr lang="en-GB" sz="2400" dirty="0"/>
              <a:t>: A hierarchical Transformer using Shifted Windows mechanism.</a:t>
            </a:r>
          </a:p>
          <a:p>
            <a:r>
              <a:rPr lang="en-GB" sz="2400" b="1" dirty="0"/>
              <a:t>Distinguishing features</a:t>
            </a:r>
            <a:r>
              <a:rPr lang="en-GB" sz="2400" dirty="0"/>
              <a:t>:</a:t>
            </a:r>
          </a:p>
          <a:p>
            <a:pPr lvl="1"/>
            <a:r>
              <a:rPr lang="en-GB" sz="2000" dirty="0"/>
              <a:t>It builds hierarchical feature maps (like CNNs), allowing you to model various scales.</a:t>
            </a:r>
          </a:p>
          <a:p>
            <a:pPr lvl="1"/>
            <a:r>
              <a:rPr lang="en-GB" sz="2000" dirty="0"/>
              <a:t>It has a computational complexity linear with respect to the image size.</a:t>
            </a:r>
          </a:p>
          <a:p>
            <a:r>
              <a:rPr lang="en-GB" sz="2400" b="1" dirty="0"/>
              <a:t>Result</a:t>
            </a:r>
            <a:r>
              <a:rPr lang="en-GB" sz="2400" dirty="0"/>
              <a:t>: It serves as a "general-purpose" backbone compatible with classification, object detection and semantic segmentation.</a:t>
            </a:r>
            <a:endParaRPr lang="en-IT" sz="2400" dirty="0"/>
          </a:p>
        </p:txBody>
      </p:sp>
      <p:pic>
        <p:nvPicPr>
          <p:cNvPr id="5" name="Picture 4" descr="A diagram of a solar panel&#10;&#10;AI-generated content may be incorrect.">
            <a:extLst>
              <a:ext uri="{FF2B5EF4-FFF2-40B4-BE49-F238E27FC236}">
                <a16:creationId xmlns:a16="http://schemas.microsoft.com/office/drawing/2014/main" id="{3E98AD36-2ABB-9544-EE8F-93AAD3AC97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45520" y="4270680"/>
            <a:ext cx="4100959" cy="22221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261386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4BEB8C-CD76-E660-3B55-DA244E6937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General Architecture (Pipeline)</a:t>
            </a:r>
            <a:endParaRPr lang="en-IT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63D1D-AB1C-0B19-E2B8-67DBB1667E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2400" b="1" dirty="0"/>
              <a:t>Patch Partition</a:t>
            </a:r>
            <a:r>
              <a:rPr lang="en-GB" sz="2400" dirty="0"/>
              <a:t>: The RGB image is split into non-overlapping patches</a:t>
            </a:r>
          </a:p>
          <a:p>
            <a:r>
              <a:rPr lang="en-GB" sz="2400" b="1" dirty="0"/>
              <a:t>Linear Embedding</a:t>
            </a:r>
            <a:r>
              <a:rPr lang="en-GB" sz="2400" dirty="0"/>
              <a:t>: Projects the raw feature into an arbitrary dimension C.</a:t>
            </a:r>
          </a:p>
          <a:p>
            <a:r>
              <a:rPr lang="en-GB" sz="2400" b="1" dirty="0"/>
              <a:t>Patch Merging</a:t>
            </a:r>
            <a:r>
              <a:rPr lang="en-GB" sz="2400" dirty="0"/>
              <a:t>: At each stage merge 2x2 neighbouring patches.</a:t>
            </a:r>
          </a:p>
          <a:p>
            <a:r>
              <a:rPr lang="en-GB" sz="2400" b="1" dirty="0"/>
              <a:t>Swin Transformer Blocks</a:t>
            </a:r>
            <a:r>
              <a:rPr lang="en-GB" sz="2400" dirty="0"/>
              <a:t>: Modified self-attention blocks applied to tokens.</a:t>
            </a:r>
          </a:p>
          <a:p>
            <a:r>
              <a:rPr lang="en-GB" sz="2400" b="1" dirty="0"/>
              <a:t>Stages</a:t>
            </a:r>
            <a:r>
              <a:rPr lang="en-GB" sz="2400" dirty="0"/>
              <a:t>: The architecture is divided into 4 stages to produce a hierarchical representation.</a:t>
            </a:r>
            <a:endParaRPr lang="en-IT" sz="2400" dirty="0"/>
          </a:p>
        </p:txBody>
      </p:sp>
      <p:pic>
        <p:nvPicPr>
          <p:cNvPr id="4" name="Content Placeholder 14" descr="A diagram of a block diagram&#10;&#10;AI-generated content may be incorrect.">
            <a:extLst>
              <a:ext uri="{FF2B5EF4-FFF2-40B4-BE49-F238E27FC236}">
                <a16:creationId xmlns:a16="http://schemas.microsoft.com/office/drawing/2014/main" id="{05859712-3917-5C6E-0D15-8F8B6FCA7E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2036" y="4303553"/>
            <a:ext cx="8067927" cy="24002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172991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32483F-CEBD-5AA9-38F7-2C803E2757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Patch Merging</a:t>
            </a:r>
            <a:endParaRPr lang="en-IT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839642-2876-FC5F-F12C-6525C2E047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2400" b="1" dirty="0"/>
              <a:t>Objective</a:t>
            </a:r>
            <a:r>
              <a:rPr lang="en-GB" sz="2400" dirty="0"/>
              <a:t>: Reduce the number of tokens as the network deepens to increase the receptive field.</a:t>
            </a:r>
          </a:p>
          <a:p>
            <a:r>
              <a:rPr lang="en-GB" sz="2400" b="1" dirty="0"/>
              <a:t>Patch merge level</a:t>
            </a:r>
            <a:r>
              <a:rPr lang="en-GB" sz="2400" dirty="0"/>
              <a:t>:</a:t>
            </a:r>
          </a:p>
          <a:p>
            <a:pPr lvl="1"/>
            <a:r>
              <a:rPr lang="en-GB" sz="2000" dirty="0"/>
              <a:t>Concatenate features from groups of 2×2 neighbouring patches.</a:t>
            </a:r>
          </a:p>
          <a:p>
            <a:pPr lvl="1"/>
            <a:r>
              <a:rPr lang="en-GB" sz="2000" dirty="0"/>
              <a:t>Reduce the number of tokens by a factor of 4 (downsampling 2×).</a:t>
            </a:r>
          </a:p>
          <a:p>
            <a:pPr lvl="1"/>
            <a:r>
              <a:rPr lang="en-GB" sz="2000" dirty="0"/>
              <a:t>Result: output with decreasing resolutions (H/4,H/8,H/16,H/32), ideal for Feature Pyramid Networks (FPN) or U-Net a feature size (e.g. C to 2C).</a:t>
            </a:r>
            <a:endParaRPr lang="en-IT" sz="2000" dirty="0"/>
          </a:p>
        </p:txBody>
      </p:sp>
      <p:sp>
        <p:nvSpPr>
          <p:cNvPr id="6" name="AutoShape 4">
            <a:extLst>
              <a:ext uri="{FF2B5EF4-FFF2-40B4-BE49-F238E27FC236}">
                <a16:creationId xmlns:a16="http://schemas.microsoft.com/office/drawing/2014/main" id="{7CCD02B0-BB8A-27BB-FE85-9D22847B6E54}"/>
              </a:ext>
            </a:extLst>
          </p:cNvPr>
          <p:cNvSpPr>
            <a:spLocks noChangeAspect="1" noChangeArrowheads="1"/>
          </p:cNvSpPr>
          <p:nvPr/>
        </p:nvSpPr>
        <p:spPr bwMode="auto">
          <a:xfrm flipV="1">
            <a:off x="6018028" y="2030709"/>
            <a:ext cx="272488" cy="2724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T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8BA45C1-D218-9B88-C9A3-3047E3F669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5359" y="4552903"/>
            <a:ext cx="2568617" cy="175899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6F61BDD-4CDD-7451-A11F-B47A3DCCA1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32472" y="4579692"/>
            <a:ext cx="2568617" cy="1732208"/>
          </a:xfrm>
          <a:prstGeom prst="rect">
            <a:avLst/>
          </a:prstGeom>
        </p:spPr>
      </p:pic>
      <p:sp>
        <p:nvSpPr>
          <p:cNvPr id="9" name="Right Arrow 8">
            <a:extLst>
              <a:ext uri="{FF2B5EF4-FFF2-40B4-BE49-F238E27FC236}">
                <a16:creationId xmlns:a16="http://schemas.microsoft.com/office/drawing/2014/main" id="{7444337B-C698-F413-F69E-FB6EFD66EABE}"/>
              </a:ext>
            </a:extLst>
          </p:cNvPr>
          <p:cNvSpPr/>
          <p:nvPr/>
        </p:nvSpPr>
        <p:spPr>
          <a:xfrm>
            <a:off x="5759020" y="5203480"/>
            <a:ext cx="978408" cy="4846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24C1B85-0574-98B6-EB1E-C63DFF15150E}"/>
              </a:ext>
            </a:extLst>
          </p:cNvPr>
          <p:cNvSpPr txBox="1"/>
          <p:nvPr/>
        </p:nvSpPr>
        <p:spPr>
          <a:xfrm>
            <a:off x="9336046" y="4025590"/>
            <a:ext cx="256861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T" dirty="0"/>
              <a:t>Explain better this last point</a:t>
            </a:r>
          </a:p>
        </p:txBody>
      </p:sp>
    </p:spTree>
    <p:extLst>
      <p:ext uri="{BB962C8B-B14F-4D97-AF65-F5344CB8AC3E}">
        <p14:creationId xmlns:p14="http://schemas.microsoft.com/office/powerpoint/2010/main" val="33139901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C7CF3F-7587-19DE-B195-B0EB492138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/>
              <a:t>Window-based Self-Attention (W-MSA)</a:t>
            </a:r>
            <a:endParaRPr lang="en-IT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A8851B-0A9A-A35F-455E-E23406B453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2400" b="1" dirty="0"/>
              <a:t>Efficiency</a:t>
            </a:r>
            <a:r>
              <a:rPr lang="en-GB" sz="2400" dirty="0"/>
              <a:t>: Instead of global attention, Swin calculates self-attention only within non-overlapping local windows.</a:t>
            </a:r>
          </a:p>
          <a:p>
            <a:r>
              <a:rPr lang="en-GB" sz="2400" b="1" dirty="0"/>
              <a:t>Window Size</a:t>
            </a:r>
            <a:r>
              <a:rPr lang="en-GB" sz="2400" dirty="0"/>
              <a:t>: Fixed to M×M patch (default M=7).</a:t>
            </a:r>
          </a:p>
          <a:p>
            <a:r>
              <a:rPr lang="en-GB" sz="2400" b="1" dirty="0"/>
              <a:t>Complexity Comparison</a:t>
            </a:r>
            <a:r>
              <a:rPr lang="en-GB" sz="2400" dirty="0"/>
              <a:t>:</a:t>
            </a:r>
          </a:p>
          <a:p>
            <a:pPr lvl="1"/>
            <a:r>
              <a:rPr lang="en-GB" sz="2000" dirty="0"/>
              <a:t>Global self-attention computation is generally unaffordable for a large </a:t>
            </a:r>
            <a:r>
              <a:rPr lang="en-GB" sz="2000" dirty="0" err="1"/>
              <a:t>hw</a:t>
            </a:r>
            <a:r>
              <a:rPr lang="en-GB" sz="2000" dirty="0"/>
              <a:t>, while the window based self-attention is scalable.</a:t>
            </a:r>
          </a:p>
          <a:p>
            <a:endParaRPr lang="en-GB" sz="2000" b="1" dirty="0"/>
          </a:p>
          <a:p>
            <a:endParaRPr lang="en-GB" sz="2400" b="1" dirty="0"/>
          </a:p>
          <a:p>
            <a:r>
              <a:rPr lang="en-GB" sz="2400" b="1" dirty="0"/>
              <a:t>Advantage</a:t>
            </a:r>
            <a:r>
              <a:rPr lang="en-GB" sz="2400" dirty="0"/>
              <a:t>: Scalable for large images.</a:t>
            </a:r>
            <a:endParaRPr lang="en-IT" sz="2400" dirty="0"/>
          </a:p>
        </p:txBody>
      </p:sp>
      <p:pic>
        <p:nvPicPr>
          <p:cNvPr id="9" name="Picture 8" descr="A black text on a white background&#10;&#10;AI-generated content may be incorrect.">
            <a:extLst>
              <a:ext uri="{FF2B5EF4-FFF2-40B4-BE49-F238E27FC236}">
                <a16:creationId xmlns:a16="http://schemas.microsoft.com/office/drawing/2014/main" id="{0BF32E92-41E1-55CA-7326-D8314F7B31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4000" y="4103204"/>
            <a:ext cx="4064000" cy="8890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7CBB2F69-DD30-E58A-6989-9D4F51B7C81F}"/>
              </a:ext>
            </a:extLst>
          </p:cNvPr>
          <p:cNvSpPr txBox="1"/>
          <p:nvPr/>
        </p:nvSpPr>
        <p:spPr>
          <a:xfrm flipH="1">
            <a:off x="8575288" y="2556403"/>
            <a:ext cx="31223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T" dirty="0"/>
              <a:t>E</a:t>
            </a:r>
            <a:r>
              <a:rPr lang="en-GB" dirty="0"/>
              <a:t>x</a:t>
            </a:r>
            <a:r>
              <a:rPr lang="en-IT" dirty="0"/>
              <a:t>plain better what is this hw</a:t>
            </a:r>
          </a:p>
        </p:txBody>
      </p:sp>
    </p:spTree>
    <p:extLst>
      <p:ext uri="{BB962C8B-B14F-4D97-AF65-F5344CB8AC3E}">
        <p14:creationId xmlns:p14="http://schemas.microsoft.com/office/powerpoint/2010/main" val="266719753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F7A67-E251-0A15-86F4-1CFE1B3C31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Shifted Window Partitioning (SW-MSA)</a:t>
            </a:r>
            <a:endParaRPr lang="en-IT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0632F6-4444-AF89-6E22-C73EF0E33E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2400" b="1" dirty="0"/>
              <a:t>The Fixed Window Problem</a:t>
            </a:r>
            <a:r>
              <a:rPr lang="en-GB" sz="2400" dirty="0"/>
              <a:t>: Non-overlapping windows lack connections between them, limiting modelling power.</a:t>
            </a:r>
          </a:p>
          <a:p>
            <a:r>
              <a:rPr lang="en-GB" sz="2400" b="1" dirty="0"/>
              <a:t>The Solution (Shifted Windows)</a:t>
            </a:r>
            <a:r>
              <a:rPr lang="en-GB" sz="2400" dirty="0"/>
              <a:t>:</a:t>
            </a:r>
            <a:r>
              <a:rPr lang="en-GB" sz="2400" b="1" dirty="0"/>
              <a:t>  </a:t>
            </a:r>
            <a:r>
              <a:rPr lang="en-GB" sz="2400" dirty="0"/>
              <a:t>Alternate partitioning windows                                                                              between consecutive blocks.</a:t>
            </a:r>
          </a:p>
          <a:p>
            <a:pPr lvl="1"/>
            <a:r>
              <a:rPr lang="en-GB" sz="2000" b="1" dirty="0"/>
              <a:t>Layer l</a:t>
            </a:r>
            <a:r>
              <a:rPr lang="en-GB" sz="2000" dirty="0"/>
              <a:t>: Regular partition.</a:t>
            </a:r>
          </a:p>
          <a:p>
            <a:pPr lvl="1"/>
            <a:r>
              <a:rPr lang="en-GB" sz="2000" b="1" dirty="0"/>
              <a:t>Layer l+1</a:t>
            </a:r>
            <a:r>
              <a:rPr lang="en-GB" sz="2000" dirty="0"/>
              <a:t>: Translated (shifted) partition of (M/2,M/2) pixels.</a:t>
            </a:r>
          </a:p>
          <a:p>
            <a:r>
              <a:rPr lang="en-GB" sz="2400" b="1" dirty="0"/>
              <a:t>Effect</a:t>
            </a:r>
            <a:r>
              <a:rPr lang="en-GB" sz="2400" dirty="0"/>
              <a:t>: Introduces connections between neighbouring windows of the previous layer, maintaining efficiency.</a:t>
            </a:r>
            <a:endParaRPr lang="en-IT" sz="2400" dirty="0"/>
          </a:p>
        </p:txBody>
      </p:sp>
      <p:pic>
        <p:nvPicPr>
          <p:cNvPr id="4" name="Picture 3" descr="A screenshot of a layer of a window&#10;&#10;AI-generated content may be incorrect.">
            <a:extLst>
              <a:ext uri="{FF2B5EF4-FFF2-40B4-BE49-F238E27FC236}">
                <a16:creationId xmlns:a16="http://schemas.microsoft.com/office/drawing/2014/main" id="{E2F05FA6-3B5B-CAA2-638A-A283D21981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0923" y="4552038"/>
            <a:ext cx="4718108" cy="17598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78318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5466D6-3675-C8F7-EA14-1AC6866428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SW-MSA: Efficient Batch Computation</a:t>
            </a:r>
            <a:endParaRPr lang="en-IT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B329C9-AEEB-E95D-9196-048FB706D2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2400" b="1" dirty="0"/>
              <a:t>Challenge</a:t>
            </a:r>
            <a:r>
              <a:rPr lang="en-GB" sz="2400" dirty="0"/>
              <a:t>: Moving windows (shifting) creates multiple windows, some of which are smaller than M×M.</a:t>
            </a:r>
          </a:p>
          <a:p>
            <a:r>
              <a:rPr lang="en-GB" sz="2400" b="1" dirty="0"/>
              <a:t>Naive Solution</a:t>
            </a:r>
            <a:r>
              <a:rPr lang="en-GB" sz="2400" dirty="0"/>
              <a:t>: Padding (filling) small windows -&gt; Increases the calculation (2×2 becomes 3×3).</a:t>
            </a:r>
          </a:p>
          <a:p>
            <a:r>
              <a:rPr lang="en-GB" sz="2400" b="1" dirty="0"/>
              <a:t>Swin Solution </a:t>
            </a:r>
            <a:r>
              <a:rPr lang="en-GB" sz="2400" dirty="0"/>
              <a:t>(</a:t>
            </a:r>
            <a:r>
              <a:rPr lang="en-GB" sz="2400" b="1" dirty="0"/>
              <a:t>Cyclic Shift</a:t>
            </a:r>
            <a:r>
              <a:rPr lang="en-GB" sz="2400" dirty="0"/>
              <a:t>): Cyclically move the image up to the left.</a:t>
            </a:r>
          </a:p>
          <a:p>
            <a:pPr lvl="1"/>
            <a:r>
              <a:rPr lang="en-GB" sz="2000" dirty="0"/>
              <a:t>Windows are composed of non-adjacent sub-parts.</a:t>
            </a:r>
          </a:p>
          <a:p>
            <a:pPr lvl="1"/>
            <a:r>
              <a:rPr lang="en-GB" sz="2000" dirty="0"/>
              <a:t>A Masked MSA is used to limit attention within each contiguous </a:t>
            </a:r>
            <a:r>
              <a:rPr lang="en-GB" sz="2000" dirty="0" err="1"/>
              <a:t>subwindow</a:t>
            </a:r>
            <a:r>
              <a:rPr lang="en-GB" sz="2000" dirty="0"/>
              <a:t>.</a:t>
            </a:r>
          </a:p>
          <a:p>
            <a:r>
              <a:rPr lang="en-GB" sz="2400" b="1" dirty="0"/>
              <a:t>Advantage</a:t>
            </a:r>
            <a:r>
              <a:rPr lang="en-GB" sz="2400" dirty="0"/>
              <a:t>: Maintains the same number of windows as the regular partition, ensuring low latency.</a:t>
            </a:r>
            <a:endParaRPr lang="en-IT" sz="2400" dirty="0"/>
          </a:p>
        </p:txBody>
      </p:sp>
      <p:pic>
        <p:nvPicPr>
          <p:cNvPr id="5" name="Picture 4" descr="A diagram of a graph&#10;&#10;AI-generated content may be incorrect.">
            <a:extLst>
              <a:ext uri="{FF2B5EF4-FFF2-40B4-BE49-F238E27FC236}">
                <a16:creationId xmlns:a16="http://schemas.microsoft.com/office/drawing/2014/main" id="{E2FB43DF-523E-5E82-8BAE-C2146E022E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63793" y="4964926"/>
            <a:ext cx="5646768" cy="15279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326143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6C5C48-1559-FD73-859C-937E51C468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Relative Position Bias</a:t>
            </a:r>
            <a:endParaRPr lang="en-IT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F6047D-22A6-6C3B-5E23-0467A5C842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2400" b="1" dirty="0"/>
              <a:t>Mechanism</a:t>
            </a:r>
            <a:r>
              <a:rPr lang="en-GB" sz="2400" dirty="0"/>
              <a:t>: When calculating similarity in attention, a position-related bias term B is added.</a:t>
            </a:r>
          </a:p>
          <a:p>
            <a:endParaRPr lang="en-GB" sz="2400" dirty="0"/>
          </a:p>
          <a:p>
            <a:endParaRPr lang="en-GB" sz="2400" dirty="0"/>
          </a:p>
          <a:p>
            <a:r>
              <a:rPr lang="en-GB" sz="2400" b="1" dirty="0"/>
              <a:t>Importance</a:t>
            </a:r>
            <a:r>
              <a:rPr lang="en-GB" sz="2400" dirty="0"/>
              <a:t>: Significantly improves performance compared to no positional coding or the use of absolute positional embeddings (typical of </a:t>
            </a:r>
            <a:r>
              <a:rPr lang="en-GB" sz="2400" dirty="0" err="1"/>
              <a:t>ViT</a:t>
            </a:r>
            <a:r>
              <a:rPr lang="en-GB" sz="2400" dirty="0"/>
              <a:t>).</a:t>
            </a:r>
          </a:p>
          <a:p>
            <a:r>
              <a:rPr lang="en-GB" sz="2400" dirty="0"/>
              <a:t>Translation equivariance still proves crucial for visual </a:t>
            </a:r>
            <a:r>
              <a:rPr lang="en-GB" sz="2400" dirty="0" err="1"/>
              <a:t>modeling</a:t>
            </a:r>
            <a:endParaRPr lang="en-IT" sz="24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A6F790A-6B40-32C5-38CE-C87FE78CD9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2392" y="2689635"/>
            <a:ext cx="7167215" cy="5212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420390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6BE807-B713-8E6B-CE74-337D6076C6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Ablation Studies: Component Analysis</a:t>
            </a:r>
            <a:endParaRPr lang="en-IT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64E6FC-61D4-FC48-C8EE-BC387B0625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2400" dirty="0"/>
              <a:t>What makes Swin effective?</a:t>
            </a:r>
          </a:p>
          <a:p>
            <a:pPr lvl="1"/>
            <a:r>
              <a:rPr lang="en-GB" sz="2000" b="1" dirty="0"/>
              <a:t>Shifted Windows</a:t>
            </a:r>
            <a:r>
              <a:rPr lang="en-GB" sz="2000" dirty="0"/>
              <a:t>: Without moving windows, performance drops (e.g. -2.8 AP on COCO), demonstrating that connections between windows are crucial.</a:t>
            </a:r>
          </a:p>
          <a:p>
            <a:pPr lvl="1"/>
            <a:r>
              <a:rPr lang="en-GB" sz="2000" b="1" dirty="0"/>
              <a:t>Relative Position Bias</a:t>
            </a:r>
            <a:r>
              <a:rPr lang="en-GB" sz="2000" dirty="0"/>
              <a:t>: Adds +1.2% on ImageNet and +1.3 AP on COCO compared to no positional encoding.</a:t>
            </a:r>
          </a:p>
          <a:p>
            <a:pPr lvl="1"/>
            <a:r>
              <a:rPr lang="en-GB" sz="2000" b="1" dirty="0"/>
              <a:t>Speed</a:t>
            </a:r>
            <a:r>
              <a:rPr lang="en-GB" sz="2000" dirty="0"/>
              <a:t>: Cyclic implementation is faster than padding (up to 18% speed-up).</a:t>
            </a:r>
            <a:endParaRPr lang="en-IT" sz="2000" dirty="0"/>
          </a:p>
        </p:txBody>
      </p:sp>
    </p:spTree>
    <p:extLst>
      <p:ext uri="{BB962C8B-B14F-4D97-AF65-F5344CB8AC3E}">
        <p14:creationId xmlns:p14="http://schemas.microsoft.com/office/powerpoint/2010/main" val="326183354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2060D4-1EBB-FAC7-489E-AF6EFD3D05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16372A-321F-AEB7-3FBE-FDBA2D8467B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T" dirty="0"/>
              <a:t>Swin Transformer for Chest X-Ray classification</a:t>
            </a:r>
          </a:p>
        </p:txBody>
      </p:sp>
    </p:spTree>
    <p:extLst>
      <p:ext uri="{BB962C8B-B14F-4D97-AF65-F5344CB8AC3E}">
        <p14:creationId xmlns:p14="http://schemas.microsoft.com/office/powerpoint/2010/main" val="139043930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3DE335-619E-7E39-2615-9EA3820A44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Experiment Design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047F44-C014-EDFA-BE04-B8FC333690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T" sz="2400" dirty="0"/>
              <a:t>Goal:</a:t>
            </a:r>
          </a:p>
          <a:p>
            <a:pPr lvl="1"/>
            <a:r>
              <a:rPr lang="en-IT" sz="2000" dirty="0"/>
              <a:t>Show the importance of the shifted-window mechanism in Swin architecture.</a:t>
            </a:r>
          </a:p>
          <a:p>
            <a:pPr lvl="1"/>
            <a:r>
              <a:rPr lang="en-IT" sz="2000" dirty="0"/>
              <a:t>Prove the attitude of the model to tranfer learning it’s knowledge to a new and totally different domain.</a:t>
            </a:r>
          </a:p>
          <a:p>
            <a:r>
              <a:rPr lang="en-IT" sz="2400" dirty="0"/>
              <a:t>Three fine-tuning on the same pre-trained (ImageNet) model Swin-T (28M parameters) with diffierent window sizes to isolate the window importance:</a:t>
            </a:r>
          </a:p>
          <a:p>
            <a:pPr lvl="1"/>
            <a:r>
              <a:rPr lang="en-IT" sz="2000" dirty="0"/>
              <a:t>Window size 7.</a:t>
            </a:r>
          </a:p>
          <a:p>
            <a:pPr lvl="1"/>
            <a:r>
              <a:rPr lang="en-IT" sz="2000" dirty="0"/>
              <a:t>Window size 14.</a:t>
            </a:r>
          </a:p>
          <a:p>
            <a:pPr lvl="1"/>
            <a:r>
              <a:rPr lang="en-IT" sz="2000" dirty="0"/>
              <a:t>Window size 56 (simulation of global attention.,</a:t>
            </a:r>
          </a:p>
          <a:p>
            <a:pPr marL="457200" lvl="1" indent="0">
              <a:buNone/>
            </a:pPr>
            <a:endParaRPr lang="en-IT" dirty="0"/>
          </a:p>
          <a:p>
            <a:endParaRPr lang="en-IT" sz="2400" dirty="0"/>
          </a:p>
          <a:p>
            <a:pPr lvl="1"/>
            <a:endParaRPr lang="en-IT" dirty="0"/>
          </a:p>
        </p:txBody>
      </p:sp>
    </p:spTree>
    <p:extLst>
      <p:ext uri="{BB962C8B-B14F-4D97-AF65-F5344CB8AC3E}">
        <p14:creationId xmlns:p14="http://schemas.microsoft.com/office/powerpoint/2010/main" val="284189747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975ADE-F1B5-A4F8-B3CC-B59777BC7C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Task: X-Ray Classification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073019-5F2F-310C-CFEE-0577D88A33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T" sz="2400" dirty="0"/>
              <a:t>Binary classification of chest X-ray images into Normal and Pneumonia classes.</a:t>
            </a:r>
          </a:p>
          <a:p>
            <a:pPr lvl="1"/>
            <a:r>
              <a:rPr lang="en-IT" sz="2000" dirty="0"/>
              <a:t>Pneumonia class generalize both Bacterial and Viral Penumonia.</a:t>
            </a:r>
          </a:p>
        </p:txBody>
      </p:sp>
      <p:pic>
        <p:nvPicPr>
          <p:cNvPr id="4" name="Content Placeholder 3" descr="A x-ray of a chest&#10;&#10;AI-generated content may be incorrect.">
            <a:extLst>
              <a:ext uri="{FF2B5EF4-FFF2-40B4-BE49-F238E27FC236}">
                <a16:creationId xmlns:a16="http://schemas.microsoft.com/office/drawing/2014/main" id="{EA67B1A7-0C37-A871-60FE-004B28CB59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5744" y="3187700"/>
            <a:ext cx="8500511" cy="27047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480609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1B94E4-949F-8C92-FCA7-DD08F55917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Dataset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0B3287-843A-FEA2-5576-81AC08762F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2400" dirty="0"/>
              <a:t>Chest X-Ray dataset (5,865 images)</a:t>
            </a:r>
            <a:r>
              <a:rPr lang="en-IT" sz="2400" dirty="0"/>
              <a:t>:</a:t>
            </a:r>
          </a:p>
          <a:p>
            <a:pPr lvl="1"/>
            <a:r>
              <a:rPr lang="en-IT" sz="2000" dirty="0"/>
              <a:t>1583 NORMAL</a:t>
            </a:r>
          </a:p>
          <a:p>
            <a:pPr lvl="1"/>
            <a:r>
              <a:rPr lang="en-IT" sz="2000" dirty="0"/>
              <a:t>4102 PNEUMONIA.</a:t>
            </a:r>
          </a:p>
        </p:txBody>
      </p:sp>
      <p:pic>
        <p:nvPicPr>
          <p:cNvPr id="4" name="Content Placeholder 6" descr="A graph with numbers and a bar&#10;&#10;AI-generated content may be incorrect.">
            <a:extLst>
              <a:ext uri="{FF2B5EF4-FFF2-40B4-BE49-F238E27FC236}">
                <a16:creationId xmlns:a16="http://schemas.microsoft.com/office/drawing/2014/main" id="{27338CEF-2CA9-DECE-5D13-B3B2175681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8027" y="2360632"/>
            <a:ext cx="6616700" cy="3951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605372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1580EC-39F3-3F9F-BA7E-4598D7E061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Training Results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8C9210-55BF-E314-4148-C3D7183FC9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2400" dirty="0"/>
              <a:t>Standard (unweighted) Cross-Entropy Loss: despite class imbalance, the model learns a well-balanced decision boundary without explicit weighting.</a:t>
            </a:r>
          </a:p>
          <a:p>
            <a:r>
              <a:rPr lang="en-IT" sz="2400" dirty="0"/>
              <a:t>Same backbone (Swin-Tiny, 28M parameters).</a:t>
            </a:r>
          </a:p>
          <a:p>
            <a:r>
              <a:rPr lang="en-US" sz="24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Training:  50</a:t>
            </a:r>
            <a:r>
              <a:rPr lang="en-US" sz="24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epochs  ·  </a:t>
            </a:r>
            <a:r>
              <a:rPr lang="en-US" sz="24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AdamW</a:t>
            </a:r>
            <a:r>
              <a:rPr lang="en-US" sz="24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r>
              <a:rPr lang="en-US" sz="24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BatchSize</a:t>
            </a:r>
            <a:r>
              <a:rPr lang="en-US" sz="24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32.</a:t>
            </a:r>
            <a:endParaRPr lang="en-US" sz="2400" dirty="0"/>
          </a:p>
          <a:p>
            <a:endParaRPr lang="en-IT" sz="240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0486B89-9957-8DE1-2BA6-468D062025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9807" y="3773338"/>
            <a:ext cx="9892385" cy="28382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752405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8761DDFE-071F-4200-B0AA-394476C2D2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13E5CF3-C918-8CC5-9AED-96E961246E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8" y="547815"/>
            <a:ext cx="10466072" cy="1680519"/>
          </a:xfrm>
        </p:spPr>
        <p:txBody>
          <a:bodyPr>
            <a:normAutofit/>
          </a:bodyPr>
          <a:lstStyle/>
          <a:p>
            <a:r>
              <a:rPr lang="en-IT" sz="4000" dirty="0"/>
              <a:t>Classification Metrics</a:t>
            </a:r>
          </a:p>
        </p:txBody>
      </p:sp>
      <p:graphicFrame>
        <p:nvGraphicFramePr>
          <p:cNvPr id="4" name="Table 0">
            <a:extLst>
              <a:ext uri="{FF2B5EF4-FFF2-40B4-BE49-F238E27FC236}">
                <a16:creationId xmlns:a16="http://schemas.microsoft.com/office/drawing/2014/main" id="{B0EF9231-0786-918E-2966-A881A08C810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32003881"/>
              </p:ext>
            </p:extLst>
          </p:nvPr>
        </p:nvGraphicFramePr>
        <p:xfrm>
          <a:off x="1307648" y="2050449"/>
          <a:ext cx="9396704" cy="3603732"/>
        </p:xfrm>
        <a:graphic>
          <a:graphicData uri="http://schemas.openxmlformats.org/drawingml/2006/table">
            <a:tbl>
              <a:tblPr firstRow="1" firstCol="1" bandRow="1"/>
              <a:tblGrid>
                <a:gridCol w="174325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49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490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202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9161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839723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7759" marR="107759" marT="53879" marB="53879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Accuracy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7759" marR="107759" marT="53879" marB="53879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Bal. Accuracy</a:t>
                      </a:r>
                      <a:endParaRPr lang="en-US" sz="14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7759" marR="107759" marT="53879" marB="53879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Sensitivity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7759" marR="107759" marT="53879" marB="53879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Specificity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7759" marR="107759" marT="53879" marB="53879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84955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>
                          <a:solidFill>
                            <a:srgbClr val="3B82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Swin-T (W7)</a:t>
                      </a:r>
                      <a:endParaRPr lang="en-US" sz="15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7759" marR="107759" marT="53879" marB="53879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93.53 %</a:t>
                      </a:r>
                      <a:endParaRPr lang="en-US" sz="1500" b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7759" marR="107759" marT="53879" marB="53879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highlight>
                            <a:srgbClr val="FFFF00"/>
                          </a:highlight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94.18 %</a:t>
                      </a:r>
                      <a:endParaRPr lang="en-US" sz="1500" dirty="0">
                        <a:highlight>
                          <a:srgbClr val="FFFF00"/>
                        </a:highlight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7759" marR="107759" marT="53879" marB="53879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92.76 %</a:t>
                      </a:r>
                      <a:endParaRPr lang="en-US" sz="1500" b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7759" marR="107759" marT="53879" marB="53879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highlight>
                            <a:srgbClr val="FFFF00"/>
                          </a:highlight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95.60 %</a:t>
                      </a:r>
                      <a:endParaRPr lang="en-US" sz="1500" b="1" dirty="0">
                        <a:highlight>
                          <a:srgbClr val="FFFF00"/>
                        </a:highlight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7759" marR="107759" marT="53879" marB="53879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89527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>
                          <a:solidFill>
                            <a:srgbClr val="22C5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Swin-T (W14)</a:t>
                      </a:r>
                      <a:endParaRPr lang="en-US" sz="15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7759" marR="107759" marT="53879" marB="53879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highlight>
                            <a:srgbClr val="FFFF00"/>
                          </a:highlight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94.04 %</a:t>
                      </a:r>
                      <a:endParaRPr lang="en-US" sz="1500" b="1" dirty="0">
                        <a:highlight>
                          <a:srgbClr val="FFFF00"/>
                        </a:highlight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7759" marR="107759" marT="53879" marB="53879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94.13 %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7759" marR="107759" marT="53879" marB="53879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highlight>
                            <a:srgbClr val="FFFF00"/>
                          </a:highlight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93.93 %</a:t>
                      </a:r>
                      <a:endParaRPr lang="en-US" sz="1500" b="1" dirty="0">
                        <a:highlight>
                          <a:srgbClr val="FFFF00"/>
                        </a:highlight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7759" marR="107759" marT="53879" marB="53879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94.34</a:t>
                      </a:r>
                      <a:r>
                        <a:rPr lang="en-US" sz="15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r>
                        <a:rPr lang="en-US" sz="1500" b="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</a:t>
                      </a:r>
                      <a:endParaRPr lang="en-US" sz="1500" b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7759" marR="107759" marT="53879" marB="53879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89527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Swin-T (W56)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7759" marR="107759" marT="53879" marB="53879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92.33 %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7759" marR="107759" marT="53879" marB="53879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92.77 %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7759" marR="107759" marT="53879" marB="53879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91.82 %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7759" marR="107759" marT="53879" marB="53879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93.71 %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7759" marR="107759" marT="53879" marB="53879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0817076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C9954C-6072-1F24-23E5-3DDF980CF2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Memory &amp; Speed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3B1F5FD-9B80-CF43-02A0-1D095EB5B3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695" y="1483667"/>
            <a:ext cx="5391305" cy="37465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FCBA313-DAC5-E875-6E83-FA1A8F7DC73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7768" r="49608"/>
          <a:stretch>
            <a:fillRect/>
          </a:stretch>
        </p:blipFill>
        <p:spPr>
          <a:xfrm>
            <a:off x="6096000" y="1276648"/>
            <a:ext cx="5839867" cy="3953519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09DEF60E-BF37-0BD3-EE68-A310261125B6}"/>
              </a:ext>
            </a:extLst>
          </p:cNvPr>
          <p:cNvSpPr txBox="1"/>
          <p:nvPr/>
        </p:nvSpPr>
        <p:spPr>
          <a:xfrm>
            <a:off x="838200" y="5292546"/>
            <a:ext cx="10970941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IT" sz="2400" dirty="0"/>
              <a:t>VRAM Memory usage results show the increasing trend increasing the window size.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T" sz="2400" dirty="0"/>
              <a:t>Inference shows an unexpected behaviour but confirm the general ecpected trend.</a:t>
            </a:r>
          </a:p>
        </p:txBody>
      </p:sp>
    </p:spTree>
    <p:extLst>
      <p:ext uri="{BB962C8B-B14F-4D97-AF65-F5344CB8AC3E}">
        <p14:creationId xmlns:p14="http://schemas.microsoft.com/office/powerpoint/2010/main" val="296912790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B64616-25B2-92F1-A2C7-1EA6440DBD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57EBBC-51B9-5319-C034-05FFDB2D3E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T" sz="2400" dirty="0"/>
              <a:t>All three models achieve strong performance.</a:t>
            </a:r>
          </a:p>
          <a:p>
            <a:r>
              <a:rPr lang="en-IT" sz="2400" dirty="0"/>
              <a:t>Increasing windows size, doesn’t guarantee extra performance. On the contrary:</a:t>
            </a:r>
          </a:p>
          <a:p>
            <a:pPr lvl="1"/>
            <a:r>
              <a:rPr lang="en-IT" sz="2000" dirty="0"/>
              <a:t>Win56 is slightly worse than win14 and win7 overall.</a:t>
            </a:r>
          </a:p>
          <a:p>
            <a:r>
              <a:rPr lang="en-IT" sz="2400" dirty="0"/>
              <a:t>Global (ViT simulation) attention is the weakest:</a:t>
            </a:r>
          </a:p>
          <a:p>
            <a:pPr lvl="1"/>
            <a:r>
              <a:rPr lang="en-IT" sz="2000" dirty="0"/>
              <a:t>Lowest metrics performances overall.</a:t>
            </a:r>
          </a:p>
          <a:p>
            <a:pPr lvl="1"/>
            <a:r>
              <a:rPr lang="en-GB" sz="2000" dirty="0"/>
              <a:t>higher memory cost</a:t>
            </a:r>
          </a:p>
          <a:p>
            <a:pPr lvl="1"/>
            <a:r>
              <a:rPr lang="en-IT" sz="2000" dirty="0"/>
              <a:t>Slower Inference.</a:t>
            </a:r>
          </a:p>
          <a:p>
            <a:r>
              <a:rPr lang="en-IT" sz="2400" dirty="0"/>
              <a:t>Locality is a beneficial inductive bias.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5BF8B62-ABF1-FB96-C713-4CF2F72CB0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5978" y="2784763"/>
            <a:ext cx="3737822" cy="35126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008421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31179A-54F1-A984-13C1-9A5B328850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825693"/>
            <a:ext cx="12192000" cy="1325563"/>
          </a:xfrm>
        </p:spPr>
        <p:txBody>
          <a:bodyPr>
            <a:normAutofit fontScale="90000"/>
          </a:bodyPr>
          <a:lstStyle/>
          <a:p>
            <a:pPr algn="ctr"/>
            <a:r>
              <a:rPr lang="en-IT" dirty="0"/>
              <a:t>Thank you for your attention</a:t>
            </a:r>
            <a:br>
              <a:rPr lang="en-IT" dirty="0"/>
            </a:br>
            <a:br>
              <a:rPr lang="en-IT" dirty="0"/>
            </a:br>
            <a:r>
              <a:rPr lang="en-IT" dirty="0"/>
              <a:t>Questions?</a:t>
            </a:r>
          </a:p>
        </p:txBody>
      </p:sp>
    </p:spTree>
    <p:extLst>
      <p:ext uri="{BB962C8B-B14F-4D97-AF65-F5344CB8AC3E}">
        <p14:creationId xmlns:p14="http://schemas.microsoft.com/office/powerpoint/2010/main" val="23450399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4737</TotalTime>
  <Words>1072</Words>
  <Application>Microsoft Macintosh PowerPoint</Application>
  <PresentationFormat>Widescreen</PresentationFormat>
  <Paragraphs>122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5" baseType="lpstr">
      <vt:lpstr>Aptos</vt:lpstr>
      <vt:lpstr>Aptos Display</vt:lpstr>
      <vt:lpstr>Arial</vt:lpstr>
      <vt:lpstr>Calibri</vt:lpstr>
      <vt:lpstr>Office Theme</vt:lpstr>
      <vt:lpstr>Swin Transformer</vt:lpstr>
      <vt:lpstr>Introduction and Context</vt:lpstr>
      <vt:lpstr>Transformer Limitations</vt:lpstr>
      <vt:lpstr>The Solution: Swin Transformer</vt:lpstr>
      <vt:lpstr>General Architecture (Pipeline)</vt:lpstr>
      <vt:lpstr>Patch Merging</vt:lpstr>
      <vt:lpstr>Window-based Self-Attention (W-MSA)</vt:lpstr>
      <vt:lpstr>Shifted Window Partitioning (SW-MSA)</vt:lpstr>
      <vt:lpstr>SW-MSA: Efficient Batch Computation</vt:lpstr>
      <vt:lpstr>Relative Position Bias</vt:lpstr>
      <vt:lpstr>Ablation Studies: Component Analysis</vt:lpstr>
      <vt:lpstr>Swin Transformer for Chest X-Ray classification</vt:lpstr>
      <vt:lpstr>Experiment Design</vt:lpstr>
      <vt:lpstr>Task: X-Ray Classification</vt:lpstr>
      <vt:lpstr>Dataset</vt:lpstr>
      <vt:lpstr>Training Results </vt:lpstr>
      <vt:lpstr>Classification Metrics</vt:lpstr>
      <vt:lpstr>Memory &amp; Speed</vt:lpstr>
      <vt:lpstr>Conclusion</vt:lpstr>
      <vt:lpstr>Thank you for your attention  Questions?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Matteo Fontana</dc:creator>
  <cp:lastModifiedBy>Matteo Fontana</cp:lastModifiedBy>
  <cp:revision>34</cp:revision>
  <dcterms:created xsi:type="dcterms:W3CDTF">2026-01-29T10:26:47Z</dcterms:created>
  <dcterms:modified xsi:type="dcterms:W3CDTF">2026-02-02T12:33:03Z</dcterms:modified>
</cp:coreProperties>
</file>