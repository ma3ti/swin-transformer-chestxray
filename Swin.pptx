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73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9" r:id="rId15"/>
    <p:sldId id="270" r:id="rId16"/>
    <p:sldId id="274" r:id="rId17"/>
    <p:sldId id="281" r:id="rId18"/>
    <p:sldId id="282" r:id="rId19"/>
    <p:sldId id="275" r:id="rId20"/>
    <p:sldId id="276" r:id="rId21"/>
    <p:sldId id="278" r:id="rId22"/>
    <p:sldId id="277" r:id="rId23"/>
    <p:sldId id="279" r:id="rId24"/>
    <p:sldId id="283" r:id="rId25"/>
    <p:sldId id="284" r:id="rId26"/>
    <p:sldId id="285" r:id="rId27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2"/>
    <p:restoredTop sz="94793"/>
  </p:normalViewPr>
  <p:slideViewPr>
    <p:cSldViewPr snapToGrid="0">
      <p:cViewPr>
        <p:scale>
          <a:sx n="98" d="100"/>
          <a:sy n="98" d="100"/>
        </p:scale>
        <p:origin x="440" y="2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3BDF3-2A01-1A91-0AEB-106DD68A8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78EF3-6AB1-D6EA-AF74-96B6A7DF5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F9AD6-E388-3314-2D4F-6A4560C6F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EC92-AD42-EA4E-843F-66F941399442}" type="datetimeFigureOut">
              <a:rPr lang="en-IT" smtClean="0"/>
              <a:t>30/01/26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71BEE-B79F-EC07-9928-43382809D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0C3E4-8A54-66D9-693D-339CF0C89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0952-BDAF-C745-9B3E-D577F167F08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2479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C2EDB-B9DC-00F7-D469-E85421CB7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085B3-2F71-9B09-8849-F4CF60D8A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6AD42-385F-CE7B-1B59-9651D34AB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EC92-AD42-EA4E-843F-66F941399442}" type="datetimeFigureOut">
              <a:rPr lang="en-IT" smtClean="0"/>
              <a:t>30/01/26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5AC86-FADD-DBCA-6CD8-C44D5F5D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510FE-6B20-E106-EB6D-498417F56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0952-BDAF-C745-9B3E-D577F167F08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44899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5095-47F4-2558-3A4A-EB309E53A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E368B-CB08-B1AC-0E8C-28BBD72F4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646F2-915A-EC79-86B6-C04357760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EC92-AD42-EA4E-843F-66F941399442}" type="datetimeFigureOut">
              <a:rPr lang="en-IT" smtClean="0"/>
              <a:t>30/01/26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0B1C0-6DF1-A0AC-1E4F-8E2D8931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24C4B-D9CB-9F57-9A09-856803C47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0952-BDAF-C745-9B3E-D577F167F08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29583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CF202-8C8F-18C8-5FE7-806535717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C2006-9997-B892-CEE1-F5AB1EBD0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12833-201A-F49C-78A5-353A414D19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AF481-0E74-91FF-B8A2-3DB6D013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EC92-AD42-EA4E-843F-66F941399442}" type="datetimeFigureOut">
              <a:rPr lang="en-IT" smtClean="0"/>
              <a:t>30/01/26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98A0F-2E04-A3BA-F524-0D92E3D8B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22E70-6E01-CAF3-284A-7112070B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0952-BDAF-C745-9B3E-D577F167F08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54106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BBA48-6322-FF39-E568-7316407C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E153-DB10-8122-6E0C-5FF0D95DA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7F977-60E3-BBAE-DC04-61D90CBDC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1B0F5-AA19-6EC9-A887-3D682B83DE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6FEAC-4BD3-6139-CE03-B0B93C7462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F6D31A-FC73-7C3C-5E69-59CF27A2C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EC92-AD42-EA4E-843F-66F941399442}" type="datetimeFigureOut">
              <a:rPr lang="en-IT" smtClean="0"/>
              <a:t>30/01/26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164ACD-3DAA-AAE2-A6D6-278034E8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808E4C-D41F-4AB4-1B2A-97D2510E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0952-BDAF-C745-9B3E-D577F167F08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43754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81C8-2AD7-5774-C54C-CBECB3533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2CE189-6910-6C78-5184-60DD084B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EC92-AD42-EA4E-843F-66F941399442}" type="datetimeFigureOut">
              <a:rPr lang="en-IT" smtClean="0"/>
              <a:t>30/01/26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D87055-6A42-90BB-09FF-93DE8A99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22005-5F34-59F8-E046-E82C80177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0952-BDAF-C745-9B3E-D577F167F08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50895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8CBD40-8612-12B1-32B2-04237732C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EC92-AD42-EA4E-843F-66F941399442}" type="datetimeFigureOut">
              <a:rPr lang="en-IT" smtClean="0"/>
              <a:t>30/01/26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C795D-F975-E446-BF2B-F75FD8B39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16B0A-34F0-C4D0-5DF9-1E4AA960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0952-BDAF-C745-9B3E-D577F167F08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70030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F1E7F-BED4-7102-8818-83793F195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55CB-9E13-E16E-983F-35D03CF2B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91491-203F-13AB-5816-23EFE00C1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DCA6F-1F88-0175-6598-F72BDD2F9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EC92-AD42-EA4E-843F-66F941399442}" type="datetimeFigureOut">
              <a:rPr lang="en-IT" smtClean="0"/>
              <a:t>30/01/26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ECB8F-98A1-FECD-1FD8-1C3B8159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D94BB-B28C-5E8F-DDB9-D05DC2E9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0952-BDAF-C745-9B3E-D577F167F08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33448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F30C-8EC4-F7DF-A961-5707D2B5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3EBEAF-DF08-E79A-6AAE-856863A83C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21E3A-029C-A1F1-1D09-FE689832B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7A312-D776-DAD9-DDBA-C7E147E5E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EC92-AD42-EA4E-843F-66F941399442}" type="datetimeFigureOut">
              <a:rPr lang="en-IT" smtClean="0"/>
              <a:t>30/01/26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EEC34-D18B-6AA3-F549-EBFB6E06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C70F9-2DE6-1B5D-A6F6-47D8D31B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0952-BDAF-C745-9B3E-D577F167F08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5537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D9D21-9F45-D502-5A37-2688AC91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B209D-F034-6BC2-C262-DB45D0CDC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27493-7B5C-016A-EE1F-198FE995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EC92-AD42-EA4E-843F-66F941399442}" type="datetimeFigureOut">
              <a:rPr lang="en-IT" smtClean="0"/>
              <a:t>30/01/26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DC203-B23B-05E8-9A75-FEBFD9EC4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B494F-A751-A137-B0BC-A9CA6B9A1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0952-BDAF-C745-9B3E-D577F167F08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6748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FFF7A7-FB0B-F2AB-61A5-291066371F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132AE-23BE-5E11-4E5F-4D7AF0611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FD414-9CBF-5311-4FA5-BCE03B24E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6EC92-AD42-EA4E-843F-66F941399442}" type="datetimeFigureOut">
              <a:rPr lang="en-IT" smtClean="0"/>
              <a:t>30/01/26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D895C-0802-FD8F-E351-39D5B15B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0586C-A8D7-6400-A5DA-34A2835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0952-BDAF-C745-9B3E-D577F167F08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1147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FD91F8-75D7-8C1F-0FA8-2D45FA9D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90823-5D75-0FF4-F210-4F790BA7D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BA2E6-0268-0076-42D6-1528F3CC54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06EC92-AD42-EA4E-843F-66F941399442}" type="datetimeFigureOut">
              <a:rPr lang="en-IT" smtClean="0"/>
              <a:t>30/01/26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13972-287A-7E38-CE18-F77A204D5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713AE-1C94-CC40-6700-C99B80CB3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40952-BDAF-C745-9B3E-D577F167F08C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2779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EC76-45AC-C925-D594-B5C1B11D3B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T" dirty="0"/>
              <a:t>Swin Transformer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82987-BC4E-49AC-F87C-D10E106E82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 dirty="0"/>
              <a:t>Computer Vision 24/25</a:t>
            </a:r>
          </a:p>
          <a:p>
            <a:endParaRPr lang="en-IT" dirty="0"/>
          </a:p>
          <a:p>
            <a:r>
              <a:rPr lang="en-IT" dirty="0"/>
              <a:t>Matteo Fontana</a:t>
            </a:r>
          </a:p>
        </p:txBody>
      </p:sp>
    </p:spTree>
    <p:extLst>
      <p:ext uri="{BB962C8B-B14F-4D97-AF65-F5344CB8AC3E}">
        <p14:creationId xmlns:p14="http://schemas.microsoft.com/office/powerpoint/2010/main" val="4160004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0BC9A-9B0B-454A-27D0-C6D50397F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Introduzione e </a:t>
            </a:r>
            <a:r>
              <a:rPr lang="en-GB" b="1" dirty="0" err="1"/>
              <a:t>Contesto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8987-24BC-F0E7-94C8-E12CAE389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L'evoluzione:</a:t>
            </a:r>
            <a:r>
              <a:rPr lang="en-GB" dirty="0"/>
              <a:t> La </a:t>
            </a:r>
            <a:r>
              <a:rPr lang="en-GB" dirty="0" err="1"/>
              <a:t>modellazione</a:t>
            </a:r>
            <a:r>
              <a:rPr lang="en-GB" dirty="0"/>
              <a:t> </a:t>
            </a:r>
            <a:r>
              <a:rPr lang="en-GB" dirty="0" err="1"/>
              <a:t>nella</a:t>
            </a:r>
            <a:r>
              <a:rPr lang="en-GB" dirty="0"/>
              <a:t> computer vision </a:t>
            </a:r>
            <a:r>
              <a:rPr lang="en-GB" dirty="0" err="1"/>
              <a:t>è</a:t>
            </a:r>
            <a:r>
              <a:rPr lang="en-GB" dirty="0"/>
              <a:t> </a:t>
            </a:r>
            <a:r>
              <a:rPr lang="en-GB" dirty="0" err="1"/>
              <a:t>stata</a:t>
            </a:r>
            <a:r>
              <a:rPr lang="en-GB" dirty="0"/>
              <a:t> a </a:t>
            </a:r>
            <a:r>
              <a:rPr lang="en-GB" dirty="0" err="1"/>
              <a:t>lungo</a:t>
            </a:r>
            <a:r>
              <a:rPr lang="en-GB" dirty="0"/>
              <a:t> </a:t>
            </a:r>
            <a:r>
              <a:rPr lang="en-GB" dirty="0" err="1"/>
              <a:t>dominata</a:t>
            </a:r>
            <a:r>
              <a:rPr lang="en-GB" dirty="0"/>
              <a:t> </a:t>
            </a:r>
            <a:r>
              <a:rPr lang="en-GB" dirty="0" err="1"/>
              <a:t>dalle</a:t>
            </a:r>
            <a:r>
              <a:rPr lang="en-GB" dirty="0"/>
              <a:t> CNN (es. </a:t>
            </a:r>
            <a:r>
              <a:rPr lang="en-GB" dirty="0" err="1"/>
              <a:t>AlexNet</a:t>
            </a:r>
            <a:r>
              <a:rPr lang="en-GB" dirty="0"/>
              <a:t>, </a:t>
            </a:r>
            <a:r>
              <a:rPr lang="en-GB" dirty="0" err="1"/>
              <a:t>ResNet</a:t>
            </a:r>
            <a:r>
              <a:rPr lang="en-GB" dirty="0"/>
              <a:t>). Nel </a:t>
            </a:r>
            <a:r>
              <a:rPr lang="en-GB" dirty="0" err="1"/>
              <a:t>frattempo</a:t>
            </a:r>
            <a:r>
              <a:rPr lang="en-GB" dirty="0"/>
              <a:t>, </a:t>
            </a:r>
            <a:r>
              <a:rPr lang="en-GB" dirty="0" err="1"/>
              <a:t>nel</a:t>
            </a:r>
            <a:r>
              <a:rPr lang="en-GB" dirty="0"/>
              <a:t> NLP (Natural Language Processing), </a:t>
            </a:r>
            <a:r>
              <a:rPr lang="en-GB" dirty="0" err="1"/>
              <a:t>l'architettura</a:t>
            </a:r>
            <a:r>
              <a:rPr lang="en-GB" dirty="0"/>
              <a:t> </a:t>
            </a:r>
            <a:r>
              <a:rPr lang="en-GB" dirty="0" err="1"/>
              <a:t>dominante</a:t>
            </a:r>
            <a:r>
              <a:rPr lang="en-GB" dirty="0"/>
              <a:t> </a:t>
            </a:r>
            <a:r>
              <a:rPr lang="en-GB" dirty="0" err="1"/>
              <a:t>è</a:t>
            </a:r>
            <a:r>
              <a:rPr lang="en-GB" dirty="0"/>
              <a:t> </a:t>
            </a:r>
            <a:r>
              <a:rPr lang="en-GB" dirty="0" err="1"/>
              <a:t>diventata</a:t>
            </a:r>
            <a:r>
              <a:rPr lang="en-GB" dirty="0"/>
              <a:t> il Transformer</a:t>
            </a:r>
          </a:p>
          <a:p>
            <a:r>
              <a:rPr lang="en-GB" b="1" dirty="0"/>
              <a:t>Il </a:t>
            </a:r>
            <a:r>
              <a:rPr lang="en-GB" b="1" dirty="0" err="1"/>
              <a:t>problema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Adattare</a:t>
            </a:r>
            <a:r>
              <a:rPr lang="en-GB" dirty="0"/>
              <a:t> i Transformer dal </a:t>
            </a:r>
            <a:r>
              <a:rPr lang="en-GB" dirty="0" err="1"/>
              <a:t>linguaggio</a:t>
            </a:r>
            <a:r>
              <a:rPr lang="en-GB" dirty="0"/>
              <a:t> alla </a:t>
            </a:r>
            <a:r>
              <a:rPr lang="en-GB" dirty="0" err="1"/>
              <a:t>visione</a:t>
            </a:r>
            <a:r>
              <a:rPr lang="en-GB" dirty="0"/>
              <a:t> </a:t>
            </a:r>
            <a:r>
              <a:rPr lang="en-GB" dirty="0" err="1"/>
              <a:t>è</a:t>
            </a:r>
            <a:r>
              <a:rPr lang="en-GB" dirty="0"/>
              <a:t> difficile a causa di due </a:t>
            </a:r>
            <a:r>
              <a:rPr lang="en-GB" dirty="0" err="1"/>
              <a:t>differenze</a:t>
            </a:r>
            <a:r>
              <a:rPr lang="en-GB" dirty="0"/>
              <a:t> principali:</a:t>
            </a:r>
          </a:p>
          <a:p>
            <a:pPr marL="914400" lvl="1" indent="-457200">
              <a:buAutoNum type="arabicPeriod"/>
            </a:pPr>
            <a:r>
              <a:rPr lang="en-GB" b="1" dirty="0"/>
              <a:t>Scala:</a:t>
            </a:r>
            <a:r>
              <a:rPr lang="en-GB" dirty="0"/>
              <a:t> Le </a:t>
            </a:r>
            <a:r>
              <a:rPr lang="en-GB" dirty="0" err="1"/>
              <a:t>entità</a:t>
            </a:r>
            <a:r>
              <a:rPr lang="en-GB" dirty="0"/>
              <a:t> visive </a:t>
            </a:r>
            <a:r>
              <a:rPr lang="en-GB" dirty="0" err="1"/>
              <a:t>variano</a:t>
            </a:r>
            <a:r>
              <a:rPr lang="en-GB" dirty="0"/>
              <a:t> </a:t>
            </a:r>
            <a:r>
              <a:rPr lang="en-GB" dirty="0" err="1"/>
              <a:t>drasticamente</a:t>
            </a:r>
            <a:r>
              <a:rPr lang="en-GB" dirty="0"/>
              <a:t> in scala (a </a:t>
            </a:r>
            <a:r>
              <a:rPr lang="en-GB" dirty="0" err="1"/>
              <a:t>differenza</a:t>
            </a:r>
            <a:r>
              <a:rPr lang="en-GB" dirty="0"/>
              <a:t> </a:t>
            </a:r>
            <a:r>
              <a:rPr lang="en-GB" dirty="0" err="1"/>
              <a:t>dei</a:t>
            </a:r>
            <a:r>
              <a:rPr lang="en-GB" dirty="0"/>
              <a:t> "token" di parole </a:t>
            </a:r>
            <a:r>
              <a:rPr lang="en-GB" dirty="0" err="1"/>
              <a:t>che</a:t>
            </a:r>
            <a:r>
              <a:rPr lang="en-GB" dirty="0"/>
              <a:t> </a:t>
            </a:r>
            <a:r>
              <a:rPr lang="en-GB" dirty="0" err="1"/>
              <a:t>hanno</a:t>
            </a:r>
            <a:r>
              <a:rPr lang="en-GB" dirty="0"/>
              <a:t> </a:t>
            </a:r>
            <a:r>
              <a:rPr lang="en-GB" dirty="0" err="1"/>
              <a:t>dimensione</a:t>
            </a:r>
            <a:r>
              <a:rPr lang="en-GB" dirty="0"/>
              <a:t> </a:t>
            </a:r>
            <a:r>
              <a:rPr lang="en-GB" dirty="0" err="1"/>
              <a:t>fissa</a:t>
            </a:r>
            <a:r>
              <a:rPr lang="en-GB" dirty="0"/>
              <a:t>)</a:t>
            </a:r>
          </a:p>
          <a:p>
            <a:pPr marL="914400" lvl="1" indent="-457200">
              <a:buAutoNum type="arabicPeriod"/>
            </a:pPr>
            <a:r>
              <a:rPr lang="en-GB" b="1" dirty="0" err="1"/>
              <a:t>Risoluzione</a:t>
            </a:r>
            <a:r>
              <a:rPr lang="en-GB" b="1" dirty="0"/>
              <a:t>:</a:t>
            </a:r>
            <a:r>
              <a:rPr lang="en-GB" dirty="0"/>
              <a:t> Le </a:t>
            </a:r>
            <a:r>
              <a:rPr lang="en-GB" dirty="0" err="1"/>
              <a:t>immagini</a:t>
            </a:r>
            <a:r>
              <a:rPr lang="en-GB" dirty="0"/>
              <a:t> </a:t>
            </a:r>
            <a:r>
              <a:rPr lang="en-GB" dirty="0" err="1"/>
              <a:t>hanno</a:t>
            </a:r>
            <a:r>
              <a:rPr lang="en-GB" dirty="0"/>
              <a:t> una </a:t>
            </a:r>
            <a:r>
              <a:rPr lang="en-GB" dirty="0" err="1"/>
              <a:t>risoluzione</a:t>
            </a:r>
            <a:r>
              <a:rPr lang="en-GB" dirty="0"/>
              <a:t> </a:t>
            </a:r>
            <a:r>
              <a:rPr lang="en-GB" dirty="0" err="1"/>
              <a:t>molto</a:t>
            </a:r>
            <a:r>
              <a:rPr lang="en-GB" dirty="0"/>
              <a:t> </a:t>
            </a:r>
            <a:r>
              <a:rPr lang="en-GB" dirty="0" err="1"/>
              <a:t>più</a:t>
            </a:r>
            <a:r>
              <a:rPr lang="en-GB" dirty="0"/>
              <a:t> </a:t>
            </a:r>
            <a:r>
              <a:rPr lang="en-GB" dirty="0" err="1"/>
              <a:t>alta</a:t>
            </a:r>
            <a:r>
              <a:rPr lang="en-GB" dirty="0"/>
              <a:t> </a:t>
            </a:r>
            <a:r>
              <a:rPr lang="en-GB" dirty="0" err="1"/>
              <a:t>dei</a:t>
            </a:r>
            <a:r>
              <a:rPr lang="en-GB" dirty="0"/>
              <a:t> </a:t>
            </a:r>
            <a:r>
              <a:rPr lang="en-GB" dirty="0" err="1"/>
              <a:t>testi</a:t>
            </a:r>
            <a:r>
              <a:rPr lang="en-GB" dirty="0"/>
              <a:t>, </a:t>
            </a:r>
            <a:r>
              <a:rPr lang="en-GB" dirty="0" err="1"/>
              <a:t>rendendo</a:t>
            </a:r>
            <a:r>
              <a:rPr lang="en-GB" dirty="0"/>
              <a:t> </a:t>
            </a:r>
            <a:r>
              <a:rPr lang="en-GB" dirty="0" err="1"/>
              <a:t>l'attenzione</a:t>
            </a:r>
            <a:r>
              <a:rPr lang="en-GB" dirty="0"/>
              <a:t> </a:t>
            </a:r>
            <a:r>
              <a:rPr lang="en-GB" dirty="0" err="1"/>
              <a:t>globale</a:t>
            </a:r>
            <a:r>
              <a:rPr lang="en-GB" dirty="0"/>
              <a:t> </a:t>
            </a:r>
            <a:r>
              <a:rPr lang="en-GB" dirty="0" err="1"/>
              <a:t>computazionalmente</a:t>
            </a:r>
            <a:r>
              <a:rPr lang="en-GB" dirty="0"/>
              <a:t> </a:t>
            </a:r>
            <a:r>
              <a:rPr lang="en-GB" dirty="0" err="1"/>
              <a:t>costosa</a:t>
            </a:r>
            <a:endParaRPr lang="en-GB" dirty="0"/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603284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1722-D410-475C-DFC3-1B46D7121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Limitazioni</a:t>
            </a:r>
            <a:r>
              <a:rPr lang="en-GB" b="1" dirty="0"/>
              <a:t> </a:t>
            </a:r>
            <a:r>
              <a:rPr lang="en-GB" b="1" dirty="0" err="1"/>
              <a:t>dei</a:t>
            </a:r>
            <a:r>
              <a:rPr lang="en-GB" b="1" dirty="0"/>
              <a:t> Transformer </a:t>
            </a:r>
            <a:r>
              <a:rPr lang="en-GB" b="1" dirty="0" err="1"/>
              <a:t>esistenti</a:t>
            </a:r>
            <a:r>
              <a:rPr lang="en-GB" b="1" dirty="0"/>
              <a:t> (es. </a:t>
            </a:r>
            <a:r>
              <a:rPr lang="en-GB" b="1" dirty="0" err="1"/>
              <a:t>ViT</a:t>
            </a:r>
            <a:r>
              <a:rPr lang="en-GB" b="1" dirty="0"/>
              <a:t>)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F9060-66B2-448F-ADBA-A3B373440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Vision Transformer (</a:t>
            </a:r>
            <a:r>
              <a:rPr lang="en-GB" b="1" dirty="0" err="1"/>
              <a:t>ViT</a:t>
            </a:r>
            <a:r>
              <a:rPr lang="en-GB" b="1" dirty="0"/>
              <a:t>):</a:t>
            </a:r>
            <a:r>
              <a:rPr lang="en-GB" dirty="0"/>
              <a:t> </a:t>
            </a:r>
            <a:r>
              <a:rPr lang="en-GB" dirty="0" err="1"/>
              <a:t>Elabora</a:t>
            </a:r>
            <a:r>
              <a:rPr lang="en-GB" dirty="0"/>
              <a:t> feature map a </a:t>
            </a:r>
            <a:r>
              <a:rPr lang="en-GB" dirty="0" err="1"/>
              <a:t>bassa</a:t>
            </a:r>
            <a:r>
              <a:rPr lang="en-GB" dirty="0"/>
              <a:t> </a:t>
            </a:r>
            <a:r>
              <a:rPr lang="en-GB" dirty="0" err="1"/>
              <a:t>risoluzione</a:t>
            </a:r>
            <a:r>
              <a:rPr lang="en-GB" dirty="0"/>
              <a:t> e ha una </a:t>
            </a:r>
            <a:r>
              <a:rPr lang="en-GB" dirty="0" err="1"/>
              <a:t>complessità</a:t>
            </a:r>
            <a:r>
              <a:rPr lang="en-GB" dirty="0"/>
              <a:t> </a:t>
            </a:r>
            <a:r>
              <a:rPr lang="en-GB" dirty="0" err="1"/>
              <a:t>quadratica</a:t>
            </a:r>
            <a:r>
              <a:rPr lang="en-GB" dirty="0"/>
              <a:t> rispetto alla </a:t>
            </a:r>
            <a:r>
              <a:rPr lang="en-GB" dirty="0" err="1"/>
              <a:t>dimensione</a:t>
            </a:r>
            <a:r>
              <a:rPr lang="en-GB" dirty="0"/>
              <a:t> </a:t>
            </a:r>
            <a:r>
              <a:rPr lang="en-GB" dirty="0" err="1"/>
              <a:t>dell'immagine</a:t>
            </a:r>
            <a:r>
              <a:rPr lang="en-GB" dirty="0"/>
              <a:t>.</a:t>
            </a:r>
          </a:p>
          <a:p>
            <a:r>
              <a:rPr lang="en-GB" b="1" dirty="0"/>
              <a:t>Il </a:t>
            </a:r>
            <a:r>
              <a:rPr lang="en-GB" b="1" dirty="0" err="1"/>
              <a:t>collo</a:t>
            </a:r>
            <a:r>
              <a:rPr lang="en-GB" b="1" dirty="0"/>
              <a:t> di </a:t>
            </a:r>
            <a:r>
              <a:rPr lang="en-GB" b="1" dirty="0" err="1"/>
              <a:t>bottiglia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L'algoritmo</a:t>
            </a:r>
            <a:r>
              <a:rPr lang="en-GB" dirty="0"/>
              <a:t> di </a:t>
            </a:r>
            <a:r>
              <a:rPr lang="en-GB" i="1" dirty="0"/>
              <a:t>self-attention</a:t>
            </a:r>
            <a:r>
              <a:rPr lang="en-GB" dirty="0"/>
              <a:t> </a:t>
            </a:r>
            <a:r>
              <a:rPr lang="en-GB" dirty="0" err="1"/>
              <a:t>globale</a:t>
            </a:r>
            <a:r>
              <a:rPr lang="en-GB" dirty="0"/>
              <a:t> </a:t>
            </a:r>
            <a:r>
              <a:rPr lang="en-GB" dirty="0" err="1"/>
              <a:t>calcola</a:t>
            </a:r>
            <a:r>
              <a:rPr lang="en-GB" dirty="0"/>
              <a:t> le </a:t>
            </a:r>
            <a:r>
              <a:rPr lang="en-GB" dirty="0" err="1"/>
              <a:t>relazioni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un token e </a:t>
            </a:r>
            <a:r>
              <a:rPr lang="en-GB" i="1" dirty="0"/>
              <a:t>tutti</a:t>
            </a:r>
            <a:r>
              <a:rPr lang="en-GB" dirty="0"/>
              <a:t> gli </a:t>
            </a:r>
            <a:r>
              <a:rPr lang="en-GB" dirty="0" err="1"/>
              <a:t>altri</a:t>
            </a:r>
            <a:r>
              <a:rPr lang="en-GB" dirty="0"/>
              <a:t> token.</a:t>
            </a:r>
          </a:p>
          <a:p>
            <a:pPr lvl="1"/>
            <a:r>
              <a:rPr lang="en-GB" dirty="0" err="1"/>
              <a:t>Complessità</a:t>
            </a:r>
            <a:r>
              <a:rPr lang="en-GB" dirty="0"/>
              <a:t>: </a:t>
            </a:r>
            <a:r>
              <a:rPr lang="en-GB" dirty="0">
                <a:effectLst/>
              </a:rPr>
              <a:t>O</a:t>
            </a:r>
            <a:r>
              <a:rPr lang="en-GB" dirty="0"/>
              <a:t>(</a:t>
            </a:r>
            <a:r>
              <a:rPr lang="en-GB" dirty="0">
                <a:effectLst/>
              </a:rPr>
              <a:t>N2</a:t>
            </a:r>
            <a:r>
              <a:rPr lang="en-GB" dirty="0"/>
              <a:t>), dove </a:t>
            </a:r>
            <a:r>
              <a:rPr lang="en-GB" dirty="0">
                <a:effectLst/>
              </a:rPr>
              <a:t>N</a:t>
            </a:r>
            <a:r>
              <a:rPr lang="en-GB" dirty="0"/>
              <a:t> </a:t>
            </a:r>
            <a:r>
              <a:rPr lang="en-GB" dirty="0" err="1"/>
              <a:t>è</a:t>
            </a:r>
            <a:r>
              <a:rPr lang="en-GB" dirty="0"/>
              <a:t> il </a:t>
            </a:r>
            <a:r>
              <a:rPr lang="en-GB" dirty="0" err="1"/>
              <a:t>numero</a:t>
            </a:r>
            <a:r>
              <a:rPr lang="en-GB" dirty="0"/>
              <a:t> di token (pixel/patch)</a:t>
            </a:r>
            <a:endParaRPr lang="en-GB" b="1" dirty="0"/>
          </a:p>
          <a:p>
            <a:r>
              <a:rPr lang="en-GB" b="1" dirty="0" err="1"/>
              <a:t>Conseguenza</a:t>
            </a:r>
            <a:r>
              <a:rPr lang="en-GB" b="1" dirty="0"/>
              <a:t>:</a:t>
            </a:r>
            <a:r>
              <a:rPr lang="en-GB" dirty="0"/>
              <a:t> Questo </a:t>
            </a:r>
            <a:r>
              <a:rPr lang="en-GB" dirty="0" err="1"/>
              <a:t>rende</a:t>
            </a:r>
            <a:r>
              <a:rPr lang="en-GB" dirty="0"/>
              <a:t> i Transformer </a:t>
            </a:r>
            <a:r>
              <a:rPr lang="en-GB" dirty="0" err="1"/>
              <a:t>classici</a:t>
            </a:r>
            <a:r>
              <a:rPr lang="en-GB" dirty="0"/>
              <a:t> </a:t>
            </a:r>
            <a:r>
              <a:rPr lang="en-GB" dirty="0" err="1"/>
              <a:t>inadatti</a:t>
            </a:r>
            <a:r>
              <a:rPr lang="en-GB" dirty="0"/>
              <a:t> per </a:t>
            </a:r>
            <a:r>
              <a:rPr lang="en-GB" dirty="0" err="1"/>
              <a:t>compiti</a:t>
            </a:r>
            <a:r>
              <a:rPr lang="en-GB" dirty="0"/>
              <a:t> di "dense prediction" (come la </a:t>
            </a:r>
            <a:r>
              <a:rPr lang="en-GB" dirty="0" err="1"/>
              <a:t>segmentazione</a:t>
            </a:r>
            <a:r>
              <a:rPr lang="en-GB" dirty="0"/>
              <a:t>) o per </a:t>
            </a:r>
            <a:r>
              <a:rPr lang="en-GB" dirty="0" err="1"/>
              <a:t>immagini</a:t>
            </a:r>
            <a:r>
              <a:rPr lang="en-GB" dirty="0"/>
              <a:t> ad </a:t>
            </a:r>
            <a:r>
              <a:rPr lang="en-GB" dirty="0" err="1"/>
              <a:t>alta</a:t>
            </a:r>
            <a:r>
              <a:rPr lang="en-GB" dirty="0"/>
              <a:t> </a:t>
            </a:r>
            <a:r>
              <a:rPr lang="en-GB" dirty="0" err="1"/>
              <a:t>risoluzione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3519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ECD0-4E89-AB35-7334-B3DB563F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La </a:t>
            </a:r>
            <a:r>
              <a:rPr lang="en-GB" b="1" dirty="0" err="1"/>
              <a:t>Soluzione</a:t>
            </a:r>
            <a:r>
              <a:rPr lang="en-GB" b="1" dirty="0"/>
              <a:t> - Swin Transformer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A687E-8ED4-FFE5-98B0-91C037A63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Concetto </a:t>
            </a:r>
            <a:r>
              <a:rPr lang="en-GB" sz="2400" b="1" dirty="0" err="1"/>
              <a:t>Chiave</a:t>
            </a:r>
            <a:r>
              <a:rPr lang="en-GB" sz="2400" b="1" dirty="0"/>
              <a:t>:</a:t>
            </a:r>
            <a:r>
              <a:rPr lang="en-GB" sz="2400" dirty="0"/>
              <a:t> Un Transformer </a:t>
            </a:r>
            <a:r>
              <a:rPr lang="en-GB" sz="2400" b="1" dirty="0" err="1"/>
              <a:t>Gerarchico</a:t>
            </a:r>
            <a:r>
              <a:rPr lang="en-GB" sz="2400" dirty="0"/>
              <a:t> </a:t>
            </a:r>
            <a:r>
              <a:rPr lang="en-GB" sz="2400" dirty="0" err="1"/>
              <a:t>che</a:t>
            </a:r>
            <a:r>
              <a:rPr lang="en-GB" sz="2400" dirty="0"/>
              <a:t> </a:t>
            </a:r>
            <a:r>
              <a:rPr lang="en-GB" sz="2400" dirty="0" err="1"/>
              <a:t>utilizza</a:t>
            </a:r>
            <a:r>
              <a:rPr lang="en-GB" sz="2400" dirty="0"/>
              <a:t> </a:t>
            </a:r>
            <a:r>
              <a:rPr lang="en-GB" sz="2400" b="1" dirty="0" err="1"/>
              <a:t>Finestre</a:t>
            </a:r>
            <a:r>
              <a:rPr lang="en-GB" sz="2400" b="1" dirty="0"/>
              <a:t> </a:t>
            </a:r>
            <a:r>
              <a:rPr lang="en-GB" sz="2400" b="1" dirty="0" err="1"/>
              <a:t>Traslate</a:t>
            </a:r>
            <a:r>
              <a:rPr lang="en-GB" sz="2400" b="1" dirty="0"/>
              <a:t> (Shifted Windows)</a:t>
            </a:r>
            <a:r>
              <a:rPr lang="en-GB" sz="2400" dirty="0"/>
              <a:t>.</a:t>
            </a:r>
          </a:p>
          <a:p>
            <a:r>
              <a:rPr lang="en-GB" sz="2400" b="1" dirty="0" err="1"/>
              <a:t>Caratteristiche</a:t>
            </a:r>
            <a:r>
              <a:rPr lang="en-GB" sz="2400" b="1" dirty="0"/>
              <a:t> </a:t>
            </a:r>
            <a:r>
              <a:rPr lang="en-GB" sz="2400" b="1" dirty="0" err="1"/>
              <a:t>distintive</a:t>
            </a:r>
            <a:r>
              <a:rPr lang="en-GB" sz="2400" b="1" dirty="0"/>
              <a:t>:</a:t>
            </a:r>
          </a:p>
          <a:p>
            <a:pPr lvl="1"/>
            <a:r>
              <a:rPr lang="en-GB" dirty="0" err="1"/>
              <a:t>Costruisce</a:t>
            </a:r>
            <a:r>
              <a:rPr lang="en-GB" dirty="0"/>
              <a:t> feature map </a:t>
            </a:r>
            <a:r>
              <a:rPr lang="en-GB" dirty="0" err="1"/>
              <a:t>gerarchiche</a:t>
            </a:r>
            <a:r>
              <a:rPr lang="en-GB" dirty="0"/>
              <a:t>,                                                                    (simile alle CNN), </a:t>
            </a:r>
            <a:r>
              <a:rPr lang="en-GB" dirty="0" err="1"/>
              <a:t>permettendo</a:t>
            </a:r>
            <a:r>
              <a:rPr lang="en-GB" dirty="0"/>
              <a:t> di </a:t>
            </a:r>
            <a:r>
              <a:rPr lang="en-GB" dirty="0" err="1"/>
              <a:t>modellare</a:t>
            </a:r>
            <a:r>
              <a:rPr lang="en-GB" dirty="0"/>
              <a:t>                                                             </a:t>
            </a:r>
            <a:r>
              <a:rPr lang="en-GB" dirty="0" err="1"/>
              <a:t>varie</a:t>
            </a:r>
            <a:r>
              <a:rPr lang="en-GB" dirty="0"/>
              <a:t> scale.</a:t>
            </a:r>
          </a:p>
          <a:p>
            <a:pPr lvl="1"/>
            <a:r>
              <a:rPr lang="en-GB" dirty="0"/>
              <a:t>Ha una </a:t>
            </a:r>
            <a:r>
              <a:rPr lang="en-GB" b="1" dirty="0" err="1"/>
              <a:t>complessità</a:t>
            </a:r>
            <a:r>
              <a:rPr lang="en-GB" b="1" dirty="0"/>
              <a:t> </a:t>
            </a:r>
            <a:r>
              <a:rPr lang="en-GB" b="1" dirty="0" err="1"/>
              <a:t>computazionale</a:t>
            </a:r>
            <a:r>
              <a:rPr lang="en-GB" b="1" dirty="0"/>
              <a:t> </a:t>
            </a:r>
            <a:r>
              <a:rPr lang="en-GB" b="1" dirty="0" err="1"/>
              <a:t>lineare</a:t>
            </a:r>
            <a:r>
              <a:rPr lang="en-GB" dirty="0"/>
              <a:t> rispetto alla </a:t>
            </a:r>
            <a:r>
              <a:rPr lang="en-GB" dirty="0" err="1"/>
              <a:t>dimensione</a:t>
            </a:r>
            <a:r>
              <a:rPr lang="en-GB" dirty="0"/>
              <a:t> </a:t>
            </a:r>
            <a:r>
              <a:rPr lang="en-GB" dirty="0" err="1"/>
              <a:t>dell'immagine</a:t>
            </a:r>
            <a:r>
              <a:rPr lang="en-GB" dirty="0"/>
              <a:t>.</a:t>
            </a:r>
          </a:p>
          <a:p>
            <a:r>
              <a:rPr lang="en-GB" sz="2400" b="1" dirty="0" err="1"/>
              <a:t>Risultato</a:t>
            </a:r>
            <a:r>
              <a:rPr lang="en-GB" sz="2400" b="1" dirty="0"/>
              <a:t>:</a:t>
            </a:r>
            <a:r>
              <a:rPr lang="en-GB" sz="2400" dirty="0"/>
              <a:t> Serve come backbone "general-purpose" </a:t>
            </a:r>
            <a:r>
              <a:rPr lang="en-GB" sz="2400" dirty="0" err="1"/>
              <a:t>compatibile</a:t>
            </a:r>
            <a:r>
              <a:rPr lang="en-GB" sz="2400" dirty="0"/>
              <a:t> con </a:t>
            </a:r>
            <a:r>
              <a:rPr lang="en-GB" sz="2400" dirty="0" err="1"/>
              <a:t>classificazione</a:t>
            </a:r>
            <a:r>
              <a:rPr lang="en-GB" sz="2400" dirty="0"/>
              <a:t>, </a:t>
            </a:r>
            <a:r>
              <a:rPr lang="en-GB" sz="2400" dirty="0" err="1"/>
              <a:t>rilevamento</a:t>
            </a:r>
            <a:r>
              <a:rPr lang="en-GB" sz="2400" dirty="0"/>
              <a:t> </a:t>
            </a:r>
            <a:r>
              <a:rPr lang="en-GB" sz="2400" dirty="0" err="1"/>
              <a:t>oggetti</a:t>
            </a:r>
            <a:r>
              <a:rPr lang="en-GB" sz="2400" dirty="0"/>
              <a:t> e </a:t>
            </a:r>
            <a:r>
              <a:rPr lang="en-GB" sz="2400" dirty="0" err="1"/>
              <a:t>segmentazione</a:t>
            </a:r>
            <a:r>
              <a:rPr lang="en-GB" sz="2400" dirty="0"/>
              <a:t> </a:t>
            </a:r>
            <a:r>
              <a:rPr lang="en-GB" sz="2400" dirty="0" err="1"/>
              <a:t>semantica</a:t>
            </a:r>
            <a:r>
              <a:rPr lang="en-GB" sz="2400" dirty="0"/>
              <a:t>.</a:t>
            </a:r>
          </a:p>
          <a:p>
            <a:endParaRPr lang="en-IT" sz="2400" dirty="0"/>
          </a:p>
        </p:txBody>
      </p:sp>
      <p:pic>
        <p:nvPicPr>
          <p:cNvPr id="5" name="Picture 4" descr="A diagram of a solar panel&#10;&#10;AI-generated content may be incorrect.">
            <a:extLst>
              <a:ext uri="{FF2B5EF4-FFF2-40B4-BE49-F238E27FC236}">
                <a16:creationId xmlns:a16="http://schemas.microsoft.com/office/drawing/2014/main" id="{3E98AD36-2ABB-9544-EE8F-93AAD3AC9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795" y="2229853"/>
            <a:ext cx="3360152" cy="182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13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EB8C-CD76-E660-3B55-DA244E693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Architettura</a:t>
            </a:r>
            <a:r>
              <a:rPr lang="en-GB" b="1" dirty="0"/>
              <a:t> Generale (Pipeline)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63D1D-AB1C-0B19-E2B8-67DBB1667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Patch Partition:</a:t>
            </a:r>
            <a:r>
              <a:rPr lang="en-GB" dirty="0"/>
              <a:t> </a:t>
            </a:r>
            <a:r>
              <a:rPr lang="en-GB" dirty="0" err="1"/>
              <a:t>L'immagine</a:t>
            </a:r>
            <a:r>
              <a:rPr lang="en-GB" dirty="0"/>
              <a:t> RGB </a:t>
            </a:r>
            <a:r>
              <a:rPr lang="en-GB" dirty="0" err="1"/>
              <a:t>viene</a:t>
            </a:r>
            <a:r>
              <a:rPr lang="en-GB" dirty="0"/>
              <a:t> divisa in patch non </a:t>
            </a:r>
            <a:r>
              <a:rPr lang="en-GB" dirty="0" err="1"/>
              <a:t>sovrapposte</a:t>
            </a:r>
            <a:r>
              <a:rPr lang="en-GB" dirty="0"/>
              <a:t> (</a:t>
            </a:r>
            <a:r>
              <a:rPr lang="en-GB" dirty="0" err="1"/>
              <a:t>dimensione</a:t>
            </a:r>
            <a:r>
              <a:rPr lang="en-GB" dirty="0"/>
              <a:t> 4×4). Ogni patch </a:t>
            </a:r>
            <a:r>
              <a:rPr lang="en-GB" dirty="0" err="1"/>
              <a:t>è</a:t>
            </a:r>
            <a:r>
              <a:rPr lang="en-GB" dirty="0"/>
              <a:t> </a:t>
            </a:r>
            <a:r>
              <a:rPr lang="en-GB" dirty="0" err="1"/>
              <a:t>trattata</a:t>
            </a:r>
            <a:r>
              <a:rPr lang="en-GB" dirty="0"/>
              <a:t> come un "token".</a:t>
            </a:r>
          </a:p>
          <a:p>
            <a:r>
              <a:rPr lang="en-GB" b="1" dirty="0"/>
              <a:t>Linear Embedding:</a:t>
            </a:r>
            <a:r>
              <a:rPr lang="en-GB" dirty="0"/>
              <a:t> </a:t>
            </a:r>
            <a:r>
              <a:rPr lang="en-GB" dirty="0" err="1"/>
              <a:t>Proietta</a:t>
            </a:r>
            <a:r>
              <a:rPr lang="en-GB" dirty="0"/>
              <a:t> la feature </a:t>
            </a:r>
            <a:r>
              <a:rPr lang="en-GB" dirty="0" err="1"/>
              <a:t>grezza</a:t>
            </a:r>
            <a:r>
              <a:rPr lang="en-GB" dirty="0"/>
              <a:t> in una </a:t>
            </a:r>
            <a:r>
              <a:rPr lang="en-GB" dirty="0" err="1"/>
              <a:t>dimensione</a:t>
            </a:r>
            <a:r>
              <a:rPr lang="en-GB" dirty="0"/>
              <a:t> </a:t>
            </a:r>
            <a:r>
              <a:rPr lang="en-GB" dirty="0" err="1"/>
              <a:t>arbitraria</a:t>
            </a:r>
            <a:r>
              <a:rPr lang="en-GB" dirty="0"/>
              <a:t> </a:t>
            </a:r>
            <a:r>
              <a:rPr lang="en-GB" dirty="0">
                <a:effectLst/>
              </a:rPr>
              <a:t>C</a:t>
            </a:r>
            <a:r>
              <a:rPr lang="en-GB" dirty="0"/>
              <a:t>.</a:t>
            </a:r>
          </a:p>
          <a:p>
            <a:r>
              <a:rPr lang="en-GB" b="1" dirty="0"/>
              <a:t>Swin Transformer Blocks:</a:t>
            </a:r>
            <a:r>
              <a:rPr lang="en-GB" dirty="0"/>
              <a:t> </a:t>
            </a:r>
            <a:r>
              <a:rPr lang="en-GB" dirty="0" err="1"/>
              <a:t>Blocchi</a:t>
            </a:r>
            <a:r>
              <a:rPr lang="en-GB" dirty="0"/>
              <a:t> </a:t>
            </a:r>
            <a:r>
              <a:rPr lang="en-GB" dirty="0" err="1"/>
              <a:t>modificati</a:t>
            </a:r>
            <a:r>
              <a:rPr lang="en-GB" dirty="0"/>
              <a:t> di self-attention </a:t>
            </a:r>
            <a:r>
              <a:rPr lang="en-GB" dirty="0" err="1"/>
              <a:t>applicati</a:t>
            </a:r>
            <a:r>
              <a:rPr lang="en-GB" dirty="0"/>
              <a:t> ai token.</a:t>
            </a:r>
          </a:p>
          <a:p>
            <a:r>
              <a:rPr lang="en-GB" b="1" dirty="0"/>
              <a:t>Fasi (Stages):</a:t>
            </a:r>
            <a:r>
              <a:rPr lang="en-GB" dirty="0"/>
              <a:t> </a:t>
            </a:r>
            <a:r>
              <a:rPr lang="en-GB" dirty="0" err="1"/>
              <a:t>L'architettura</a:t>
            </a:r>
            <a:r>
              <a:rPr lang="en-GB" dirty="0"/>
              <a:t> </a:t>
            </a:r>
            <a:r>
              <a:rPr lang="en-GB" dirty="0" err="1"/>
              <a:t>è</a:t>
            </a:r>
            <a:r>
              <a:rPr lang="en-GB" dirty="0"/>
              <a:t> divisa in 4 </a:t>
            </a:r>
            <a:r>
              <a:rPr lang="en-GB" dirty="0" err="1"/>
              <a:t>stadi</a:t>
            </a:r>
            <a:r>
              <a:rPr lang="en-GB" dirty="0"/>
              <a:t> per </a:t>
            </a:r>
            <a:r>
              <a:rPr lang="en-GB" dirty="0" err="1"/>
              <a:t>produrre</a:t>
            </a:r>
            <a:r>
              <a:rPr lang="en-GB" dirty="0"/>
              <a:t> una rappresentazione </a:t>
            </a:r>
            <a:r>
              <a:rPr lang="en-GB" dirty="0" err="1"/>
              <a:t>gerarchica</a:t>
            </a:r>
            <a:r>
              <a:rPr lang="en-GB" dirty="0"/>
              <a:t> (</a:t>
            </a:r>
            <a:r>
              <a:rPr lang="en-GB" dirty="0" err="1"/>
              <a:t>esattamente</a:t>
            </a:r>
            <a:r>
              <a:rPr lang="en-GB" dirty="0"/>
              <a:t> come VGG o </a:t>
            </a:r>
            <a:r>
              <a:rPr lang="en-GB" dirty="0" err="1"/>
              <a:t>ResNet</a:t>
            </a:r>
            <a:r>
              <a:rPr lang="en-GB" dirty="0"/>
              <a:t>)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911729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803E2792-ED1B-B4F8-2CFA-1C239929F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806871"/>
            <a:ext cx="10905066" cy="3244257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0E433413-3ADD-993B-4107-0CDDB3609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b="1" dirty="0" err="1"/>
              <a:t>Architettura</a:t>
            </a:r>
            <a:r>
              <a:rPr lang="en-GB" b="1" dirty="0"/>
              <a:t> Generale (Pipeline)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771049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2483F-CEBD-5AA9-38F7-2C803E27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Rappresentazione </a:t>
            </a:r>
            <a:r>
              <a:rPr lang="en-GB" b="1" dirty="0" err="1"/>
              <a:t>Gerarchica</a:t>
            </a:r>
            <a:r>
              <a:rPr lang="en-GB" b="1" dirty="0"/>
              <a:t> e Patch Merging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39642-2876-FC5F-F12C-6525C2E04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Obiettivo:</a:t>
            </a:r>
            <a:r>
              <a:rPr lang="en-GB" dirty="0"/>
              <a:t> </a:t>
            </a:r>
            <a:r>
              <a:rPr lang="en-GB" dirty="0" err="1"/>
              <a:t>Ridurre</a:t>
            </a:r>
            <a:r>
              <a:rPr lang="en-GB" dirty="0"/>
              <a:t> il </a:t>
            </a:r>
            <a:r>
              <a:rPr lang="en-GB" dirty="0" err="1"/>
              <a:t>numero</a:t>
            </a:r>
            <a:r>
              <a:rPr lang="en-GB" dirty="0"/>
              <a:t> di token man mano </a:t>
            </a:r>
            <a:r>
              <a:rPr lang="en-GB" dirty="0" err="1"/>
              <a:t>che</a:t>
            </a:r>
            <a:r>
              <a:rPr lang="en-GB" dirty="0"/>
              <a:t> la rete </a:t>
            </a:r>
            <a:r>
              <a:rPr lang="en-GB" dirty="0" err="1"/>
              <a:t>diventa</a:t>
            </a:r>
            <a:r>
              <a:rPr lang="en-GB" dirty="0"/>
              <a:t> </a:t>
            </a:r>
            <a:r>
              <a:rPr lang="en-GB" dirty="0" err="1"/>
              <a:t>più</a:t>
            </a:r>
            <a:r>
              <a:rPr lang="en-GB" dirty="0"/>
              <a:t> </a:t>
            </a:r>
            <a:r>
              <a:rPr lang="en-GB" dirty="0" err="1"/>
              <a:t>profonda</a:t>
            </a:r>
            <a:r>
              <a:rPr lang="en-GB" dirty="0"/>
              <a:t> per </a:t>
            </a:r>
            <a:r>
              <a:rPr lang="en-GB" dirty="0" err="1"/>
              <a:t>aumentare</a:t>
            </a:r>
            <a:r>
              <a:rPr lang="en-GB" dirty="0"/>
              <a:t> il campo </a:t>
            </a:r>
            <a:r>
              <a:rPr lang="en-GB" dirty="0" err="1"/>
              <a:t>recettivo</a:t>
            </a:r>
            <a:r>
              <a:rPr lang="en-GB" dirty="0"/>
              <a:t>.</a:t>
            </a:r>
          </a:p>
          <a:p>
            <a:r>
              <a:rPr lang="en-GB" b="1" dirty="0"/>
              <a:t>Patch Merging Layer:</a:t>
            </a:r>
          </a:p>
          <a:p>
            <a:pPr lvl="1"/>
            <a:r>
              <a:rPr lang="en-GB" dirty="0" err="1"/>
              <a:t>Concatena</a:t>
            </a:r>
            <a:r>
              <a:rPr lang="en-GB" dirty="0"/>
              <a:t> le feature di </a:t>
            </a:r>
            <a:r>
              <a:rPr lang="en-GB" dirty="0" err="1"/>
              <a:t>gruppi</a:t>
            </a:r>
            <a:r>
              <a:rPr lang="en-GB" dirty="0"/>
              <a:t> di 2×2 patch vicine.</a:t>
            </a:r>
          </a:p>
          <a:p>
            <a:pPr lvl="1"/>
            <a:r>
              <a:rPr lang="en-GB" dirty="0" err="1"/>
              <a:t>Riduce</a:t>
            </a:r>
            <a:r>
              <a:rPr lang="en-GB" dirty="0"/>
              <a:t> il </a:t>
            </a:r>
            <a:r>
              <a:rPr lang="en-GB" dirty="0" err="1"/>
              <a:t>numero</a:t>
            </a:r>
            <a:r>
              <a:rPr lang="en-GB" dirty="0"/>
              <a:t> di token di un </a:t>
            </a:r>
            <a:r>
              <a:rPr lang="en-GB" dirty="0" err="1"/>
              <a:t>fattore</a:t>
            </a:r>
            <a:r>
              <a:rPr lang="en-GB" dirty="0"/>
              <a:t> 4 (</a:t>
            </a:r>
            <a:r>
              <a:rPr lang="en-GB" dirty="0" err="1"/>
              <a:t>downsampling</a:t>
            </a:r>
            <a:r>
              <a:rPr lang="en-GB" dirty="0"/>
              <a:t> 2×).</a:t>
            </a:r>
          </a:p>
          <a:p>
            <a:pPr lvl="1"/>
            <a:r>
              <a:rPr lang="en-GB" dirty="0" err="1"/>
              <a:t>Aumenta</a:t>
            </a:r>
            <a:r>
              <a:rPr lang="en-GB" dirty="0"/>
              <a:t> </a:t>
            </a:r>
            <a:r>
              <a:rPr lang="en-GB" dirty="0" err="1"/>
              <a:t>l</a:t>
            </a:r>
            <a:r>
              <a:rPr lang="en-GB" b="1" dirty="0" err="1"/>
              <a:t>Risultato</a:t>
            </a:r>
            <a:r>
              <a:rPr lang="en-GB" b="1" dirty="0"/>
              <a:t>:</a:t>
            </a:r>
            <a:r>
              <a:rPr lang="en-GB" dirty="0"/>
              <a:t> Output con </a:t>
            </a:r>
            <a:r>
              <a:rPr lang="en-GB" dirty="0" err="1"/>
              <a:t>risoluzioni</a:t>
            </a:r>
            <a:r>
              <a:rPr lang="en-GB" dirty="0"/>
              <a:t> </a:t>
            </a:r>
            <a:r>
              <a:rPr lang="en-GB" dirty="0" err="1"/>
              <a:t>decrescenti</a:t>
            </a:r>
            <a:r>
              <a:rPr lang="en-GB" dirty="0"/>
              <a:t> (H/4,H/8,H/16,H/32), </a:t>
            </a:r>
            <a:r>
              <a:rPr lang="en-GB" dirty="0" err="1"/>
              <a:t>ideali</a:t>
            </a:r>
            <a:r>
              <a:rPr lang="en-GB" dirty="0"/>
              <a:t> per Feature Pyramid Networks (FPN) o U-Net</a:t>
            </a:r>
          </a:p>
          <a:p>
            <a:pPr lvl="1"/>
            <a:r>
              <a:rPr lang="en-GB" dirty="0"/>
              <a:t>a </a:t>
            </a:r>
            <a:r>
              <a:rPr lang="en-GB" dirty="0" err="1"/>
              <a:t>dimensione</a:t>
            </a:r>
            <a:r>
              <a:rPr lang="en-GB" dirty="0"/>
              <a:t> delle feature (es. da </a:t>
            </a:r>
            <a:r>
              <a:rPr lang="en-GB" dirty="0">
                <a:effectLst/>
              </a:rPr>
              <a:t>C</a:t>
            </a:r>
            <a:r>
              <a:rPr lang="en-GB" dirty="0"/>
              <a:t> a 2</a:t>
            </a:r>
            <a:r>
              <a:rPr lang="en-GB" dirty="0">
                <a:effectLst/>
              </a:rPr>
              <a:t>C</a:t>
            </a:r>
            <a:r>
              <a:rPr lang="en-GB" dirty="0"/>
              <a:t>).</a:t>
            </a:r>
          </a:p>
          <a:p>
            <a:endParaRPr lang="en-IT" dirty="0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CCD02B0-BB8A-27BB-FE85-9D22847B6E54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6018028" y="2030709"/>
            <a:ext cx="272488" cy="27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T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BA45C1-D218-9B88-C9A3-3047E3F66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450" y="5099003"/>
            <a:ext cx="2568617" cy="17589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F61BDD-4CDD-7451-A11F-B47A3DCCA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088" y="5112397"/>
            <a:ext cx="2568617" cy="173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99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7CF3F-7587-19DE-B195-B0EB49213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Window-based Self-Attention (W-MSA)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851B-0A9A-A35F-455E-E23406B45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err="1"/>
              <a:t>Efficienza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Invece</a:t>
            </a:r>
            <a:r>
              <a:rPr lang="en-GB" dirty="0"/>
              <a:t> </a:t>
            </a:r>
            <a:r>
              <a:rPr lang="en-GB" dirty="0" err="1"/>
              <a:t>dell'attenzione</a:t>
            </a:r>
            <a:r>
              <a:rPr lang="en-GB" dirty="0"/>
              <a:t> </a:t>
            </a:r>
            <a:r>
              <a:rPr lang="en-GB" dirty="0" err="1"/>
              <a:t>globale</a:t>
            </a:r>
            <a:r>
              <a:rPr lang="en-GB" dirty="0"/>
              <a:t>, Swin </a:t>
            </a:r>
            <a:r>
              <a:rPr lang="en-GB" dirty="0" err="1"/>
              <a:t>calcola</a:t>
            </a:r>
            <a:r>
              <a:rPr lang="en-GB" dirty="0"/>
              <a:t> la self-attention solo </a:t>
            </a:r>
            <a:r>
              <a:rPr lang="en-GB" dirty="0" err="1"/>
              <a:t>all'interno</a:t>
            </a:r>
            <a:r>
              <a:rPr lang="en-GB" dirty="0"/>
              <a:t> di </a:t>
            </a:r>
            <a:r>
              <a:rPr lang="en-GB" b="1" dirty="0" err="1"/>
              <a:t>finestre</a:t>
            </a:r>
            <a:r>
              <a:rPr lang="en-GB" b="1" dirty="0"/>
              <a:t> </a:t>
            </a:r>
            <a:r>
              <a:rPr lang="en-GB" b="1" dirty="0" err="1"/>
              <a:t>locali</a:t>
            </a:r>
            <a:r>
              <a:rPr lang="en-GB" dirty="0"/>
              <a:t> non </a:t>
            </a:r>
            <a:r>
              <a:rPr lang="en-GB" dirty="0" err="1"/>
              <a:t>sovrapposte</a:t>
            </a:r>
            <a:r>
              <a:rPr lang="en-GB" dirty="0"/>
              <a:t>.</a:t>
            </a:r>
          </a:p>
          <a:p>
            <a:r>
              <a:rPr lang="en-GB" b="1" dirty="0" err="1"/>
              <a:t>Dimensione</a:t>
            </a:r>
            <a:r>
              <a:rPr lang="en-GB" b="1" dirty="0"/>
              <a:t> Finestra:</a:t>
            </a:r>
            <a:r>
              <a:rPr lang="en-GB" dirty="0"/>
              <a:t> </a:t>
            </a:r>
            <a:r>
              <a:rPr lang="en-GB" dirty="0" err="1"/>
              <a:t>Fissa</a:t>
            </a:r>
            <a:r>
              <a:rPr lang="en-GB" dirty="0"/>
              <a:t> a </a:t>
            </a:r>
            <a:r>
              <a:rPr lang="en-GB" dirty="0">
                <a:effectLst/>
              </a:rPr>
              <a:t>M</a:t>
            </a:r>
            <a:r>
              <a:rPr lang="en-GB" dirty="0"/>
              <a:t>×</a:t>
            </a:r>
            <a:r>
              <a:rPr lang="en-GB" dirty="0">
                <a:effectLst/>
              </a:rPr>
              <a:t>M</a:t>
            </a:r>
            <a:r>
              <a:rPr lang="en-GB" dirty="0"/>
              <a:t> patch (default </a:t>
            </a:r>
            <a:r>
              <a:rPr lang="en-GB" dirty="0">
                <a:effectLst/>
              </a:rPr>
              <a:t>M</a:t>
            </a:r>
            <a:r>
              <a:rPr lang="en-GB" dirty="0"/>
              <a:t>=7).</a:t>
            </a:r>
          </a:p>
          <a:p>
            <a:r>
              <a:rPr lang="en-GB" b="1" dirty="0" err="1"/>
              <a:t>Confronto</a:t>
            </a:r>
            <a:r>
              <a:rPr lang="en-GB" b="1" dirty="0"/>
              <a:t> di </a:t>
            </a:r>
            <a:r>
              <a:rPr lang="en-GB" b="1" dirty="0" err="1"/>
              <a:t>Complessità</a:t>
            </a:r>
            <a:r>
              <a:rPr lang="en-GB" b="1" dirty="0"/>
              <a:t>:</a:t>
            </a:r>
          </a:p>
          <a:p>
            <a:pPr lvl="1"/>
            <a:r>
              <a:rPr lang="en-GB" dirty="0"/>
              <a:t>MSA </a:t>
            </a:r>
            <a:r>
              <a:rPr lang="en-GB" dirty="0" err="1"/>
              <a:t>Globale</a:t>
            </a:r>
            <a:r>
              <a:rPr lang="en-GB" dirty="0"/>
              <a:t>: 4h</a:t>
            </a:r>
            <a:r>
              <a:rPr lang="en-GB" dirty="0">
                <a:effectLst/>
              </a:rPr>
              <a:t>wC2</a:t>
            </a:r>
            <a:r>
              <a:rPr lang="en-GB" dirty="0"/>
              <a:t>+2(</a:t>
            </a:r>
            <a:r>
              <a:rPr lang="en-GB" dirty="0" err="1"/>
              <a:t>h</a:t>
            </a:r>
            <a:r>
              <a:rPr lang="en-GB" dirty="0" err="1">
                <a:effectLst/>
              </a:rPr>
              <a:t>w</a:t>
            </a:r>
            <a:r>
              <a:rPr lang="en-GB" dirty="0"/>
              <a:t>)</a:t>
            </a:r>
            <a:r>
              <a:rPr lang="en-GB" dirty="0">
                <a:effectLst/>
              </a:rPr>
              <a:t>2C</a:t>
            </a:r>
            <a:r>
              <a:rPr lang="en-GB" dirty="0"/>
              <a:t> (</a:t>
            </a:r>
            <a:r>
              <a:rPr lang="en-GB" dirty="0" err="1"/>
              <a:t>Quadratica</a:t>
            </a:r>
            <a:r>
              <a:rPr lang="en-GB" dirty="0"/>
              <a:t> rispetto a </a:t>
            </a:r>
            <a:r>
              <a:rPr lang="en-GB" dirty="0" err="1"/>
              <a:t>h</a:t>
            </a:r>
            <a:r>
              <a:rPr lang="en-GB" dirty="0" err="1">
                <a:effectLst/>
              </a:rPr>
              <a:t>w</a:t>
            </a:r>
            <a:r>
              <a:rPr lang="en-GB" dirty="0"/>
              <a:t>).</a:t>
            </a:r>
          </a:p>
          <a:p>
            <a:pPr lvl="1"/>
            <a:r>
              <a:rPr lang="en-GB" dirty="0"/>
              <a:t>Window-MSA: 4h</a:t>
            </a:r>
            <a:r>
              <a:rPr lang="en-GB" dirty="0">
                <a:effectLst/>
              </a:rPr>
              <a:t>wC2</a:t>
            </a:r>
            <a:r>
              <a:rPr lang="en-GB" dirty="0"/>
              <a:t>+2</a:t>
            </a:r>
            <a:r>
              <a:rPr lang="en-GB" dirty="0">
                <a:effectLst/>
              </a:rPr>
              <a:t>M2</a:t>
            </a:r>
            <a:r>
              <a:rPr lang="en-GB" dirty="0"/>
              <a:t>h</a:t>
            </a:r>
            <a:r>
              <a:rPr lang="en-GB" dirty="0">
                <a:effectLst/>
              </a:rPr>
              <a:t>wC</a:t>
            </a:r>
            <a:r>
              <a:rPr lang="en-GB" dirty="0"/>
              <a:t> (</a:t>
            </a:r>
            <a:r>
              <a:rPr lang="en-GB" dirty="0" err="1"/>
              <a:t>Lineare</a:t>
            </a:r>
            <a:r>
              <a:rPr lang="en-GB" dirty="0"/>
              <a:t> rispetto a </a:t>
            </a:r>
            <a:r>
              <a:rPr lang="en-GB" dirty="0" err="1"/>
              <a:t>h</a:t>
            </a:r>
            <a:r>
              <a:rPr lang="en-GB" dirty="0" err="1">
                <a:effectLst/>
              </a:rPr>
              <a:t>w</a:t>
            </a:r>
            <a:r>
              <a:rPr lang="en-GB" dirty="0"/>
              <a:t>).</a:t>
            </a:r>
          </a:p>
          <a:p>
            <a:r>
              <a:rPr lang="en-GB" b="1" dirty="0" err="1"/>
              <a:t>Vantaggio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Scalabile</a:t>
            </a:r>
            <a:r>
              <a:rPr lang="en-GB" dirty="0"/>
              <a:t> per </a:t>
            </a:r>
            <a:r>
              <a:rPr lang="en-GB" dirty="0" err="1"/>
              <a:t>immagini</a:t>
            </a:r>
            <a:r>
              <a:rPr lang="en-GB" dirty="0"/>
              <a:t> di </a:t>
            </a:r>
            <a:r>
              <a:rPr lang="en-GB" dirty="0" err="1"/>
              <a:t>grandi</a:t>
            </a:r>
            <a:r>
              <a:rPr lang="en-GB" dirty="0"/>
              <a:t> </a:t>
            </a:r>
            <a:r>
              <a:rPr lang="en-GB" dirty="0" err="1"/>
              <a:t>dimensioni</a:t>
            </a:r>
            <a:endParaRPr lang="en-GB" dirty="0"/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667197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F7A67-E251-0A15-86F4-1CFE1B3C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Shifted Window Partitioning (SW-MSA)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632F6-4444-AF89-6E22-C73EF0E33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Il </a:t>
            </a:r>
            <a:r>
              <a:rPr lang="en-GB" b="1" dirty="0" err="1"/>
              <a:t>problema</a:t>
            </a:r>
            <a:r>
              <a:rPr lang="en-GB" b="1" dirty="0"/>
              <a:t> delle </a:t>
            </a:r>
            <a:r>
              <a:rPr lang="en-GB" b="1" dirty="0" err="1"/>
              <a:t>finestre</a:t>
            </a:r>
            <a:r>
              <a:rPr lang="en-GB" b="1" dirty="0"/>
              <a:t> </a:t>
            </a:r>
            <a:r>
              <a:rPr lang="en-GB" b="1" dirty="0" err="1"/>
              <a:t>fisse</a:t>
            </a:r>
            <a:r>
              <a:rPr lang="en-GB" b="1" dirty="0"/>
              <a:t>:</a:t>
            </a:r>
            <a:r>
              <a:rPr lang="en-GB" dirty="0"/>
              <a:t> Le </a:t>
            </a:r>
            <a:r>
              <a:rPr lang="en-GB" dirty="0" err="1"/>
              <a:t>finestre</a:t>
            </a:r>
            <a:r>
              <a:rPr lang="en-GB" dirty="0"/>
              <a:t> non </a:t>
            </a:r>
            <a:r>
              <a:rPr lang="en-GB" dirty="0" err="1"/>
              <a:t>sovrapposte</a:t>
            </a:r>
            <a:r>
              <a:rPr lang="en-GB" dirty="0"/>
              <a:t> </a:t>
            </a:r>
            <a:r>
              <a:rPr lang="en-GB" dirty="0" err="1"/>
              <a:t>mancano</a:t>
            </a:r>
            <a:r>
              <a:rPr lang="en-GB" dirty="0"/>
              <a:t> di </a:t>
            </a:r>
            <a:r>
              <a:rPr lang="en-GB" dirty="0" err="1"/>
              <a:t>connessioni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loro, </a:t>
            </a:r>
            <a:r>
              <a:rPr lang="en-GB" dirty="0" err="1"/>
              <a:t>limitando</a:t>
            </a:r>
            <a:r>
              <a:rPr lang="en-GB" dirty="0"/>
              <a:t> la </a:t>
            </a:r>
            <a:r>
              <a:rPr lang="en-GB" dirty="0" err="1"/>
              <a:t>potenza</a:t>
            </a:r>
            <a:r>
              <a:rPr lang="en-GB" dirty="0"/>
              <a:t> di </a:t>
            </a:r>
            <a:r>
              <a:rPr lang="en-GB" dirty="0" err="1"/>
              <a:t>modellazione</a:t>
            </a:r>
            <a:r>
              <a:rPr lang="en-GB" dirty="0"/>
              <a:t>.</a:t>
            </a:r>
          </a:p>
          <a:p>
            <a:r>
              <a:rPr lang="en-GB" b="1" dirty="0"/>
              <a:t>La </a:t>
            </a:r>
            <a:r>
              <a:rPr lang="en-GB" b="1" dirty="0" err="1"/>
              <a:t>Soluzione</a:t>
            </a:r>
            <a:r>
              <a:rPr lang="en-GB" b="1" dirty="0"/>
              <a:t> (Shifted Windows):</a:t>
            </a:r>
            <a:r>
              <a:rPr lang="en-GB" dirty="0"/>
              <a:t>                                                         </a:t>
            </a:r>
            <a:r>
              <a:rPr lang="en-GB" dirty="0" err="1"/>
              <a:t>Alternare</a:t>
            </a:r>
            <a:r>
              <a:rPr lang="en-GB" dirty="0"/>
              <a:t> la </a:t>
            </a:r>
            <a:r>
              <a:rPr lang="en-GB" dirty="0" err="1"/>
              <a:t>partizione</a:t>
            </a:r>
            <a:r>
              <a:rPr lang="en-GB" dirty="0"/>
              <a:t> delle </a:t>
            </a:r>
            <a:r>
              <a:rPr lang="en-GB" dirty="0" err="1"/>
              <a:t>finestre</a:t>
            </a:r>
            <a:r>
              <a:rPr lang="en-GB" dirty="0"/>
              <a:t>                                                                    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blocchi</a:t>
            </a:r>
            <a:r>
              <a:rPr lang="en-GB" dirty="0"/>
              <a:t> </a:t>
            </a:r>
            <a:r>
              <a:rPr lang="en-GB" dirty="0" err="1"/>
              <a:t>consecutivi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Layer </a:t>
            </a:r>
            <a:r>
              <a:rPr lang="en-GB" dirty="0">
                <a:effectLst/>
              </a:rPr>
              <a:t>l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Partizione</a:t>
            </a:r>
            <a:r>
              <a:rPr lang="en-GB" dirty="0"/>
              <a:t> </a:t>
            </a:r>
            <a:r>
              <a:rPr lang="en-GB" dirty="0" err="1"/>
              <a:t>regolare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Layer </a:t>
            </a:r>
            <a:r>
              <a:rPr lang="en-GB" dirty="0">
                <a:effectLst/>
              </a:rPr>
              <a:t>l</a:t>
            </a:r>
            <a:r>
              <a:rPr lang="en-GB" dirty="0"/>
              <a:t>+1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Partizione</a:t>
            </a:r>
            <a:r>
              <a:rPr lang="en-GB" dirty="0"/>
              <a:t> </a:t>
            </a:r>
            <a:r>
              <a:rPr lang="en-GB" dirty="0" err="1"/>
              <a:t>traslata</a:t>
            </a:r>
            <a:r>
              <a:rPr lang="en-GB" dirty="0"/>
              <a:t> (</a:t>
            </a:r>
            <a:r>
              <a:rPr lang="en-GB" dirty="0" err="1"/>
              <a:t>spostata</a:t>
            </a:r>
            <a:r>
              <a:rPr lang="en-GB" dirty="0"/>
              <a:t>) di (</a:t>
            </a:r>
            <a:r>
              <a:rPr lang="en-GB" dirty="0">
                <a:effectLst/>
              </a:rPr>
              <a:t>M</a:t>
            </a:r>
            <a:r>
              <a:rPr lang="en-GB" dirty="0"/>
              <a:t>/2,</a:t>
            </a:r>
            <a:r>
              <a:rPr lang="en-GB" dirty="0">
                <a:effectLst/>
              </a:rPr>
              <a:t>M</a:t>
            </a:r>
            <a:r>
              <a:rPr lang="en-GB" dirty="0"/>
              <a:t>/2) pixel.</a:t>
            </a:r>
          </a:p>
          <a:p>
            <a:r>
              <a:rPr lang="en-GB" b="1" dirty="0" err="1"/>
              <a:t>Effetto</a:t>
            </a:r>
            <a:r>
              <a:rPr lang="en-GB" b="1" dirty="0"/>
              <a:t>:</a:t>
            </a:r>
            <a:r>
              <a:rPr lang="en-GB" dirty="0"/>
              <a:t> Introduce </a:t>
            </a:r>
            <a:r>
              <a:rPr lang="en-GB" dirty="0" err="1"/>
              <a:t>connessioni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finestre</a:t>
            </a:r>
            <a:r>
              <a:rPr lang="en-GB" dirty="0"/>
              <a:t> vicine del layer </a:t>
            </a:r>
            <a:r>
              <a:rPr lang="en-GB" dirty="0" err="1"/>
              <a:t>precedente</a:t>
            </a:r>
            <a:r>
              <a:rPr lang="en-GB" dirty="0"/>
              <a:t>, </a:t>
            </a:r>
            <a:r>
              <a:rPr lang="en-GB" dirty="0" err="1"/>
              <a:t>mantenendo</a:t>
            </a:r>
            <a:r>
              <a:rPr lang="en-GB" dirty="0"/>
              <a:t> </a:t>
            </a:r>
            <a:r>
              <a:rPr lang="en-GB" dirty="0" err="1"/>
              <a:t>l'efficienza</a:t>
            </a:r>
            <a:endParaRPr lang="en-GB" dirty="0"/>
          </a:p>
          <a:p>
            <a:endParaRPr lang="en-IT" dirty="0"/>
          </a:p>
        </p:txBody>
      </p:sp>
      <p:pic>
        <p:nvPicPr>
          <p:cNvPr id="4" name="Picture 3" descr="A screenshot of a layer of a window&#10;&#10;AI-generated content may be incorrect.">
            <a:extLst>
              <a:ext uri="{FF2B5EF4-FFF2-40B4-BE49-F238E27FC236}">
                <a16:creationId xmlns:a16="http://schemas.microsoft.com/office/drawing/2014/main" id="{E2F05FA6-3B5B-CAA2-638A-A283D2198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0" y="2769668"/>
            <a:ext cx="4616925" cy="172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31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466D6-3675-C8F7-EA14-1AC686642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SW-MSA: </a:t>
            </a:r>
            <a:r>
              <a:rPr lang="en-GB" b="1" dirty="0" err="1"/>
              <a:t>Calcolo</a:t>
            </a:r>
            <a:r>
              <a:rPr lang="en-GB" b="1" dirty="0"/>
              <a:t> </a:t>
            </a:r>
            <a:r>
              <a:rPr lang="en-GB" b="1" dirty="0" err="1"/>
              <a:t>Efficiente</a:t>
            </a:r>
            <a:r>
              <a:rPr lang="en-GB" b="1" dirty="0"/>
              <a:t> (Cyclic Shift)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329C9-AEEB-E95D-9196-048FB706D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 err="1"/>
              <a:t>Sfida</a:t>
            </a:r>
            <a:r>
              <a:rPr lang="en-GB" b="1" dirty="0"/>
              <a:t>:</a:t>
            </a:r>
            <a:r>
              <a:rPr lang="en-GB" dirty="0"/>
              <a:t> Lo </a:t>
            </a:r>
            <a:r>
              <a:rPr lang="en-GB" dirty="0" err="1"/>
              <a:t>spostamento</a:t>
            </a:r>
            <a:r>
              <a:rPr lang="en-GB" dirty="0"/>
              <a:t> delle </a:t>
            </a:r>
            <a:r>
              <a:rPr lang="en-GB" dirty="0" err="1"/>
              <a:t>finestre</a:t>
            </a:r>
            <a:r>
              <a:rPr lang="en-GB" dirty="0"/>
              <a:t> (shifting) </a:t>
            </a:r>
            <a:r>
              <a:rPr lang="en-GB" dirty="0" err="1"/>
              <a:t>crea</a:t>
            </a:r>
            <a:r>
              <a:rPr lang="en-GB" dirty="0"/>
              <a:t> </a:t>
            </a:r>
            <a:r>
              <a:rPr lang="en-GB" dirty="0" err="1"/>
              <a:t>più</a:t>
            </a:r>
            <a:r>
              <a:rPr lang="en-GB" dirty="0"/>
              <a:t> </a:t>
            </a:r>
            <a:r>
              <a:rPr lang="en-GB" dirty="0" err="1"/>
              <a:t>finestre</a:t>
            </a:r>
            <a:r>
              <a:rPr lang="en-GB" dirty="0"/>
              <a:t>, </a:t>
            </a:r>
            <a:r>
              <a:rPr lang="en-GB" dirty="0" err="1"/>
              <a:t>alcune</a:t>
            </a:r>
            <a:r>
              <a:rPr lang="en-GB" dirty="0"/>
              <a:t> delle </a:t>
            </a:r>
            <a:r>
              <a:rPr lang="en-GB" dirty="0" err="1"/>
              <a:t>quali</a:t>
            </a:r>
            <a:r>
              <a:rPr lang="en-GB" dirty="0"/>
              <a:t> </a:t>
            </a:r>
            <a:r>
              <a:rPr lang="en-GB" dirty="0" err="1"/>
              <a:t>più</a:t>
            </a:r>
            <a:r>
              <a:rPr lang="en-GB" dirty="0"/>
              <a:t> </a:t>
            </a:r>
            <a:r>
              <a:rPr lang="en-GB" dirty="0" err="1"/>
              <a:t>piccole</a:t>
            </a:r>
            <a:r>
              <a:rPr lang="en-GB" dirty="0"/>
              <a:t> di </a:t>
            </a:r>
            <a:r>
              <a:rPr lang="en-GB" dirty="0">
                <a:effectLst/>
              </a:rPr>
              <a:t>M</a:t>
            </a:r>
            <a:r>
              <a:rPr lang="en-GB" dirty="0"/>
              <a:t>×</a:t>
            </a:r>
            <a:r>
              <a:rPr lang="en-GB" dirty="0">
                <a:effectLst/>
              </a:rPr>
              <a:t>M</a:t>
            </a:r>
            <a:r>
              <a:rPr lang="en-GB" dirty="0"/>
              <a:t>.</a:t>
            </a:r>
          </a:p>
          <a:p>
            <a:r>
              <a:rPr lang="en-GB" b="1" dirty="0" err="1"/>
              <a:t>Soluzione</a:t>
            </a:r>
            <a:r>
              <a:rPr lang="en-GB" b="1" dirty="0"/>
              <a:t> Naive:</a:t>
            </a:r>
            <a:r>
              <a:rPr lang="en-GB" dirty="0"/>
              <a:t> Padding (</a:t>
            </a:r>
            <a:r>
              <a:rPr lang="en-GB" dirty="0" err="1"/>
              <a:t>riempimento</a:t>
            </a:r>
            <a:r>
              <a:rPr lang="en-GB" dirty="0"/>
              <a:t>) delle </a:t>
            </a:r>
            <a:r>
              <a:rPr lang="en-GB" dirty="0" err="1"/>
              <a:t>finestre</a:t>
            </a:r>
            <a:r>
              <a:rPr lang="en-GB" dirty="0"/>
              <a:t> </a:t>
            </a:r>
            <a:r>
              <a:rPr lang="en-GB" dirty="0" err="1"/>
              <a:t>piccole</a:t>
            </a:r>
            <a:r>
              <a:rPr lang="en-GB" dirty="0"/>
              <a:t> -&gt; </a:t>
            </a:r>
            <a:r>
              <a:rPr lang="en-GB" dirty="0" err="1"/>
              <a:t>Aumenta</a:t>
            </a:r>
            <a:r>
              <a:rPr lang="en-GB" dirty="0"/>
              <a:t> il </a:t>
            </a:r>
            <a:r>
              <a:rPr lang="en-GB" dirty="0" err="1"/>
              <a:t>calcolo</a:t>
            </a:r>
            <a:r>
              <a:rPr lang="en-GB" dirty="0"/>
              <a:t> (2×2 </a:t>
            </a:r>
            <a:r>
              <a:rPr lang="en-GB" dirty="0" err="1"/>
              <a:t>diventa</a:t>
            </a:r>
            <a:r>
              <a:rPr lang="en-GB" dirty="0"/>
              <a:t> 3×3).</a:t>
            </a:r>
          </a:p>
          <a:p>
            <a:r>
              <a:rPr lang="en-GB" b="1" dirty="0" err="1"/>
              <a:t>Soluzione</a:t>
            </a:r>
            <a:r>
              <a:rPr lang="en-GB" b="1" dirty="0"/>
              <a:t> Swin (Cyclic Shift):</a:t>
            </a:r>
            <a:r>
              <a:rPr lang="en-GB" dirty="0"/>
              <a:t> Sposta </a:t>
            </a:r>
            <a:r>
              <a:rPr lang="en-GB" dirty="0" err="1"/>
              <a:t>ciclicamente</a:t>
            </a:r>
            <a:r>
              <a:rPr lang="en-GB" dirty="0"/>
              <a:t> </a:t>
            </a:r>
            <a:r>
              <a:rPr lang="en-GB" dirty="0" err="1"/>
              <a:t>l'immagine</a:t>
            </a:r>
            <a:r>
              <a:rPr lang="en-GB" dirty="0"/>
              <a:t> verso </a:t>
            </a:r>
            <a:r>
              <a:rPr lang="en-GB" dirty="0" err="1"/>
              <a:t>l'alto</a:t>
            </a:r>
            <a:r>
              <a:rPr lang="en-GB" dirty="0"/>
              <a:t> a sinistra.</a:t>
            </a:r>
          </a:p>
          <a:p>
            <a:pPr lvl="1"/>
            <a:r>
              <a:rPr lang="en-GB" dirty="0"/>
              <a:t>Le </a:t>
            </a:r>
            <a:r>
              <a:rPr lang="en-GB" dirty="0" err="1"/>
              <a:t>finestre</a:t>
            </a:r>
            <a:r>
              <a:rPr lang="en-GB" dirty="0"/>
              <a:t> </a:t>
            </a:r>
            <a:r>
              <a:rPr lang="en-GB" dirty="0" err="1"/>
              <a:t>vengono</a:t>
            </a:r>
            <a:r>
              <a:rPr lang="en-GB" dirty="0"/>
              <a:t> </a:t>
            </a:r>
            <a:r>
              <a:rPr lang="en-GB" dirty="0" err="1"/>
              <a:t>composte</a:t>
            </a:r>
            <a:r>
              <a:rPr lang="en-GB" dirty="0"/>
              <a:t> da sotto-parti non </a:t>
            </a:r>
            <a:r>
              <a:rPr lang="en-GB" dirty="0" err="1"/>
              <a:t>adiacenti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Si </a:t>
            </a:r>
            <a:r>
              <a:rPr lang="en-GB" dirty="0" err="1"/>
              <a:t>utilizza</a:t>
            </a:r>
            <a:r>
              <a:rPr lang="en-GB" dirty="0"/>
              <a:t> un </a:t>
            </a:r>
            <a:r>
              <a:rPr lang="en-GB" b="1" dirty="0"/>
              <a:t>Masked MSA</a:t>
            </a:r>
            <a:r>
              <a:rPr lang="en-GB" dirty="0"/>
              <a:t> per </a:t>
            </a:r>
            <a:r>
              <a:rPr lang="en-GB" dirty="0" err="1"/>
              <a:t>limitare</a:t>
            </a:r>
            <a:r>
              <a:rPr lang="en-GB" dirty="0"/>
              <a:t> </a:t>
            </a:r>
            <a:r>
              <a:rPr lang="en-GB" dirty="0" err="1"/>
              <a:t>l'attenzione</a:t>
            </a:r>
            <a:r>
              <a:rPr lang="en-GB" dirty="0"/>
              <a:t> </a:t>
            </a:r>
            <a:r>
              <a:rPr lang="en-GB" dirty="0" err="1"/>
              <a:t>all'interno</a:t>
            </a:r>
            <a:r>
              <a:rPr lang="en-GB" dirty="0"/>
              <a:t> di </a:t>
            </a:r>
            <a:r>
              <a:rPr lang="en-GB" dirty="0" err="1"/>
              <a:t>ciascuna</a:t>
            </a:r>
            <a:r>
              <a:rPr lang="en-GB" dirty="0"/>
              <a:t> sotto-</a:t>
            </a:r>
            <a:r>
              <a:rPr lang="en-GB" dirty="0" err="1"/>
              <a:t>finestra</a:t>
            </a:r>
            <a:r>
              <a:rPr lang="en-GB" dirty="0"/>
              <a:t> </a:t>
            </a:r>
            <a:r>
              <a:rPr lang="en-GB" dirty="0" err="1"/>
              <a:t>contigua</a:t>
            </a:r>
            <a:r>
              <a:rPr lang="en-GB" dirty="0"/>
              <a:t>.</a:t>
            </a:r>
          </a:p>
          <a:p>
            <a:r>
              <a:rPr lang="en-GB" b="1" dirty="0" err="1"/>
              <a:t>Vantaggio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Mantiene</a:t>
            </a:r>
            <a:r>
              <a:rPr lang="en-GB" dirty="0"/>
              <a:t> lo </a:t>
            </a:r>
            <a:r>
              <a:rPr lang="en-GB" dirty="0" err="1"/>
              <a:t>stesso</a:t>
            </a:r>
            <a:r>
              <a:rPr lang="en-GB" dirty="0"/>
              <a:t> </a:t>
            </a:r>
            <a:r>
              <a:rPr lang="en-GB" dirty="0" err="1"/>
              <a:t>numero</a:t>
            </a:r>
            <a:r>
              <a:rPr lang="en-GB" dirty="0"/>
              <a:t> di </a:t>
            </a:r>
            <a:r>
              <a:rPr lang="en-GB" dirty="0" err="1"/>
              <a:t>finestre</a:t>
            </a:r>
            <a:r>
              <a:rPr lang="en-GB" dirty="0"/>
              <a:t> della </a:t>
            </a:r>
            <a:r>
              <a:rPr lang="en-GB" dirty="0" err="1"/>
              <a:t>partizione</a:t>
            </a:r>
            <a:r>
              <a:rPr lang="en-GB" dirty="0"/>
              <a:t> </a:t>
            </a:r>
            <a:r>
              <a:rPr lang="en-GB" dirty="0" err="1"/>
              <a:t>regolare</a:t>
            </a:r>
            <a:r>
              <a:rPr lang="en-GB" dirty="0"/>
              <a:t>, </a:t>
            </a:r>
            <a:r>
              <a:rPr lang="en-GB" dirty="0" err="1"/>
              <a:t>garantendo</a:t>
            </a:r>
            <a:r>
              <a:rPr lang="en-GB" dirty="0"/>
              <a:t> </a:t>
            </a:r>
            <a:r>
              <a:rPr lang="en-GB" dirty="0" err="1"/>
              <a:t>bassa</a:t>
            </a:r>
            <a:r>
              <a:rPr lang="en-GB" dirty="0"/>
              <a:t> </a:t>
            </a:r>
            <a:r>
              <a:rPr lang="en-GB" dirty="0" err="1"/>
              <a:t>latenza</a:t>
            </a:r>
            <a:r>
              <a:rPr lang="en-GB" dirty="0"/>
              <a:t>.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603261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C5C48-1559-FD73-859C-937E51C46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Relative Position Bias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6047D-22A6-6C3B-5E23-0467A5C84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GB" b="1" dirty="0" err="1"/>
              <a:t>Meccanismo</a:t>
            </a:r>
            <a:r>
              <a:rPr lang="en-GB" b="1" dirty="0"/>
              <a:t>:</a:t>
            </a:r>
            <a:r>
              <a:rPr lang="en-GB" dirty="0"/>
              <a:t> Durante il </a:t>
            </a:r>
            <a:r>
              <a:rPr lang="en-GB" dirty="0" err="1"/>
              <a:t>calcolo</a:t>
            </a:r>
            <a:r>
              <a:rPr lang="en-GB" dirty="0"/>
              <a:t> della </a:t>
            </a:r>
            <a:r>
              <a:rPr lang="en-GB" dirty="0" err="1"/>
              <a:t>similarità</a:t>
            </a:r>
            <a:r>
              <a:rPr lang="en-GB" dirty="0"/>
              <a:t> </a:t>
            </a:r>
            <a:r>
              <a:rPr lang="en-GB" dirty="0" err="1"/>
              <a:t>nell'attenzione</a:t>
            </a:r>
            <a:r>
              <a:rPr lang="en-GB" dirty="0"/>
              <a:t>, </a:t>
            </a:r>
            <a:r>
              <a:rPr lang="en-GB" dirty="0" err="1"/>
              <a:t>viene</a:t>
            </a:r>
            <a:r>
              <a:rPr lang="en-GB" dirty="0"/>
              <a:t> </a:t>
            </a:r>
            <a:r>
              <a:rPr lang="en-GB" dirty="0" err="1"/>
              <a:t>aggiunto</a:t>
            </a:r>
            <a:r>
              <a:rPr lang="en-GB" dirty="0"/>
              <a:t> un </a:t>
            </a:r>
            <a:r>
              <a:rPr lang="en-GB" dirty="0" err="1"/>
              <a:t>termine</a:t>
            </a:r>
            <a:r>
              <a:rPr lang="en-GB" dirty="0"/>
              <a:t> di bias </a:t>
            </a:r>
            <a:r>
              <a:rPr lang="en-GB" dirty="0">
                <a:effectLst/>
              </a:rPr>
              <a:t>B</a:t>
            </a:r>
            <a:r>
              <a:rPr lang="en-GB" dirty="0"/>
              <a:t> </a:t>
            </a:r>
            <a:r>
              <a:rPr lang="en-GB" dirty="0" err="1"/>
              <a:t>relativo</a:t>
            </a:r>
            <a:r>
              <a:rPr lang="en-GB" dirty="0"/>
              <a:t> alla </a:t>
            </a:r>
            <a:r>
              <a:rPr lang="en-GB" dirty="0" err="1"/>
              <a:t>posizione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endParaRPr lang="en-GB" b="1" dirty="0"/>
          </a:p>
          <a:p>
            <a:r>
              <a:rPr lang="en-GB" b="1" dirty="0" err="1"/>
              <a:t>Importanza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Migliora</a:t>
            </a:r>
            <a:r>
              <a:rPr lang="en-GB" dirty="0"/>
              <a:t> </a:t>
            </a:r>
            <a:r>
              <a:rPr lang="en-GB" dirty="0" err="1"/>
              <a:t>significativamente</a:t>
            </a:r>
            <a:r>
              <a:rPr lang="en-GB" dirty="0"/>
              <a:t> le </a:t>
            </a:r>
            <a:r>
              <a:rPr lang="en-GB" dirty="0" err="1"/>
              <a:t>prestazioni</a:t>
            </a:r>
            <a:r>
              <a:rPr lang="en-GB" dirty="0"/>
              <a:t> rispetto </a:t>
            </a:r>
            <a:r>
              <a:rPr lang="en-GB" dirty="0" err="1"/>
              <a:t>all'assenza</a:t>
            </a:r>
            <a:r>
              <a:rPr lang="en-GB" dirty="0"/>
              <a:t> di </a:t>
            </a:r>
            <a:r>
              <a:rPr lang="en-GB" dirty="0" err="1"/>
              <a:t>codifica</a:t>
            </a:r>
            <a:r>
              <a:rPr lang="en-GB" dirty="0"/>
              <a:t> </a:t>
            </a:r>
            <a:r>
              <a:rPr lang="en-GB" dirty="0" err="1"/>
              <a:t>posizionale</a:t>
            </a:r>
            <a:r>
              <a:rPr lang="en-GB" dirty="0"/>
              <a:t> o </a:t>
            </a:r>
            <a:r>
              <a:rPr lang="en-GB" dirty="0" err="1"/>
              <a:t>all'uso</a:t>
            </a:r>
            <a:r>
              <a:rPr lang="en-GB" dirty="0"/>
              <a:t> di embedding </a:t>
            </a:r>
            <a:r>
              <a:rPr lang="en-GB" dirty="0" err="1"/>
              <a:t>posizionali</a:t>
            </a:r>
            <a:r>
              <a:rPr lang="en-GB" dirty="0"/>
              <a:t> </a:t>
            </a:r>
            <a:r>
              <a:rPr lang="en-GB" dirty="0" err="1"/>
              <a:t>assoluti</a:t>
            </a:r>
            <a:r>
              <a:rPr lang="en-GB" dirty="0"/>
              <a:t> (</a:t>
            </a:r>
            <a:r>
              <a:rPr lang="en-GB" dirty="0" err="1"/>
              <a:t>tipici</a:t>
            </a:r>
            <a:r>
              <a:rPr lang="en-GB" dirty="0"/>
              <a:t> di </a:t>
            </a:r>
            <a:r>
              <a:rPr lang="en-GB" dirty="0" err="1"/>
              <a:t>ViT</a:t>
            </a:r>
            <a:r>
              <a:rPr lang="en-GB" dirty="0"/>
              <a:t>).</a:t>
            </a:r>
          </a:p>
          <a:p>
            <a:r>
              <a:rPr lang="en-GB" dirty="0" err="1"/>
              <a:t>L'induttività</a:t>
            </a:r>
            <a:r>
              <a:rPr lang="en-GB" dirty="0"/>
              <a:t> della </a:t>
            </a:r>
            <a:r>
              <a:rPr lang="en-GB" dirty="0" err="1"/>
              <a:t>traslazione</a:t>
            </a:r>
            <a:r>
              <a:rPr lang="en-GB" dirty="0"/>
              <a:t> (</a:t>
            </a:r>
            <a:r>
              <a:rPr lang="en-GB" dirty="0" err="1"/>
              <a:t>invarianza</a:t>
            </a:r>
            <a:r>
              <a:rPr lang="en-GB" dirty="0"/>
              <a:t>)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rivela</a:t>
            </a:r>
            <a:r>
              <a:rPr lang="en-GB" dirty="0"/>
              <a:t> </a:t>
            </a:r>
            <a:r>
              <a:rPr lang="en-GB" dirty="0" err="1"/>
              <a:t>ancora</a:t>
            </a:r>
            <a:r>
              <a:rPr lang="en-GB" dirty="0"/>
              <a:t> </a:t>
            </a:r>
            <a:r>
              <a:rPr lang="en-GB" dirty="0" err="1"/>
              <a:t>cruciale</a:t>
            </a:r>
            <a:r>
              <a:rPr lang="en-GB" dirty="0"/>
              <a:t> per la </a:t>
            </a:r>
            <a:r>
              <a:rPr lang="en-GB" dirty="0" err="1"/>
              <a:t>modellazione</a:t>
            </a:r>
            <a:r>
              <a:rPr lang="en-GB" dirty="0"/>
              <a:t> </a:t>
            </a:r>
            <a:r>
              <a:rPr lang="en-GB" dirty="0" err="1"/>
              <a:t>visiva</a:t>
            </a:r>
            <a:endParaRPr lang="en-GB" dirty="0"/>
          </a:p>
          <a:p>
            <a:pPr>
              <a:buFontTx/>
              <a:buChar char="-"/>
            </a:pPr>
            <a:endParaRPr lang="en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6F790A-6B40-32C5-38CE-C87FE78CD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392" y="2907748"/>
            <a:ext cx="7167215" cy="52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03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56578-C5A5-44C4-6873-B57A663B9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Varianti</a:t>
            </a:r>
            <a:r>
              <a:rPr lang="en-GB" b="1" dirty="0"/>
              <a:t> </a:t>
            </a:r>
            <a:r>
              <a:rPr lang="en-GB" b="1" dirty="0" err="1"/>
              <a:t>dell'Architettura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36D8D-F363-71FF-3A04-FDBC7A9D2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Per </a:t>
            </a:r>
            <a:r>
              <a:rPr lang="en-GB" dirty="0" err="1"/>
              <a:t>confrontarsi</a:t>
            </a:r>
            <a:r>
              <a:rPr lang="en-GB" dirty="0"/>
              <a:t> con </a:t>
            </a:r>
            <a:r>
              <a:rPr lang="en-GB" dirty="0" err="1"/>
              <a:t>modelli</a:t>
            </a:r>
            <a:r>
              <a:rPr lang="en-GB" dirty="0"/>
              <a:t> </a:t>
            </a:r>
            <a:r>
              <a:rPr lang="en-GB" dirty="0" err="1"/>
              <a:t>esistenti</a:t>
            </a:r>
            <a:r>
              <a:rPr lang="en-GB" dirty="0"/>
              <a:t> (es. </a:t>
            </a:r>
            <a:r>
              <a:rPr lang="en-GB" dirty="0" err="1"/>
              <a:t>ResNet</a:t>
            </a:r>
            <a:r>
              <a:rPr lang="en-GB" dirty="0"/>
              <a:t>, </a:t>
            </a:r>
            <a:r>
              <a:rPr lang="en-GB" dirty="0" err="1"/>
              <a:t>DeiT</a:t>
            </a:r>
            <a:r>
              <a:rPr lang="en-GB" dirty="0"/>
              <a:t>), Swin </a:t>
            </a:r>
            <a:r>
              <a:rPr lang="en-GB" dirty="0" err="1"/>
              <a:t>è</a:t>
            </a:r>
            <a:r>
              <a:rPr lang="en-GB" dirty="0"/>
              <a:t> </a:t>
            </a:r>
            <a:r>
              <a:rPr lang="en-GB" dirty="0" err="1"/>
              <a:t>proposto</a:t>
            </a:r>
            <a:r>
              <a:rPr lang="en-GB" dirty="0"/>
              <a:t> in diverse </a:t>
            </a:r>
            <a:r>
              <a:rPr lang="en-GB" dirty="0" err="1"/>
              <a:t>dimensioni</a:t>
            </a:r>
            <a:r>
              <a:rPr lang="en-GB" dirty="0"/>
              <a:t>:</a:t>
            </a:r>
          </a:p>
          <a:p>
            <a:pPr lvl="1"/>
            <a:r>
              <a:rPr lang="en-GB" b="1" dirty="0"/>
              <a:t>Swin-T (Tiny):</a:t>
            </a:r>
            <a:r>
              <a:rPr lang="en-GB" dirty="0"/>
              <a:t> Simile a ResNet-50 / </a:t>
            </a:r>
            <a:r>
              <a:rPr lang="en-GB" dirty="0" err="1"/>
              <a:t>DeiT</a:t>
            </a:r>
            <a:r>
              <a:rPr lang="en-GB" dirty="0"/>
              <a:t>-S (29M </a:t>
            </a:r>
            <a:r>
              <a:rPr lang="en-GB" dirty="0" err="1"/>
              <a:t>parametri</a:t>
            </a:r>
            <a:r>
              <a:rPr lang="en-GB" dirty="0"/>
              <a:t>).</a:t>
            </a:r>
          </a:p>
          <a:p>
            <a:pPr lvl="1"/>
            <a:r>
              <a:rPr lang="en-GB" b="1" dirty="0"/>
              <a:t>Swin-S (Small):</a:t>
            </a:r>
            <a:r>
              <a:rPr lang="en-GB" dirty="0"/>
              <a:t> Simile a ResNet-101 (50M </a:t>
            </a:r>
            <a:r>
              <a:rPr lang="en-GB" dirty="0" err="1"/>
              <a:t>parametri</a:t>
            </a:r>
            <a:r>
              <a:rPr lang="en-GB" dirty="0"/>
              <a:t>).</a:t>
            </a:r>
          </a:p>
          <a:p>
            <a:pPr lvl="1"/>
            <a:r>
              <a:rPr lang="en-GB" b="1" dirty="0"/>
              <a:t>Swin-B (Base):</a:t>
            </a:r>
            <a:r>
              <a:rPr lang="en-GB" dirty="0"/>
              <a:t> Simile a </a:t>
            </a:r>
            <a:r>
              <a:rPr lang="en-GB" dirty="0" err="1"/>
              <a:t>ViT</a:t>
            </a:r>
            <a:r>
              <a:rPr lang="en-GB" dirty="0"/>
              <a:t>-B / </a:t>
            </a:r>
            <a:r>
              <a:rPr lang="en-GB" dirty="0" err="1"/>
              <a:t>DeiT</a:t>
            </a:r>
            <a:r>
              <a:rPr lang="en-GB" dirty="0"/>
              <a:t>-B (88M </a:t>
            </a:r>
            <a:r>
              <a:rPr lang="en-GB" dirty="0" err="1"/>
              <a:t>parametri</a:t>
            </a:r>
            <a:r>
              <a:rPr lang="en-GB" dirty="0"/>
              <a:t>.</a:t>
            </a:r>
          </a:p>
          <a:p>
            <a:pPr lvl="1"/>
            <a:r>
              <a:rPr lang="en-GB" b="1" dirty="0"/>
              <a:t>Swin-L (Large):</a:t>
            </a:r>
            <a:r>
              <a:rPr lang="en-GB" dirty="0"/>
              <a:t> </a:t>
            </a:r>
            <a:r>
              <a:rPr lang="en-GB" dirty="0" err="1"/>
              <a:t>Modello</a:t>
            </a:r>
            <a:r>
              <a:rPr lang="en-GB" dirty="0"/>
              <a:t> </a:t>
            </a:r>
            <a:r>
              <a:rPr lang="en-GB" dirty="0" err="1"/>
              <a:t>più</a:t>
            </a:r>
            <a:r>
              <a:rPr lang="en-GB" dirty="0"/>
              <a:t> grande per </a:t>
            </a:r>
            <a:r>
              <a:rPr lang="en-GB" dirty="0" err="1"/>
              <a:t>prestazioni</a:t>
            </a:r>
            <a:r>
              <a:rPr lang="en-GB" dirty="0"/>
              <a:t> </a:t>
            </a:r>
            <a:r>
              <a:rPr lang="en-GB" dirty="0" err="1"/>
              <a:t>massime</a:t>
            </a:r>
            <a:r>
              <a:rPr lang="en-GB" dirty="0"/>
              <a:t> (197M </a:t>
            </a:r>
            <a:r>
              <a:rPr lang="en-GB" dirty="0" err="1"/>
              <a:t>parametri</a:t>
            </a:r>
            <a:r>
              <a:rPr lang="en-GB" dirty="0"/>
              <a:t>)</a:t>
            </a:r>
          </a:p>
          <a:p>
            <a:endParaRPr lang="en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13FE6-E325-EF66-846D-CE34677038E7}"/>
              </a:ext>
            </a:extLst>
          </p:cNvPr>
          <p:cNvSpPr txBox="1"/>
          <p:nvPr/>
        </p:nvSpPr>
        <p:spPr>
          <a:xfrm>
            <a:off x="6362163" y="1378039"/>
            <a:ext cx="1365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  <a:r>
              <a:rPr lang="en-IT" dirty="0"/>
              <a:t>a togliere?</a:t>
            </a:r>
          </a:p>
        </p:txBody>
      </p:sp>
    </p:spTree>
    <p:extLst>
      <p:ext uri="{BB962C8B-B14F-4D97-AF65-F5344CB8AC3E}">
        <p14:creationId xmlns:p14="http://schemas.microsoft.com/office/powerpoint/2010/main" val="1549829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187E-9715-046D-4694-40342D7D9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Risultati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D45C6-7819-D866-1E98-DFE25728E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 err="1"/>
              <a:t>Classificazione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Swin Transformer </a:t>
            </a:r>
            <a:r>
              <a:rPr lang="en-GB" dirty="0" err="1"/>
              <a:t>supera</a:t>
            </a:r>
            <a:r>
              <a:rPr lang="en-GB" dirty="0"/>
              <a:t> </a:t>
            </a:r>
            <a:r>
              <a:rPr lang="en-GB" dirty="0" err="1"/>
              <a:t>significativamente</a:t>
            </a:r>
            <a:r>
              <a:rPr lang="en-GB" dirty="0"/>
              <a:t> i </a:t>
            </a:r>
            <a:r>
              <a:rPr lang="en-GB" dirty="0" err="1"/>
              <a:t>modelli</a:t>
            </a:r>
            <a:r>
              <a:rPr lang="en-GB" dirty="0"/>
              <a:t> </a:t>
            </a:r>
            <a:r>
              <a:rPr lang="en-GB" dirty="0" err="1"/>
              <a:t>precedenti</a:t>
            </a:r>
            <a:r>
              <a:rPr lang="en-GB" dirty="0"/>
              <a:t> (</a:t>
            </a:r>
            <a:r>
              <a:rPr lang="en-GB" dirty="0" err="1"/>
              <a:t>DeiT</a:t>
            </a:r>
            <a:r>
              <a:rPr lang="en-GB" dirty="0"/>
              <a:t>, </a:t>
            </a:r>
            <a:r>
              <a:rPr lang="en-GB" dirty="0" err="1"/>
              <a:t>ViT</a:t>
            </a:r>
            <a:r>
              <a:rPr lang="en-GB" dirty="0"/>
              <a:t>, </a:t>
            </a:r>
            <a:r>
              <a:rPr lang="en-GB" dirty="0" err="1"/>
              <a:t>EfficientNet</a:t>
            </a:r>
            <a:r>
              <a:rPr lang="en-GB" dirty="0"/>
              <a:t>) con </a:t>
            </a:r>
            <a:r>
              <a:rPr lang="en-GB" dirty="0" err="1"/>
              <a:t>complessità</a:t>
            </a:r>
            <a:r>
              <a:rPr lang="en-GB" dirty="0"/>
              <a:t> simile In task di </a:t>
            </a:r>
            <a:r>
              <a:rPr lang="en-GB" dirty="0" err="1"/>
              <a:t>classificazione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Migliore </a:t>
            </a:r>
            <a:r>
              <a:rPr lang="en-GB" dirty="0" err="1"/>
              <a:t>compromesso</a:t>
            </a:r>
            <a:r>
              <a:rPr lang="en-GB" dirty="0"/>
              <a:t> </a:t>
            </a:r>
            <a:r>
              <a:rPr lang="en-GB" dirty="0" err="1"/>
              <a:t>velocità-accuratezza</a:t>
            </a:r>
            <a:r>
              <a:rPr lang="en-GB" dirty="0"/>
              <a:t> rispetto a </a:t>
            </a:r>
            <a:r>
              <a:rPr lang="en-GB" dirty="0" err="1"/>
              <a:t>ViT</a:t>
            </a:r>
            <a:r>
              <a:rPr lang="en-GB" dirty="0"/>
              <a:t> e </a:t>
            </a:r>
            <a:r>
              <a:rPr lang="en-GB" dirty="0" err="1"/>
              <a:t>ConvNets</a:t>
            </a:r>
            <a:endParaRPr lang="en-GB" dirty="0"/>
          </a:p>
          <a:p>
            <a:r>
              <a:rPr lang="en-GB" b="1" dirty="0"/>
              <a:t>Object Detection (COCO):</a:t>
            </a:r>
          </a:p>
          <a:p>
            <a:pPr lvl="1"/>
            <a:r>
              <a:rPr lang="en-GB" dirty="0"/>
              <a:t>Swin-L </a:t>
            </a:r>
            <a:r>
              <a:rPr lang="en-GB" dirty="0" err="1"/>
              <a:t>raggiunge</a:t>
            </a:r>
            <a:r>
              <a:rPr lang="en-GB" dirty="0"/>
              <a:t> </a:t>
            </a:r>
            <a:r>
              <a:rPr lang="en-GB" b="1" dirty="0"/>
              <a:t>58.7 AP</a:t>
            </a:r>
            <a:r>
              <a:rPr lang="en-GB" dirty="0"/>
              <a:t>, </a:t>
            </a:r>
            <a:r>
              <a:rPr lang="en-GB" dirty="0" err="1"/>
              <a:t>superando</a:t>
            </a:r>
            <a:r>
              <a:rPr lang="en-GB" dirty="0"/>
              <a:t> il </a:t>
            </a:r>
            <a:r>
              <a:rPr lang="en-GB" dirty="0" err="1"/>
              <a:t>precedente</a:t>
            </a:r>
            <a:r>
              <a:rPr lang="en-GB" dirty="0"/>
              <a:t> state-of-the-art (Copy-paste) di +2.7 AP.</a:t>
            </a:r>
          </a:p>
          <a:p>
            <a:pPr lvl="1"/>
            <a:r>
              <a:rPr lang="en-GB" dirty="0"/>
              <a:t>Supera ResNet-50 di +3.4~4.2 box AP con </a:t>
            </a:r>
            <a:r>
              <a:rPr lang="en-GB" dirty="0" err="1"/>
              <a:t>parametri</a:t>
            </a:r>
            <a:r>
              <a:rPr lang="en-GB" dirty="0"/>
              <a:t> </a:t>
            </a:r>
            <a:r>
              <a:rPr lang="en-GB" dirty="0" err="1"/>
              <a:t>simili</a:t>
            </a:r>
            <a:r>
              <a:rPr lang="en-GB" dirty="0"/>
              <a:t>.</a:t>
            </a:r>
          </a:p>
          <a:p>
            <a:r>
              <a:rPr lang="en-GB" b="1" dirty="0"/>
              <a:t>Semantic Segmentation (ADE20K):</a:t>
            </a:r>
          </a:p>
          <a:p>
            <a:pPr lvl="1"/>
            <a:r>
              <a:rPr lang="en-GB" dirty="0"/>
              <a:t>Swin-L </a:t>
            </a:r>
            <a:r>
              <a:rPr lang="en-GB" dirty="0" err="1"/>
              <a:t>raggiunge</a:t>
            </a:r>
            <a:r>
              <a:rPr lang="en-GB" dirty="0"/>
              <a:t> </a:t>
            </a:r>
            <a:r>
              <a:rPr lang="en-GB" b="1" dirty="0"/>
              <a:t>53.5 </a:t>
            </a:r>
            <a:r>
              <a:rPr lang="en-GB" b="1" dirty="0" err="1"/>
              <a:t>mIoU</a:t>
            </a:r>
            <a:r>
              <a:rPr lang="en-GB" dirty="0"/>
              <a:t>, </a:t>
            </a:r>
            <a:r>
              <a:rPr lang="en-GB" dirty="0" err="1"/>
              <a:t>superando</a:t>
            </a:r>
            <a:r>
              <a:rPr lang="en-GB" dirty="0"/>
              <a:t> il </a:t>
            </a:r>
            <a:r>
              <a:rPr lang="en-GB" dirty="0" err="1"/>
              <a:t>precedente</a:t>
            </a:r>
            <a:r>
              <a:rPr lang="en-GB" dirty="0"/>
              <a:t> SOTA (SETR) di +3.2 </a:t>
            </a:r>
            <a:r>
              <a:rPr lang="en-GB" dirty="0" err="1"/>
              <a:t>mIoU</a:t>
            </a:r>
            <a:endParaRPr lang="en-GB" dirty="0"/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457086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BE807-B713-8E6B-CE74-337D6076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Ablation Studies (</a:t>
            </a:r>
            <a:r>
              <a:rPr lang="en-GB" b="1" dirty="0" err="1"/>
              <a:t>Analisi</a:t>
            </a:r>
            <a:r>
              <a:rPr lang="en-GB" b="1" dirty="0"/>
              <a:t> </a:t>
            </a:r>
            <a:r>
              <a:rPr lang="en-GB" b="1" dirty="0" err="1"/>
              <a:t>dei</a:t>
            </a:r>
            <a:r>
              <a:rPr lang="en-GB" b="1" dirty="0"/>
              <a:t> </a:t>
            </a:r>
            <a:r>
              <a:rPr lang="en-GB" b="1" dirty="0" err="1"/>
              <a:t>Componenti</a:t>
            </a:r>
            <a:r>
              <a:rPr lang="en-GB" b="1" dirty="0"/>
              <a:t>)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4E6FC-61D4-FC48-C8EE-BC387B062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Cosa </a:t>
            </a:r>
            <a:r>
              <a:rPr lang="en-GB" dirty="0" err="1"/>
              <a:t>rende</a:t>
            </a:r>
            <a:r>
              <a:rPr lang="en-GB" dirty="0"/>
              <a:t> Swin </a:t>
            </a:r>
            <a:r>
              <a:rPr lang="en-GB" dirty="0" err="1"/>
              <a:t>efficace</a:t>
            </a:r>
            <a:r>
              <a:rPr lang="en-GB" dirty="0"/>
              <a:t>?</a:t>
            </a:r>
          </a:p>
          <a:p>
            <a:pPr marL="914400" lvl="1" indent="-457200">
              <a:buAutoNum type="arabicPeriod"/>
            </a:pPr>
            <a:r>
              <a:rPr lang="en-GB" b="1" dirty="0"/>
              <a:t>Shifted Windows:</a:t>
            </a:r>
            <a:r>
              <a:rPr lang="en-GB" dirty="0"/>
              <a:t> Senza lo </a:t>
            </a:r>
            <a:r>
              <a:rPr lang="en-GB" dirty="0" err="1"/>
              <a:t>spostamento</a:t>
            </a:r>
            <a:r>
              <a:rPr lang="en-GB" dirty="0"/>
              <a:t> delle </a:t>
            </a:r>
            <a:r>
              <a:rPr lang="en-GB" dirty="0" err="1"/>
              <a:t>finestre</a:t>
            </a:r>
            <a:r>
              <a:rPr lang="en-GB" dirty="0"/>
              <a:t>, le performance </a:t>
            </a:r>
            <a:r>
              <a:rPr lang="en-GB" dirty="0" err="1"/>
              <a:t>crollano</a:t>
            </a:r>
            <a:r>
              <a:rPr lang="en-GB" dirty="0"/>
              <a:t> (es. -2.8 AP </a:t>
            </a:r>
            <a:r>
              <a:rPr lang="en-GB" dirty="0" err="1"/>
              <a:t>su</a:t>
            </a:r>
            <a:r>
              <a:rPr lang="en-GB" dirty="0"/>
              <a:t> COCO), </a:t>
            </a:r>
            <a:r>
              <a:rPr lang="en-GB" dirty="0" err="1"/>
              <a:t>dimostrando</a:t>
            </a:r>
            <a:r>
              <a:rPr lang="en-GB" dirty="0"/>
              <a:t> </a:t>
            </a:r>
            <a:r>
              <a:rPr lang="en-GB" dirty="0" err="1"/>
              <a:t>che</a:t>
            </a:r>
            <a:r>
              <a:rPr lang="en-GB" dirty="0"/>
              <a:t> le </a:t>
            </a:r>
            <a:r>
              <a:rPr lang="en-GB" dirty="0" err="1"/>
              <a:t>connessioni</a:t>
            </a:r>
            <a:r>
              <a:rPr lang="en-GB" dirty="0"/>
              <a:t> </a:t>
            </a:r>
            <a:r>
              <a:rPr lang="en-GB" dirty="0" err="1"/>
              <a:t>tra</a:t>
            </a:r>
            <a:r>
              <a:rPr lang="en-GB" dirty="0"/>
              <a:t> </a:t>
            </a:r>
            <a:r>
              <a:rPr lang="en-GB" dirty="0" err="1"/>
              <a:t>finestre</a:t>
            </a:r>
            <a:r>
              <a:rPr lang="en-GB" dirty="0"/>
              <a:t> sono </a:t>
            </a:r>
            <a:r>
              <a:rPr lang="en-GB" dirty="0" err="1"/>
              <a:t>cruciali</a:t>
            </a:r>
            <a:r>
              <a:rPr lang="en-GB" dirty="0"/>
              <a:t>.</a:t>
            </a:r>
          </a:p>
          <a:p>
            <a:pPr marL="914400" lvl="1" indent="-457200">
              <a:buAutoNum type="arabicPeriod"/>
            </a:pPr>
            <a:r>
              <a:rPr lang="en-GB" b="1" dirty="0"/>
              <a:t>Relative Position Bias:</a:t>
            </a:r>
            <a:r>
              <a:rPr lang="en-GB" dirty="0"/>
              <a:t> </a:t>
            </a:r>
            <a:r>
              <a:rPr lang="en-GB" dirty="0" err="1"/>
              <a:t>Aggiunge</a:t>
            </a:r>
            <a:r>
              <a:rPr lang="en-GB" dirty="0"/>
              <a:t> +1.2% </a:t>
            </a:r>
            <a:r>
              <a:rPr lang="en-GB" dirty="0" err="1"/>
              <a:t>su</a:t>
            </a:r>
            <a:r>
              <a:rPr lang="en-GB" dirty="0"/>
              <a:t> ImageNet e +1.3 AP </a:t>
            </a:r>
            <a:r>
              <a:rPr lang="en-GB" dirty="0" err="1"/>
              <a:t>su</a:t>
            </a:r>
            <a:r>
              <a:rPr lang="en-GB" dirty="0"/>
              <a:t> COCO rispetto </a:t>
            </a:r>
            <a:r>
              <a:rPr lang="en-GB" dirty="0" err="1"/>
              <a:t>all'assenza</a:t>
            </a:r>
            <a:r>
              <a:rPr lang="en-GB" dirty="0"/>
              <a:t> di </a:t>
            </a:r>
            <a:r>
              <a:rPr lang="en-GB" dirty="0" err="1"/>
              <a:t>codifica</a:t>
            </a:r>
            <a:r>
              <a:rPr lang="en-GB" dirty="0"/>
              <a:t> </a:t>
            </a:r>
            <a:r>
              <a:rPr lang="en-GB" dirty="0" err="1"/>
              <a:t>posizionale</a:t>
            </a:r>
            <a:r>
              <a:rPr lang="en-GB" dirty="0"/>
              <a:t>.</a:t>
            </a:r>
          </a:p>
          <a:p>
            <a:pPr marL="914400" lvl="1" indent="-457200">
              <a:buAutoNum type="arabicPeriod"/>
            </a:pPr>
            <a:r>
              <a:rPr lang="en-GB" b="1" dirty="0" err="1"/>
              <a:t>Velocità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L'implementazione</a:t>
            </a:r>
            <a:r>
              <a:rPr lang="en-GB" dirty="0"/>
              <a:t> </a:t>
            </a:r>
            <a:r>
              <a:rPr lang="en-GB" dirty="0" err="1"/>
              <a:t>ciclica</a:t>
            </a:r>
            <a:r>
              <a:rPr lang="en-GB" dirty="0"/>
              <a:t> </a:t>
            </a:r>
            <a:r>
              <a:rPr lang="en-GB" dirty="0" err="1"/>
              <a:t>è</a:t>
            </a:r>
            <a:r>
              <a:rPr lang="en-GB" dirty="0"/>
              <a:t> </a:t>
            </a:r>
            <a:r>
              <a:rPr lang="en-GB" dirty="0" err="1"/>
              <a:t>più</a:t>
            </a:r>
            <a:r>
              <a:rPr lang="en-GB" dirty="0"/>
              <a:t> veloce del padding (</a:t>
            </a:r>
            <a:r>
              <a:rPr lang="en-GB" dirty="0" err="1"/>
              <a:t>fino</a:t>
            </a:r>
            <a:r>
              <a:rPr lang="en-GB" dirty="0"/>
              <a:t> al 18% di speed-up).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261833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133E-F18E-1E73-FD7E-9AE239294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Conclusione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80660-4FA2-D6F8-259F-CF6BAA385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err="1"/>
              <a:t>Sintesi</a:t>
            </a:r>
            <a:r>
              <a:rPr lang="en-GB" b="1" dirty="0"/>
              <a:t>:</a:t>
            </a:r>
            <a:r>
              <a:rPr lang="en-GB" dirty="0"/>
              <a:t> Swin Transformer </a:t>
            </a:r>
            <a:r>
              <a:rPr lang="en-GB" dirty="0" err="1"/>
              <a:t>risolve</a:t>
            </a:r>
            <a:r>
              <a:rPr lang="en-GB" dirty="0"/>
              <a:t> i </a:t>
            </a:r>
            <a:r>
              <a:rPr lang="en-GB" dirty="0" err="1"/>
              <a:t>problemi</a:t>
            </a:r>
            <a:r>
              <a:rPr lang="en-GB" dirty="0"/>
              <a:t> di scala e </a:t>
            </a:r>
            <a:r>
              <a:rPr lang="en-GB" dirty="0" err="1"/>
              <a:t>risoluzione</a:t>
            </a:r>
            <a:r>
              <a:rPr lang="en-GB" dirty="0"/>
              <a:t> </a:t>
            </a:r>
            <a:r>
              <a:rPr lang="en-GB" dirty="0" err="1"/>
              <a:t>dei</a:t>
            </a:r>
            <a:r>
              <a:rPr lang="en-GB" dirty="0"/>
              <a:t> Transformer </a:t>
            </a:r>
            <a:r>
              <a:rPr lang="en-GB" dirty="0" err="1"/>
              <a:t>nella</a:t>
            </a:r>
            <a:r>
              <a:rPr lang="en-GB" dirty="0"/>
              <a:t> </a:t>
            </a:r>
            <a:r>
              <a:rPr lang="en-GB" dirty="0" err="1"/>
              <a:t>visione</a:t>
            </a:r>
            <a:r>
              <a:rPr lang="en-GB" dirty="0"/>
              <a:t> </a:t>
            </a:r>
            <a:r>
              <a:rPr lang="en-GB" dirty="0" err="1"/>
              <a:t>tramite</a:t>
            </a:r>
            <a:r>
              <a:rPr lang="en-GB" dirty="0"/>
              <a:t> una </a:t>
            </a:r>
            <a:r>
              <a:rPr lang="en-GB" dirty="0" err="1"/>
              <a:t>gerarchia</a:t>
            </a:r>
            <a:r>
              <a:rPr lang="en-GB" dirty="0"/>
              <a:t> e </a:t>
            </a:r>
            <a:r>
              <a:rPr lang="en-GB" dirty="0" err="1"/>
              <a:t>finestre</a:t>
            </a:r>
            <a:r>
              <a:rPr lang="en-GB" dirty="0"/>
              <a:t> </a:t>
            </a:r>
            <a:r>
              <a:rPr lang="en-GB" dirty="0" err="1"/>
              <a:t>traslate</a:t>
            </a:r>
            <a:r>
              <a:rPr lang="en-GB" dirty="0"/>
              <a:t>.</a:t>
            </a:r>
          </a:p>
          <a:p>
            <a:r>
              <a:rPr lang="en-GB" b="1" dirty="0" err="1"/>
              <a:t>Impatto</a:t>
            </a:r>
            <a:r>
              <a:rPr lang="en-GB" b="1" dirty="0"/>
              <a:t>:</a:t>
            </a:r>
          </a:p>
          <a:p>
            <a:pPr lvl="1"/>
            <a:r>
              <a:rPr lang="en-GB" dirty="0" err="1"/>
              <a:t>Complessità</a:t>
            </a:r>
            <a:r>
              <a:rPr lang="en-GB" dirty="0"/>
              <a:t> </a:t>
            </a:r>
            <a:r>
              <a:rPr lang="en-GB" dirty="0" err="1"/>
              <a:t>computazionale</a:t>
            </a:r>
            <a:r>
              <a:rPr lang="en-GB" dirty="0"/>
              <a:t> </a:t>
            </a:r>
            <a:r>
              <a:rPr lang="en-GB" dirty="0" err="1"/>
              <a:t>lineare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Nuovo </a:t>
            </a:r>
            <a:r>
              <a:rPr lang="en-GB" dirty="0" err="1"/>
              <a:t>stato</a:t>
            </a:r>
            <a:r>
              <a:rPr lang="en-GB" dirty="0"/>
              <a:t> dell'arte </a:t>
            </a:r>
            <a:r>
              <a:rPr lang="en-GB" dirty="0" err="1"/>
              <a:t>su</a:t>
            </a:r>
            <a:r>
              <a:rPr lang="en-GB" dirty="0"/>
              <a:t> detection e segmentation.</a:t>
            </a:r>
          </a:p>
          <a:p>
            <a:pPr lvl="1"/>
            <a:r>
              <a:rPr lang="en-GB" b="1" dirty="0" err="1"/>
              <a:t>Visione</a:t>
            </a:r>
            <a:r>
              <a:rPr lang="en-GB" b="1" dirty="0"/>
              <a:t> </a:t>
            </a:r>
            <a:r>
              <a:rPr lang="en-GB" b="1" dirty="0" err="1"/>
              <a:t>futura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Un'architettura</a:t>
            </a:r>
            <a:r>
              <a:rPr lang="en-GB" dirty="0"/>
              <a:t> </a:t>
            </a:r>
            <a:r>
              <a:rPr lang="en-GB" dirty="0" err="1"/>
              <a:t>unificata</a:t>
            </a:r>
            <a:r>
              <a:rPr lang="en-GB" dirty="0"/>
              <a:t> per </a:t>
            </a:r>
            <a:r>
              <a:rPr lang="en-GB" dirty="0" err="1"/>
              <a:t>Visione</a:t>
            </a:r>
            <a:r>
              <a:rPr lang="en-GB" dirty="0"/>
              <a:t> e NLP, </a:t>
            </a:r>
            <a:r>
              <a:rPr lang="en-GB" dirty="0" err="1"/>
              <a:t>facilitando</a:t>
            </a:r>
            <a:r>
              <a:rPr lang="en-GB" dirty="0"/>
              <a:t> la </a:t>
            </a:r>
            <a:r>
              <a:rPr lang="en-GB" dirty="0" err="1"/>
              <a:t>modellazione</a:t>
            </a:r>
            <a:r>
              <a:rPr lang="en-GB" dirty="0"/>
              <a:t> </a:t>
            </a:r>
            <a:r>
              <a:rPr lang="en-GB" dirty="0" err="1"/>
              <a:t>congiunta</a:t>
            </a:r>
            <a:r>
              <a:rPr lang="en-GB" dirty="0"/>
              <a:t> di </a:t>
            </a:r>
            <a:r>
              <a:rPr lang="en-GB" dirty="0" err="1"/>
              <a:t>segnali</a:t>
            </a:r>
            <a:r>
              <a:rPr lang="en-GB" dirty="0"/>
              <a:t> </a:t>
            </a:r>
            <a:r>
              <a:rPr lang="en-GB" dirty="0" err="1"/>
              <a:t>visivi</a:t>
            </a:r>
            <a:r>
              <a:rPr lang="en-GB" dirty="0"/>
              <a:t> e </a:t>
            </a:r>
            <a:r>
              <a:rPr lang="en-GB" dirty="0" err="1"/>
              <a:t>testuali</a:t>
            </a:r>
            <a:r>
              <a:rPr lang="en-GB" dirty="0"/>
              <a:t>.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033610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060D4-1EBB-FAC7-489E-AF6EFD3D0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6372A-321F-AEB7-3FBE-FDBA2D8467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T" dirty="0"/>
              <a:t>Swin Transformer for Chest X-Ray classification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C5B6534-27A7-027F-9530-2D6EDC9F6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390439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75ADE-F1B5-A4F8-B3CC-B59777BC7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73019-5F2F-310C-CFEE-0577D88A3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Task: Binary classificatio of chest X-ray images into Normal and Pneumonia classes</a:t>
            </a:r>
          </a:p>
          <a:p>
            <a:endParaRPr lang="en-IT" dirty="0"/>
          </a:p>
        </p:txBody>
      </p:sp>
      <p:pic>
        <p:nvPicPr>
          <p:cNvPr id="4" name="Content Placeholder 3" descr="A x-ray of a chest&#10;&#10;AI-generated content may be incorrect.">
            <a:extLst>
              <a:ext uri="{FF2B5EF4-FFF2-40B4-BE49-F238E27FC236}">
                <a16:creationId xmlns:a16="http://schemas.microsoft.com/office/drawing/2014/main" id="{EA67B1A7-0C37-A871-60FE-004B28CB5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744" y="3187700"/>
            <a:ext cx="8500511" cy="270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806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94E4-949F-8C92-FCA7-DD08F559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B3287-843A-FEA2-5576-81AC08762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Unbalanced Dataset 5865 images Chest X-Ray dataset:</a:t>
            </a:r>
          </a:p>
          <a:p>
            <a:pPr lvl="1"/>
            <a:r>
              <a:rPr lang="en-IT" dirty="0"/>
              <a:t>1583 NORMAL</a:t>
            </a:r>
          </a:p>
          <a:p>
            <a:pPr lvl="1"/>
            <a:r>
              <a:rPr lang="en-IT" dirty="0"/>
              <a:t>4102 PNEUMONIA</a:t>
            </a:r>
          </a:p>
        </p:txBody>
      </p:sp>
      <p:pic>
        <p:nvPicPr>
          <p:cNvPr id="4" name="Content Placeholder 6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27338CEF-2CA9-DECE-5D13-B3B217568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0" y="2360632"/>
            <a:ext cx="6616700" cy="395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53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FAA5-B055-3D25-0CD3-50C92E26E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Experiment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59A25-2537-AAB5-E53E-8269D21AE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Same backbone (Swin-Tiny, 28M parmeters)</a:t>
            </a:r>
          </a:p>
          <a:p>
            <a:r>
              <a:rPr lang="en-IT" dirty="0"/>
              <a:t>Same dataset</a:t>
            </a:r>
          </a:p>
          <a:p>
            <a:r>
              <a:rPr lang="en-IT" dirty="0"/>
              <a:t>Same training hyperparameters: only different window size values </a:t>
            </a: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F9B508F9-DE2F-9F10-2863-129184B15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456707"/>
              </p:ext>
            </p:extLst>
          </p:nvPr>
        </p:nvGraphicFramePr>
        <p:xfrm>
          <a:off x="1546860" y="3712335"/>
          <a:ext cx="9098280" cy="2218216"/>
        </p:xfrm>
        <a:graphic>
          <a:graphicData uri="http://schemas.openxmlformats.org/drawingml/2006/table">
            <a:tbl>
              <a:tblPr/>
              <a:tblGrid>
                <a:gridCol w="2599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9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9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4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Swin-T (W7)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x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Swin-T (W14)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x 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5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ViT-Sim (W56)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x 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(full image)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337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CB54-D874-6605-2723-A273CBCB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Training Results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4C5D52-B87F-D280-E342-C70686DDA4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539" y="1497654"/>
            <a:ext cx="11928922" cy="34241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D5A670-889F-00EA-90C8-25F28F043BE5}"/>
              </a:ext>
            </a:extLst>
          </p:cNvPr>
          <p:cNvSpPr txBox="1"/>
          <p:nvPr/>
        </p:nvSpPr>
        <p:spPr>
          <a:xfrm>
            <a:off x="1071154" y="5538651"/>
            <a:ext cx="6257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INFO USING WEIGHTED LOSS: [Normal: 3.0, Pneumonia: 1.0]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176778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E5CF3-C918-8CC5-9AED-96E96124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10466072" cy="1680519"/>
          </a:xfrm>
        </p:spPr>
        <p:txBody>
          <a:bodyPr>
            <a:normAutofit/>
          </a:bodyPr>
          <a:lstStyle/>
          <a:p>
            <a:r>
              <a:rPr lang="en-IT" sz="4000" dirty="0"/>
              <a:t>Classification Metrics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B0EF9231-0786-918E-2966-A881A08C8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436091"/>
              </p:ext>
            </p:extLst>
          </p:nvPr>
        </p:nvGraphicFramePr>
        <p:xfrm>
          <a:off x="5711868" y="666265"/>
          <a:ext cx="6148901" cy="2412203"/>
        </p:xfrm>
        <a:graphic>
          <a:graphicData uri="http://schemas.openxmlformats.org/drawingml/2006/table">
            <a:tbl>
              <a:tblPr firstRow="1" firstCol="1" bandRow="1"/>
              <a:tblGrid>
                <a:gridCol w="1140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3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20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Accuracy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2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Swin-T (W7)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89.78 %</a:t>
                      </a:r>
                      <a:endParaRPr lang="en-US" sz="15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86.92 %</a:t>
                      </a:r>
                      <a:endParaRPr lang="en-US" sz="15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97.48 %</a:t>
                      </a:r>
                      <a:endParaRPr lang="en-US" sz="15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Swin-T (W14)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88.07 %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91.23 %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84.35 %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98.11 %</a:t>
                      </a:r>
                      <a:endParaRPr lang="en-US" sz="15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ViT-Sim (W56)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86.03 %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88.84 %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82.71 %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94.97 %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7759" marR="107759" marT="53879" marB="53879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4E49B63-AD2A-D0C6-EB33-7B69AD5E3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18" y="3078469"/>
            <a:ext cx="6622640" cy="344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70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4BC9F-7730-50FA-F947-38FC6B73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Confusion Matrix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89A359-7060-8CCC-8841-452B09EC9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740" y="2292439"/>
            <a:ext cx="11660519" cy="344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27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2C203-6346-FF22-01D9-4DFDEB9C8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ROC Curves &amp; AUC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21511-DAC7-01FF-C22E-09C8155A4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678829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954C-6072-1F24-23E5-3DDF980C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Memory &amp; Speed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8FDBF-2A01-F154-8BAF-F47AF7781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969127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5DA5-1C7B-118F-2562-C48699219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Holistic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13D0D-2BB6-3276-77C2-24509B03F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85257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64616-25B2-92F1-A2C7-1EA6440DB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7EBBC-51B9-5319-C034-05FFDB2D3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Swin-T(Win7) achieves the ebst accuracy, lowest memory and fast inference</a:t>
            </a:r>
          </a:p>
          <a:p>
            <a:r>
              <a:rPr lang="en-IT" dirty="0"/>
              <a:t>Increasing windows size degrade performance</a:t>
            </a:r>
          </a:p>
          <a:p>
            <a:pPr lvl="1"/>
            <a:r>
              <a:rPr lang="en-IT" dirty="0"/>
              <a:t>Win56 is slighlty worse than wind14 and win7</a:t>
            </a:r>
          </a:p>
          <a:p>
            <a:r>
              <a:rPr lang="en-IT" dirty="0"/>
              <a:t>Global (ViT simulation) attention is the weakes:</a:t>
            </a:r>
          </a:p>
          <a:p>
            <a:pPr lvl="1"/>
            <a:r>
              <a:rPr lang="en-IT" dirty="0"/>
              <a:t>Lowest metrics performances overall</a:t>
            </a:r>
          </a:p>
          <a:p>
            <a:pPr lvl="1"/>
            <a:r>
              <a:rPr lang="en-IT" dirty="0"/>
              <a:t>Quadratic memory use w.r.t image size</a:t>
            </a:r>
          </a:p>
          <a:p>
            <a:pPr lvl="1"/>
            <a:r>
              <a:rPr lang="en-IT" dirty="0"/>
              <a:t>Slower Inference</a:t>
            </a:r>
          </a:p>
          <a:p>
            <a:r>
              <a:rPr lang="en-IT" dirty="0"/>
              <a:t>Localily is a beneficial inuctive bias for chest X-ray classificatio at 224x224</a:t>
            </a:r>
          </a:p>
        </p:txBody>
      </p:sp>
    </p:spTree>
    <p:extLst>
      <p:ext uri="{BB962C8B-B14F-4D97-AF65-F5344CB8AC3E}">
        <p14:creationId xmlns:p14="http://schemas.microsoft.com/office/powerpoint/2010/main" val="2870084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3760</TotalTime>
  <Words>1307</Words>
  <Application>Microsoft Macintosh PowerPoint</Application>
  <PresentationFormat>Widescreen</PresentationFormat>
  <Paragraphs>149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Office Theme</vt:lpstr>
      <vt:lpstr>Swin Transformer</vt:lpstr>
      <vt:lpstr>Introduzione e Contesto</vt:lpstr>
      <vt:lpstr>Limitazioni dei Transformer esistenti (es. ViT)</vt:lpstr>
      <vt:lpstr>La Soluzione - Swin Transformer</vt:lpstr>
      <vt:lpstr>Architettura Generale (Pipeline)</vt:lpstr>
      <vt:lpstr>Architettura Generale (Pipeline)</vt:lpstr>
      <vt:lpstr>Rappresentazione Gerarchica e Patch Merging</vt:lpstr>
      <vt:lpstr>Window-based Self-Attention (W-MSA)</vt:lpstr>
      <vt:lpstr>Shifted Window Partitioning (SW-MSA)</vt:lpstr>
      <vt:lpstr>SW-MSA: Calcolo Efficiente (Cyclic Shift)</vt:lpstr>
      <vt:lpstr>Relative Position Bias</vt:lpstr>
      <vt:lpstr>Varianti dell'Architettura</vt:lpstr>
      <vt:lpstr>Risultati</vt:lpstr>
      <vt:lpstr>Ablation Studies (Analisi dei Componenti)</vt:lpstr>
      <vt:lpstr>Conclusione</vt:lpstr>
      <vt:lpstr>Swin Transformer for Chest X-Ray classification</vt:lpstr>
      <vt:lpstr>Problem</vt:lpstr>
      <vt:lpstr>Dataset</vt:lpstr>
      <vt:lpstr>Experiment Setup</vt:lpstr>
      <vt:lpstr>Training Results </vt:lpstr>
      <vt:lpstr>Classification Metrics</vt:lpstr>
      <vt:lpstr>Confusion Matrix</vt:lpstr>
      <vt:lpstr>ROC Curves &amp; AUC</vt:lpstr>
      <vt:lpstr>Memory &amp; Speed</vt:lpstr>
      <vt:lpstr>Holistic Comparison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Fontana</dc:creator>
  <cp:lastModifiedBy>Matteo Fontana</cp:lastModifiedBy>
  <cp:revision>7</cp:revision>
  <dcterms:created xsi:type="dcterms:W3CDTF">2026-01-29T10:26:47Z</dcterms:created>
  <dcterms:modified xsi:type="dcterms:W3CDTF">2026-02-01T20:16:00Z</dcterms:modified>
</cp:coreProperties>
</file>