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8" r:id="rId3"/>
    <p:sldId id="257" r:id="rId4"/>
    <p:sldId id="258" r:id="rId5"/>
    <p:sldId id="259" r:id="rId6"/>
    <p:sldId id="273" r:id="rId7"/>
    <p:sldId id="260" r:id="rId8"/>
    <p:sldId id="261" r:id="rId9"/>
    <p:sldId id="262" r:id="rId10"/>
    <p:sldId id="263" r:id="rId11"/>
    <p:sldId id="264" r:id="rId12"/>
    <p:sldId id="265" r:id="rId13"/>
    <p:sldId id="267" r:id="rId14"/>
    <p:sldId id="269" r:id="rId15"/>
    <p:sldId id="270" r:id="rId16"/>
    <p:sldId id="274" r:id="rId17"/>
    <p:sldId id="271" r:id="rId18"/>
    <p:sldId id="272" r:id="rId19"/>
  </p:sldIdLst>
  <p:sldSz cx="12192000" cy="6858000"/>
  <p:notesSz cx="6858000" cy="9144000"/>
  <p:defaultTextStyle>
    <a:defPPr>
      <a:defRPr lang="en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12"/>
    <p:restoredTop sz="94793"/>
  </p:normalViewPr>
  <p:slideViewPr>
    <p:cSldViewPr snapToGrid="0">
      <p:cViewPr>
        <p:scale>
          <a:sx n="99" d="100"/>
          <a:sy n="99" d="100"/>
        </p:scale>
        <p:origin x="384" y="2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33BDF3-2A01-1A91-0AEB-106DD68A8A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478EF3-6AB1-D6EA-AF74-96B6A7DF53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3F9AD6-E388-3314-2D4F-6A4560C6FD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71BEE-B79F-EC07-9928-43382809D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40C3E4-8A54-66D9-693D-339CF0C89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32479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2EDB-B9DC-00F7-D469-E85421CB7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085B3-2F71-9B09-8849-F4CF60D8A8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96AD42-385F-CE7B-1B59-9651D34AB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25AC86-FADD-DBCA-6CD8-C44D5F5D2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3510FE-6B20-E106-EB6D-498417F56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2448998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95095-47F4-2558-3A4A-EB309E53A7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9E368B-CB08-B1AC-0E8C-28BBD72F44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5646F2-915A-EC79-86B6-C04357760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0B1C0-6DF1-A0AC-1E4F-8E2D8931A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24C4B-D9CB-9F57-9A09-856803C47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3295837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CF202-8C8F-18C8-5FE7-806535717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9C2006-9997-B892-CEE1-F5AB1EBD0C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E12833-201A-F49C-78A5-353A414D19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EAF481-0E74-91FF-B8A2-3DB6D0139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898A0F-2E04-A3BA-F524-0D92E3D8B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422E70-6E01-CAF3-284A-7112070BB7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9541060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BBA48-6322-FF39-E568-7316407CB0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1AE153-DB10-8122-6E0C-5FF0D95DA9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27F977-60E3-BBAE-DC04-61D90CBDCE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21B0F5-AA19-6EC9-A887-3D682B83DE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16FEAC-4BD3-6139-CE03-B0B93C7462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F6D31A-FC73-7C3C-5E69-59CF27A2C9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164ACD-3DAA-AAE2-A6D6-278034E882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4808E4C-D41F-4AB4-1B2A-97D2510E9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9437549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081C8-2AD7-5774-C54C-CBECB3533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82CE189-6910-6C78-5184-60DD084B3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1D87055-6A42-90BB-09FF-93DE8A994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322005-5F34-59F8-E046-E82C80177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5508955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8CBD40-8612-12B1-32B2-04237732C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2C795D-F975-E446-BF2B-F75FD8B39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416B0A-34F0-C4D0-5DF9-1E4AA960D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370030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F1E7F-BED4-7102-8818-83793F195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A755CB-9E13-E16E-983F-35D03CF2BF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B91491-203F-13AB-5816-23EFE00C1A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BDCA6F-1F88-0175-6598-F72BDD2F9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1ECB8F-98A1-FECD-1FD8-1C3B8159A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CD94BB-B28C-5E8F-DDB9-D05DC2E99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533448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0F30C-8EC4-F7DF-A961-5707D2B55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3EBEAF-DF08-E79A-6AAE-856863A83C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221E3A-029C-A1F1-1D09-FE689832B3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97A312-D776-DAD9-DDBA-C7E147E5E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5EEC34-D18B-6AA3-F549-EBFB6E064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4C70F9-2DE6-1B5D-A6F6-47D8D31BE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555374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D9D21-9F45-D502-5A37-2688AC91F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DB209D-F034-6BC2-C262-DB45D0CDC8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127493-7B5C-016A-EE1F-198FE995C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BDC203-B23B-05E8-9A75-FEBFD9EC4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DB494F-A751-A137-B0BC-A9CA6B9A1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667481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FFF7A7-FB0B-F2AB-61A5-291066371F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02132AE-23BE-5E11-4E5F-4D7AF0611B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AFD414-9CBF-5311-4FA5-BCE03B24E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1D895C-0802-FD8F-E351-39D5B15BB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90586C-A8D7-6400-A5DA-34A2835CE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4114790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FD91F8-75D7-8C1F-0FA8-2D45FA9D2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A90823-5D75-0FF4-F210-4F790BA7DE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9BA2E6-0268-0076-42D6-1528F3CC54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06EC92-AD42-EA4E-843F-66F941399442}" type="datetimeFigureOut">
              <a:rPr lang="en-IT" smtClean="0"/>
              <a:t>30/01/26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13972-287A-7E38-CE18-F77A204D59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713AE-1C94-CC40-6700-C99B80CB34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640952-BDAF-C745-9B3E-D577F167F08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82779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3EC76-45AC-C925-D594-B5C1B11D3B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T" dirty="0"/>
              <a:t>Swin Transformer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E82987-BC4E-49AC-F87C-D10E106E82E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T" dirty="0"/>
              <a:t>Computer Vision 24/25</a:t>
            </a:r>
          </a:p>
          <a:p>
            <a:endParaRPr lang="en-IT" dirty="0"/>
          </a:p>
          <a:p>
            <a:r>
              <a:rPr lang="en-IT" dirty="0"/>
              <a:t>Matteo Fontana</a:t>
            </a:r>
          </a:p>
        </p:txBody>
      </p:sp>
    </p:spTree>
    <p:extLst>
      <p:ext uri="{BB962C8B-B14F-4D97-AF65-F5344CB8AC3E}">
        <p14:creationId xmlns:p14="http://schemas.microsoft.com/office/powerpoint/2010/main" val="4160004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0BC9A-9B0B-454A-27D0-C6D50397F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Introduzione e </a:t>
            </a:r>
            <a:r>
              <a:rPr lang="en-GB" b="1" dirty="0" err="1"/>
              <a:t>Contesto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568987-24BC-F0E7-94C8-E12CAE389F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L'evoluzione:</a:t>
            </a:r>
            <a:r>
              <a:rPr lang="en-GB" dirty="0"/>
              <a:t> La </a:t>
            </a:r>
            <a:r>
              <a:rPr lang="en-GB" dirty="0" err="1"/>
              <a:t>modellazione</a:t>
            </a:r>
            <a:r>
              <a:rPr lang="en-GB" dirty="0"/>
              <a:t> </a:t>
            </a:r>
            <a:r>
              <a:rPr lang="en-GB" dirty="0" err="1"/>
              <a:t>nella</a:t>
            </a:r>
            <a:r>
              <a:rPr lang="en-GB" dirty="0"/>
              <a:t> computer vision </a:t>
            </a:r>
            <a:r>
              <a:rPr lang="en-GB" dirty="0" err="1"/>
              <a:t>è</a:t>
            </a:r>
            <a:r>
              <a:rPr lang="en-GB" dirty="0"/>
              <a:t> </a:t>
            </a:r>
            <a:r>
              <a:rPr lang="en-GB" dirty="0" err="1"/>
              <a:t>stata</a:t>
            </a:r>
            <a:r>
              <a:rPr lang="en-GB" dirty="0"/>
              <a:t> a </a:t>
            </a:r>
            <a:r>
              <a:rPr lang="en-GB" dirty="0" err="1"/>
              <a:t>lungo</a:t>
            </a:r>
            <a:r>
              <a:rPr lang="en-GB" dirty="0"/>
              <a:t> </a:t>
            </a:r>
            <a:r>
              <a:rPr lang="en-GB" dirty="0" err="1"/>
              <a:t>dominata</a:t>
            </a:r>
            <a:r>
              <a:rPr lang="en-GB" dirty="0"/>
              <a:t> </a:t>
            </a:r>
            <a:r>
              <a:rPr lang="en-GB" dirty="0" err="1"/>
              <a:t>dalle</a:t>
            </a:r>
            <a:r>
              <a:rPr lang="en-GB" dirty="0"/>
              <a:t> CNN (es. </a:t>
            </a:r>
            <a:r>
              <a:rPr lang="en-GB" dirty="0" err="1"/>
              <a:t>AlexNet</a:t>
            </a:r>
            <a:r>
              <a:rPr lang="en-GB" dirty="0"/>
              <a:t>, </a:t>
            </a:r>
            <a:r>
              <a:rPr lang="en-GB" dirty="0" err="1"/>
              <a:t>ResNet</a:t>
            </a:r>
            <a:r>
              <a:rPr lang="en-GB" dirty="0"/>
              <a:t>). Nel </a:t>
            </a:r>
            <a:r>
              <a:rPr lang="en-GB" dirty="0" err="1"/>
              <a:t>frattempo</a:t>
            </a:r>
            <a:r>
              <a:rPr lang="en-GB" dirty="0"/>
              <a:t>, </a:t>
            </a:r>
            <a:r>
              <a:rPr lang="en-GB" dirty="0" err="1"/>
              <a:t>nel</a:t>
            </a:r>
            <a:r>
              <a:rPr lang="en-GB" dirty="0"/>
              <a:t> NLP (Natural Language Processing), </a:t>
            </a:r>
            <a:r>
              <a:rPr lang="en-GB" dirty="0" err="1"/>
              <a:t>l'architettura</a:t>
            </a:r>
            <a:r>
              <a:rPr lang="en-GB" dirty="0"/>
              <a:t> </a:t>
            </a:r>
            <a:r>
              <a:rPr lang="en-GB" dirty="0" err="1"/>
              <a:t>dominante</a:t>
            </a:r>
            <a:r>
              <a:rPr lang="en-GB" dirty="0"/>
              <a:t> </a:t>
            </a:r>
            <a:r>
              <a:rPr lang="en-GB" dirty="0" err="1"/>
              <a:t>è</a:t>
            </a:r>
            <a:r>
              <a:rPr lang="en-GB" dirty="0"/>
              <a:t> </a:t>
            </a:r>
            <a:r>
              <a:rPr lang="en-GB" dirty="0" err="1"/>
              <a:t>diventata</a:t>
            </a:r>
            <a:r>
              <a:rPr lang="en-GB" dirty="0"/>
              <a:t> il Transformer</a:t>
            </a:r>
          </a:p>
          <a:p>
            <a:r>
              <a:rPr lang="en-GB" b="1" dirty="0"/>
              <a:t>Il </a:t>
            </a:r>
            <a:r>
              <a:rPr lang="en-GB" b="1" dirty="0" err="1"/>
              <a:t>problema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Adattare</a:t>
            </a:r>
            <a:r>
              <a:rPr lang="en-GB" dirty="0"/>
              <a:t> i Transformer dal </a:t>
            </a:r>
            <a:r>
              <a:rPr lang="en-GB" dirty="0" err="1"/>
              <a:t>linguaggio</a:t>
            </a:r>
            <a:r>
              <a:rPr lang="en-GB" dirty="0"/>
              <a:t> alla </a:t>
            </a:r>
            <a:r>
              <a:rPr lang="en-GB" dirty="0" err="1"/>
              <a:t>visione</a:t>
            </a:r>
            <a:r>
              <a:rPr lang="en-GB" dirty="0"/>
              <a:t> </a:t>
            </a:r>
            <a:r>
              <a:rPr lang="en-GB" dirty="0" err="1"/>
              <a:t>è</a:t>
            </a:r>
            <a:r>
              <a:rPr lang="en-GB" dirty="0"/>
              <a:t> difficile a causa di due </a:t>
            </a:r>
            <a:r>
              <a:rPr lang="en-GB" dirty="0" err="1"/>
              <a:t>differenze</a:t>
            </a:r>
            <a:r>
              <a:rPr lang="en-GB" dirty="0"/>
              <a:t> principali:</a:t>
            </a:r>
          </a:p>
          <a:p>
            <a:pPr marL="914400" lvl="1" indent="-457200">
              <a:buAutoNum type="arabicPeriod"/>
            </a:pPr>
            <a:r>
              <a:rPr lang="en-GB" b="1" dirty="0"/>
              <a:t>Scala:</a:t>
            </a:r>
            <a:r>
              <a:rPr lang="en-GB" dirty="0"/>
              <a:t> Le </a:t>
            </a:r>
            <a:r>
              <a:rPr lang="en-GB" dirty="0" err="1"/>
              <a:t>entità</a:t>
            </a:r>
            <a:r>
              <a:rPr lang="en-GB" dirty="0"/>
              <a:t> visive </a:t>
            </a:r>
            <a:r>
              <a:rPr lang="en-GB" dirty="0" err="1"/>
              <a:t>variano</a:t>
            </a:r>
            <a:r>
              <a:rPr lang="en-GB" dirty="0"/>
              <a:t> </a:t>
            </a:r>
            <a:r>
              <a:rPr lang="en-GB" dirty="0" err="1"/>
              <a:t>drasticamente</a:t>
            </a:r>
            <a:r>
              <a:rPr lang="en-GB" dirty="0"/>
              <a:t> in scala (a </a:t>
            </a:r>
            <a:r>
              <a:rPr lang="en-GB" dirty="0" err="1"/>
              <a:t>differenza</a:t>
            </a:r>
            <a:r>
              <a:rPr lang="en-GB" dirty="0"/>
              <a:t> </a:t>
            </a:r>
            <a:r>
              <a:rPr lang="en-GB" dirty="0" err="1"/>
              <a:t>dei</a:t>
            </a:r>
            <a:r>
              <a:rPr lang="en-GB" dirty="0"/>
              <a:t> "token" di parole </a:t>
            </a:r>
            <a:r>
              <a:rPr lang="en-GB" dirty="0" err="1"/>
              <a:t>che</a:t>
            </a:r>
            <a:r>
              <a:rPr lang="en-GB" dirty="0"/>
              <a:t> </a:t>
            </a:r>
            <a:r>
              <a:rPr lang="en-GB" dirty="0" err="1"/>
              <a:t>hanno</a:t>
            </a:r>
            <a:r>
              <a:rPr lang="en-GB" dirty="0"/>
              <a:t> </a:t>
            </a:r>
            <a:r>
              <a:rPr lang="en-GB" dirty="0" err="1"/>
              <a:t>dimensione</a:t>
            </a:r>
            <a:r>
              <a:rPr lang="en-GB" dirty="0"/>
              <a:t> </a:t>
            </a:r>
            <a:r>
              <a:rPr lang="en-GB" dirty="0" err="1"/>
              <a:t>fissa</a:t>
            </a:r>
            <a:r>
              <a:rPr lang="en-GB" dirty="0"/>
              <a:t>)</a:t>
            </a:r>
          </a:p>
          <a:p>
            <a:pPr marL="914400" lvl="1" indent="-457200">
              <a:buAutoNum type="arabicPeriod"/>
            </a:pPr>
            <a:r>
              <a:rPr lang="en-GB" b="1" dirty="0" err="1"/>
              <a:t>Risoluzione</a:t>
            </a:r>
            <a:r>
              <a:rPr lang="en-GB" b="1" dirty="0"/>
              <a:t>:</a:t>
            </a:r>
            <a:r>
              <a:rPr lang="en-GB" dirty="0"/>
              <a:t> Le </a:t>
            </a:r>
            <a:r>
              <a:rPr lang="en-GB" dirty="0" err="1"/>
              <a:t>immagini</a:t>
            </a:r>
            <a:r>
              <a:rPr lang="en-GB" dirty="0"/>
              <a:t> </a:t>
            </a:r>
            <a:r>
              <a:rPr lang="en-GB" dirty="0" err="1"/>
              <a:t>hanno</a:t>
            </a:r>
            <a:r>
              <a:rPr lang="en-GB" dirty="0"/>
              <a:t> una </a:t>
            </a:r>
            <a:r>
              <a:rPr lang="en-GB" dirty="0" err="1"/>
              <a:t>risoluzione</a:t>
            </a:r>
            <a:r>
              <a:rPr lang="en-GB" dirty="0"/>
              <a:t> </a:t>
            </a:r>
            <a:r>
              <a:rPr lang="en-GB" dirty="0" err="1"/>
              <a:t>molto</a:t>
            </a:r>
            <a:r>
              <a:rPr lang="en-GB" dirty="0"/>
              <a:t> </a:t>
            </a:r>
            <a:r>
              <a:rPr lang="en-GB" dirty="0" err="1"/>
              <a:t>più</a:t>
            </a:r>
            <a:r>
              <a:rPr lang="en-GB" dirty="0"/>
              <a:t> </a:t>
            </a:r>
            <a:r>
              <a:rPr lang="en-GB" dirty="0" err="1"/>
              <a:t>alta</a:t>
            </a:r>
            <a:r>
              <a:rPr lang="en-GB" dirty="0"/>
              <a:t> </a:t>
            </a:r>
            <a:r>
              <a:rPr lang="en-GB" dirty="0" err="1"/>
              <a:t>dei</a:t>
            </a:r>
            <a:r>
              <a:rPr lang="en-GB" dirty="0"/>
              <a:t> </a:t>
            </a:r>
            <a:r>
              <a:rPr lang="en-GB" dirty="0" err="1"/>
              <a:t>testi</a:t>
            </a:r>
            <a:r>
              <a:rPr lang="en-GB" dirty="0"/>
              <a:t>, </a:t>
            </a:r>
            <a:r>
              <a:rPr lang="en-GB" dirty="0" err="1"/>
              <a:t>rendendo</a:t>
            </a:r>
            <a:r>
              <a:rPr lang="en-GB" dirty="0"/>
              <a:t> </a:t>
            </a:r>
            <a:r>
              <a:rPr lang="en-GB" dirty="0" err="1"/>
              <a:t>l'attenzione</a:t>
            </a:r>
            <a:r>
              <a:rPr lang="en-GB" dirty="0"/>
              <a:t> </a:t>
            </a:r>
            <a:r>
              <a:rPr lang="en-GB" dirty="0" err="1"/>
              <a:t>globale</a:t>
            </a:r>
            <a:r>
              <a:rPr lang="en-GB" dirty="0"/>
              <a:t> </a:t>
            </a:r>
            <a:r>
              <a:rPr lang="en-GB" dirty="0" err="1"/>
              <a:t>computazionalmente</a:t>
            </a:r>
            <a:r>
              <a:rPr lang="en-GB" dirty="0"/>
              <a:t> </a:t>
            </a:r>
            <a:r>
              <a:rPr lang="en-GB" dirty="0" err="1"/>
              <a:t>costosa</a:t>
            </a:r>
            <a:endParaRPr lang="en-GB" dirty="0"/>
          </a:p>
          <a:p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16032840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41722-D410-475C-DFC3-1B46D7121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 err="1"/>
              <a:t>Limitazioni</a:t>
            </a:r>
            <a:r>
              <a:rPr lang="en-GB" b="1" dirty="0"/>
              <a:t> </a:t>
            </a:r>
            <a:r>
              <a:rPr lang="en-GB" b="1" dirty="0" err="1"/>
              <a:t>dei</a:t>
            </a:r>
            <a:r>
              <a:rPr lang="en-GB" b="1" dirty="0"/>
              <a:t> Transformer </a:t>
            </a:r>
            <a:r>
              <a:rPr lang="en-GB" b="1" dirty="0" err="1"/>
              <a:t>esistenti</a:t>
            </a:r>
            <a:r>
              <a:rPr lang="en-GB" b="1" dirty="0"/>
              <a:t> (es. </a:t>
            </a:r>
            <a:r>
              <a:rPr lang="en-GB" b="1" dirty="0" err="1"/>
              <a:t>ViT</a:t>
            </a:r>
            <a:r>
              <a:rPr lang="en-GB" b="1" dirty="0"/>
              <a:t>)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F9060-66B2-448F-ADBA-A3B373440F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Vision Transformer (</a:t>
            </a:r>
            <a:r>
              <a:rPr lang="en-GB" b="1" dirty="0" err="1"/>
              <a:t>ViT</a:t>
            </a:r>
            <a:r>
              <a:rPr lang="en-GB" b="1" dirty="0"/>
              <a:t>):</a:t>
            </a:r>
            <a:r>
              <a:rPr lang="en-GB" dirty="0"/>
              <a:t> </a:t>
            </a:r>
            <a:r>
              <a:rPr lang="en-GB" dirty="0" err="1"/>
              <a:t>Elabora</a:t>
            </a:r>
            <a:r>
              <a:rPr lang="en-GB" dirty="0"/>
              <a:t> feature map a </a:t>
            </a:r>
            <a:r>
              <a:rPr lang="en-GB" dirty="0" err="1"/>
              <a:t>bassa</a:t>
            </a:r>
            <a:r>
              <a:rPr lang="en-GB" dirty="0"/>
              <a:t> </a:t>
            </a:r>
            <a:r>
              <a:rPr lang="en-GB" dirty="0" err="1"/>
              <a:t>risoluzione</a:t>
            </a:r>
            <a:r>
              <a:rPr lang="en-GB" dirty="0"/>
              <a:t> e ha una </a:t>
            </a:r>
            <a:r>
              <a:rPr lang="en-GB" dirty="0" err="1"/>
              <a:t>complessità</a:t>
            </a:r>
            <a:r>
              <a:rPr lang="en-GB" dirty="0"/>
              <a:t> </a:t>
            </a:r>
            <a:r>
              <a:rPr lang="en-GB" dirty="0" err="1"/>
              <a:t>quadratica</a:t>
            </a:r>
            <a:r>
              <a:rPr lang="en-GB" dirty="0"/>
              <a:t> rispetto alla </a:t>
            </a:r>
            <a:r>
              <a:rPr lang="en-GB" dirty="0" err="1"/>
              <a:t>dimensione</a:t>
            </a:r>
            <a:r>
              <a:rPr lang="en-GB" dirty="0"/>
              <a:t> </a:t>
            </a:r>
            <a:r>
              <a:rPr lang="en-GB" dirty="0" err="1"/>
              <a:t>dell'immagine</a:t>
            </a:r>
            <a:r>
              <a:rPr lang="en-GB" dirty="0"/>
              <a:t>.</a:t>
            </a:r>
          </a:p>
          <a:p>
            <a:r>
              <a:rPr lang="en-GB" b="1" dirty="0"/>
              <a:t>Il </a:t>
            </a:r>
            <a:r>
              <a:rPr lang="en-GB" b="1" dirty="0" err="1"/>
              <a:t>collo</a:t>
            </a:r>
            <a:r>
              <a:rPr lang="en-GB" b="1" dirty="0"/>
              <a:t> di </a:t>
            </a:r>
            <a:r>
              <a:rPr lang="en-GB" b="1" dirty="0" err="1"/>
              <a:t>bottiglia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L'algoritmo</a:t>
            </a:r>
            <a:r>
              <a:rPr lang="en-GB" dirty="0"/>
              <a:t> di </a:t>
            </a:r>
            <a:r>
              <a:rPr lang="en-GB" i="1" dirty="0"/>
              <a:t>self-attention</a:t>
            </a:r>
            <a:r>
              <a:rPr lang="en-GB" dirty="0"/>
              <a:t> </a:t>
            </a:r>
            <a:r>
              <a:rPr lang="en-GB" dirty="0" err="1"/>
              <a:t>globale</a:t>
            </a:r>
            <a:r>
              <a:rPr lang="en-GB" dirty="0"/>
              <a:t> </a:t>
            </a:r>
            <a:r>
              <a:rPr lang="en-GB" dirty="0" err="1"/>
              <a:t>calcola</a:t>
            </a:r>
            <a:r>
              <a:rPr lang="en-GB" dirty="0"/>
              <a:t> le </a:t>
            </a:r>
            <a:r>
              <a:rPr lang="en-GB" dirty="0" err="1"/>
              <a:t>relazioni</a:t>
            </a:r>
            <a:r>
              <a:rPr lang="en-GB" dirty="0"/>
              <a:t> </a:t>
            </a:r>
            <a:r>
              <a:rPr lang="en-GB" dirty="0" err="1"/>
              <a:t>tra</a:t>
            </a:r>
            <a:r>
              <a:rPr lang="en-GB" dirty="0"/>
              <a:t> un token e </a:t>
            </a:r>
            <a:r>
              <a:rPr lang="en-GB" i="1" dirty="0"/>
              <a:t>tutti</a:t>
            </a:r>
            <a:r>
              <a:rPr lang="en-GB" dirty="0"/>
              <a:t> gli </a:t>
            </a:r>
            <a:r>
              <a:rPr lang="en-GB" dirty="0" err="1"/>
              <a:t>altri</a:t>
            </a:r>
            <a:r>
              <a:rPr lang="en-GB" dirty="0"/>
              <a:t> token.</a:t>
            </a:r>
          </a:p>
          <a:p>
            <a:pPr lvl="1"/>
            <a:r>
              <a:rPr lang="en-GB" dirty="0" err="1"/>
              <a:t>Complessità</a:t>
            </a:r>
            <a:r>
              <a:rPr lang="en-GB" dirty="0"/>
              <a:t>: </a:t>
            </a:r>
            <a:r>
              <a:rPr lang="en-GB" dirty="0">
                <a:effectLst/>
              </a:rPr>
              <a:t>O</a:t>
            </a:r>
            <a:r>
              <a:rPr lang="en-GB" dirty="0"/>
              <a:t>(</a:t>
            </a:r>
            <a:r>
              <a:rPr lang="en-GB" dirty="0">
                <a:effectLst/>
              </a:rPr>
              <a:t>N2</a:t>
            </a:r>
            <a:r>
              <a:rPr lang="en-GB" dirty="0"/>
              <a:t>), dove </a:t>
            </a:r>
            <a:r>
              <a:rPr lang="en-GB" dirty="0">
                <a:effectLst/>
              </a:rPr>
              <a:t>N</a:t>
            </a:r>
            <a:r>
              <a:rPr lang="en-GB" dirty="0"/>
              <a:t> </a:t>
            </a:r>
            <a:r>
              <a:rPr lang="en-GB" dirty="0" err="1"/>
              <a:t>è</a:t>
            </a:r>
            <a:r>
              <a:rPr lang="en-GB" dirty="0"/>
              <a:t> il </a:t>
            </a:r>
            <a:r>
              <a:rPr lang="en-GB" dirty="0" err="1"/>
              <a:t>numero</a:t>
            </a:r>
            <a:r>
              <a:rPr lang="en-GB" dirty="0"/>
              <a:t> di token (pixel/patch)</a:t>
            </a:r>
            <a:endParaRPr lang="en-GB" b="1" dirty="0"/>
          </a:p>
          <a:p>
            <a:r>
              <a:rPr lang="en-GB" b="1" dirty="0" err="1"/>
              <a:t>Conseguenza</a:t>
            </a:r>
            <a:r>
              <a:rPr lang="en-GB" b="1" dirty="0"/>
              <a:t>:</a:t>
            </a:r>
            <a:r>
              <a:rPr lang="en-GB" dirty="0"/>
              <a:t> Questo </a:t>
            </a:r>
            <a:r>
              <a:rPr lang="en-GB" dirty="0" err="1"/>
              <a:t>rende</a:t>
            </a:r>
            <a:r>
              <a:rPr lang="en-GB" dirty="0"/>
              <a:t> i Transformer </a:t>
            </a:r>
            <a:r>
              <a:rPr lang="en-GB" dirty="0" err="1"/>
              <a:t>classici</a:t>
            </a:r>
            <a:r>
              <a:rPr lang="en-GB" dirty="0"/>
              <a:t> </a:t>
            </a:r>
            <a:r>
              <a:rPr lang="en-GB" dirty="0" err="1"/>
              <a:t>inadatti</a:t>
            </a:r>
            <a:r>
              <a:rPr lang="en-GB" dirty="0"/>
              <a:t> per </a:t>
            </a:r>
            <a:r>
              <a:rPr lang="en-GB" dirty="0" err="1"/>
              <a:t>compiti</a:t>
            </a:r>
            <a:r>
              <a:rPr lang="en-GB" dirty="0"/>
              <a:t> di "dense prediction" (come la </a:t>
            </a:r>
            <a:r>
              <a:rPr lang="en-GB" dirty="0" err="1"/>
              <a:t>segmentazione</a:t>
            </a:r>
            <a:r>
              <a:rPr lang="en-GB" dirty="0"/>
              <a:t>) o per </a:t>
            </a:r>
            <a:r>
              <a:rPr lang="en-GB" dirty="0" err="1"/>
              <a:t>immagini</a:t>
            </a:r>
            <a:r>
              <a:rPr lang="en-GB" dirty="0"/>
              <a:t> ad </a:t>
            </a:r>
            <a:r>
              <a:rPr lang="en-GB" dirty="0" err="1"/>
              <a:t>alta</a:t>
            </a:r>
            <a:r>
              <a:rPr lang="en-GB" dirty="0"/>
              <a:t> </a:t>
            </a:r>
            <a:r>
              <a:rPr lang="en-GB" dirty="0" err="1"/>
              <a:t>risoluzione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35191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2ECD0-4E89-AB35-7334-B3DB563F3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La </a:t>
            </a:r>
            <a:r>
              <a:rPr lang="en-GB" b="1" dirty="0" err="1"/>
              <a:t>Soluzione</a:t>
            </a:r>
            <a:r>
              <a:rPr lang="en-GB" b="1" dirty="0"/>
              <a:t> - Swin Transformer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BA687E-8ED4-FFE5-98B0-91C037A63B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400" b="1" dirty="0"/>
              <a:t>Concetto </a:t>
            </a:r>
            <a:r>
              <a:rPr lang="en-GB" sz="2400" b="1" dirty="0" err="1"/>
              <a:t>Chiave</a:t>
            </a:r>
            <a:r>
              <a:rPr lang="en-GB" sz="2400" b="1" dirty="0"/>
              <a:t>:</a:t>
            </a:r>
            <a:r>
              <a:rPr lang="en-GB" sz="2400" dirty="0"/>
              <a:t> Un Transformer </a:t>
            </a:r>
            <a:r>
              <a:rPr lang="en-GB" sz="2400" b="1" dirty="0" err="1"/>
              <a:t>Gerarchico</a:t>
            </a:r>
            <a:r>
              <a:rPr lang="en-GB" sz="2400" dirty="0"/>
              <a:t> </a:t>
            </a:r>
            <a:r>
              <a:rPr lang="en-GB" sz="2400" dirty="0" err="1"/>
              <a:t>che</a:t>
            </a:r>
            <a:r>
              <a:rPr lang="en-GB" sz="2400" dirty="0"/>
              <a:t> </a:t>
            </a:r>
            <a:r>
              <a:rPr lang="en-GB" sz="2400" dirty="0" err="1"/>
              <a:t>utilizza</a:t>
            </a:r>
            <a:r>
              <a:rPr lang="en-GB" sz="2400" dirty="0"/>
              <a:t> </a:t>
            </a:r>
            <a:r>
              <a:rPr lang="en-GB" sz="2400" b="1" dirty="0" err="1"/>
              <a:t>Finestre</a:t>
            </a:r>
            <a:r>
              <a:rPr lang="en-GB" sz="2400" b="1" dirty="0"/>
              <a:t> </a:t>
            </a:r>
            <a:r>
              <a:rPr lang="en-GB" sz="2400" b="1" dirty="0" err="1"/>
              <a:t>Traslate</a:t>
            </a:r>
            <a:r>
              <a:rPr lang="en-GB" sz="2400" b="1" dirty="0"/>
              <a:t> (Shifted Windows)</a:t>
            </a:r>
            <a:r>
              <a:rPr lang="en-GB" sz="2400" dirty="0"/>
              <a:t>.</a:t>
            </a:r>
          </a:p>
          <a:p>
            <a:r>
              <a:rPr lang="en-GB" sz="2400" b="1" dirty="0" err="1"/>
              <a:t>Caratteristiche</a:t>
            </a:r>
            <a:r>
              <a:rPr lang="en-GB" sz="2400" b="1" dirty="0"/>
              <a:t> </a:t>
            </a:r>
            <a:r>
              <a:rPr lang="en-GB" sz="2400" b="1" dirty="0" err="1"/>
              <a:t>distintive</a:t>
            </a:r>
            <a:r>
              <a:rPr lang="en-GB" sz="2400" b="1" dirty="0"/>
              <a:t>:</a:t>
            </a:r>
          </a:p>
          <a:p>
            <a:pPr lvl="1"/>
            <a:r>
              <a:rPr lang="en-GB" dirty="0" err="1"/>
              <a:t>Costruisce</a:t>
            </a:r>
            <a:r>
              <a:rPr lang="en-GB" dirty="0"/>
              <a:t> feature map </a:t>
            </a:r>
            <a:r>
              <a:rPr lang="en-GB" dirty="0" err="1"/>
              <a:t>gerarchiche</a:t>
            </a:r>
            <a:r>
              <a:rPr lang="en-GB" dirty="0"/>
              <a:t>,                                                                    (simile alle CNN), </a:t>
            </a:r>
            <a:r>
              <a:rPr lang="en-GB" dirty="0" err="1"/>
              <a:t>permettendo</a:t>
            </a:r>
            <a:r>
              <a:rPr lang="en-GB" dirty="0"/>
              <a:t> di </a:t>
            </a:r>
            <a:r>
              <a:rPr lang="en-GB" dirty="0" err="1"/>
              <a:t>modellare</a:t>
            </a:r>
            <a:r>
              <a:rPr lang="en-GB" dirty="0"/>
              <a:t>                                                             </a:t>
            </a:r>
            <a:r>
              <a:rPr lang="en-GB" dirty="0" err="1"/>
              <a:t>varie</a:t>
            </a:r>
            <a:r>
              <a:rPr lang="en-GB" dirty="0"/>
              <a:t> scale.</a:t>
            </a:r>
          </a:p>
          <a:p>
            <a:pPr lvl="1"/>
            <a:r>
              <a:rPr lang="en-GB" dirty="0"/>
              <a:t>Ha una </a:t>
            </a:r>
            <a:r>
              <a:rPr lang="en-GB" b="1" dirty="0" err="1"/>
              <a:t>complessità</a:t>
            </a:r>
            <a:r>
              <a:rPr lang="en-GB" b="1" dirty="0"/>
              <a:t> </a:t>
            </a:r>
            <a:r>
              <a:rPr lang="en-GB" b="1" dirty="0" err="1"/>
              <a:t>computazionale</a:t>
            </a:r>
            <a:r>
              <a:rPr lang="en-GB" b="1" dirty="0"/>
              <a:t> </a:t>
            </a:r>
            <a:r>
              <a:rPr lang="en-GB" b="1" dirty="0" err="1"/>
              <a:t>lineare</a:t>
            </a:r>
            <a:r>
              <a:rPr lang="en-GB" dirty="0"/>
              <a:t> rispetto alla </a:t>
            </a:r>
            <a:r>
              <a:rPr lang="en-GB" dirty="0" err="1"/>
              <a:t>dimensione</a:t>
            </a:r>
            <a:r>
              <a:rPr lang="en-GB" dirty="0"/>
              <a:t> </a:t>
            </a:r>
            <a:r>
              <a:rPr lang="en-GB" dirty="0" err="1"/>
              <a:t>dell'immagine</a:t>
            </a:r>
            <a:r>
              <a:rPr lang="en-GB" dirty="0"/>
              <a:t>.</a:t>
            </a:r>
          </a:p>
          <a:p>
            <a:r>
              <a:rPr lang="en-GB" sz="2400" b="1" dirty="0" err="1"/>
              <a:t>Risultato</a:t>
            </a:r>
            <a:r>
              <a:rPr lang="en-GB" sz="2400" b="1" dirty="0"/>
              <a:t>:</a:t>
            </a:r>
            <a:r>
              <a:rPr lang="en-GB" sz="2400" dirty="0"/>
              <a:t> Serve come backbone "general-purpose" </a:t>
            </a:r>
            <a:r>
              <a:rPr lang="en-GB" sz="2400" dirty="0" err="1"/>
              <a:t>compatibile</a:t>
            </a:r>
            <a:r>
              <a:rPr lang="en-GB" sz="2400" dirty="0"/>
              <a:t> con </a:t>
            </a:r>
            <a:r>
              <a:rPr lang="en-GB" sz="2400" dirty="0" err="1"/>
              <a:t>classificazione</a:t>
            </a:r>
            <a:r>
              <a:rPr lang="en-GB" sz="2400" dirty="0"/>
              <a:t>, </a:t>
            </a:r>
            <a:r>
              <a:rPr lang="en-GB" sz="2400" dirty="0" err="1"/>
              <a:t>rilevamento</a:t>
            </a:r>
            <a:r>
              <a:rPr lang="en-GB" sz="2400" dirty="0"/>
              <a:t> </a:t>
            </a:r>
            <a:r>
              <a:rPr lang="en-GB" sz="2400" dirty="0" err="1"/>
              <a:t>oggetti</a:t>
            </a:r>
            <a:r>
              <a:rPr lang="en-GB" sz="2400" dirty="0"/>
              <a:t> e </a:t>
            </a:r>
            <a:r>
              <a:rPr lang="en-GB" sz="2400" dirty="0" err="1"/>
              <a:t>segmentazione</a:t>
            </a:r>
            <a:r>
              <a:rPr lang="en-GB" sz="2400" dirty="0"/>
              <a:t> </a:t>
            </a:r>
            <a:r>
              <a:rPr lang="en-GB" sz="2400" dirty="0" err="1"/>
              <a:t>semantica</a:t>
            </a:r>
            <a:r>
              <a:rPr lang="en-GB" sz="2400" dirty="0"/>
              <a:t>.</a:t>
            </a:r>
          </a:p>
          <a:p>
            <a:endParaRPr lang="en-IT" sz="2400" dirty="0"/>
          </a:p>
        </p:txBody>
      </p:sp>
      <p:pic>
        <p:nvPicPr>
          <p:cNvPr id="5" name="Picture 4" descr="A diagram of a solar panel&#10;&#10;AI-generated content may be incorrect.">
            <a:extLst>
              <a:ext uri="{FF2B5EF4-FFF2-40B4-BE49-F238E27FC236}">
                <a16:creationId xmlns:a16="http://schemas.microsoft.com/office/drawing/2014/main" id="{3E98AD36-2ABB-9544-EE8F-93AAD3AC97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8795" y="2229853"/>
            <a:ext cx="3360152" cy="1820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6138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EB8C-CD76-E660-3B55-DA244E693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 err="1"/>
              <a:t>Architettura</a:t>
            </a:r>
            <a:r>
              <a:rPr lang="en-GB" b="1" dirty="0"/>
              <a:t> Generale (Pipeline)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63D1D-AB1C-0B19-E2B8-67DBB1667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Patch Partition:</a:t>
            </a:r>
            <a:r>
              <a:rPr lang="en-GB" dirty="0"/>
              <a:t> </a:t>
            </a:r>
            <a:r>
              <a:rPr lang="en-GB" dirty="0" err="1"/>
              <a:t>L'immagine</a:t>
            </a:r>
            <a:r>
              <a:rPr lang="en-GB" dirty="0"/>
              <a:t> RGB </a:t>
            </a:r>
            <a:r>
              <a:rPr lang="en-GB" dirty="0" err="1"/>
              <a:t>viene</a:t>
            </a:r>
            <a:r>
              <a:rPr lang="en-GB" dirty="0"/>
              <a:t> divisa in patch non </a:t>
            </a:r>
            <a:r>
              <a:rPr lang="en-GB" dirty="0" err="1"/>
              <a:t>sovrapposte</a:t>
            </a:r>
            <a:r>
              <a:rPr lang="en-GB" dirty="0"/>
              <a:t> (</a:t>
            </a:r>
            <a:r>
              <a:rPr lang="en-GB" dirty="0" err="1"/>
              <a:t>dimensione</a:t>
            </a:r>
            <a:r>
              <a:rPr lang="en-GB" dirty="0"/>
              <a:t> 4×4). Ogni patch </a:t>
            </a:r>
            <a:r>
              <a:rPr lang="en-GB" dirty="0" err="1"/>
              <a:t>è</a:t>
            </a:r>
            <a:r>
              <a:rPr lang="en-GB" dirty="0"/>
              <a:t> </a:t>
            </a:r>
            <a:r>
              <a:rPr lang="en-GB" dirty="0" err="1"/>
              <a:t>trattata</a:t>
            </a:r>
            <a:r>
              <a:rPr lang="en-GB" dirty="0"/>
              <a:t> come un "token".</a:t>
            </a:r>
          </a:p>
          <a:p>
            <a:r>
              <a:rPr lang="en-GB" b="1" dirty="0"/>
              <a:t>Linear Embedding:</a:t>
            </a:r>
            <a:r>
              <a:rPr lang="en-GB" dirty="0"/>
              <a:t> </a:t>
            </a:r>
            <a:r>
              <a:rPr lang="en-GB" dirty="0" err="1"/>
              <a:t>Proietta</a:t>
            </a:r>
            <a:r>
              <a:rPr lang="en-GB" dirty="0"/>
              <a:t> la feature </a:t>
            </a:r>
            <a:r>
              <a:rPr lang="en-GB" dirty="0" err="1"/>
              <a:t>grezza</a:t>
            </a:r>
            <a:r>
              <a:rPr lang="en-GB" dirty="0"/>
              <a:t> in una </a:t>
            </a:r>
            <a:r>
              <a:rPr lang="en-GB" dirty="0" err="1"/>
              <a:t>dimensione</a:t>
            </a:r>
            <a:r>
              <a:rPr lang="en-GB" dirty="0"/>
              <a:t> </a:t>
            </a:r>
            <a:r>
              <a:rPr lang="en-GB" dirty="0" err="1"/>
              <a:t>arbitraria</a:t>
            </a:r>
            <a:r>
              <a:rPr lang="en-GB" dirty="0"/>
              <a:t> </a:t>
            </a:r>
            <a:r>
              <a:rPr lang="en-GB" dirty="0">
                <a:effectLst/>
              </a:rPr>
              <a:t>C</a:t>
            </a:r>
            <a:r>
              <a:rPr lang="en-GB" dirty="0"/>
              <a:t>.</a:t>
            </a:r>
          </a:p>
          <a:p>
            <a:r>
              <a:rPr lang="en-GB" b="1" dirty="0"/>
              <a:t>Swin Transformer Blocks:</a:t>
            </a:r>
            <a:r>
              <a:rPr lang="en-GB" dirty="0"/>
              <a:t> </a:t>
            </a:r>
            <a:r>
              <a:rPr lang="en-GB" dirty="0" err="1"/>
              <a:t>Blocchi</a:t>
            </a:r>
            <a:r>
              <a:rPr lang="en-GB" dirty="0"/>
              <a:t> </a:t>
            </a:r>
            <a:r>
              <a:rPr lang="en-GB" dirty="0" err="1"/>
              <a:t>modificati</a:t>
            </a:r>
            <a:r>
              <a:rPr lang="en-GB" dirty="0"/>
              <a:t> di self-attention </a:t>
            </a:r>
            <a:r>
              <a:rPr lang="en-GB" dirty="0" err="1"/>
              <a:t>applicati</a:t>
            </a:r>
            <a:r>
              <a:rPr lang="en-GB" dirty="0"/>
              <a:t> ai token.</a:t>
            </a:r>
          </a:p>
          <a:p>
            <a:r>
              <a:rPr lang="en-GB" b="1" dirty="0"/>
              <a:t>Fasi (Stages):</a:t>
            </a:r>
            <a:r>
              <a:rPr lang="en-GB" dirty="0"/>
              <a:t> </a:t>
            </a:r>
            <a:r>
              <a:rPr lang="en-GB" dirty="0" err="1"/>
              <a:t>L'architettura</a:t>
            </a:r>
            <a:r>
              <a:rPr lang="en-GB" dirty="0"/>
              <a:t> </a:t>
            </a:r>
            <a:r>
              <a:rPr lang="en-GB" dirty="0" err="1"/>
              <a:t>è</a:t>
            </a:r>
            <a:r>
              <a:rPr lang="en-GB" dirty="0"/>
              <a:t> divisa in 4 </a:t>
            </a:r>
            <a:r>
              <a:rPr lang="en-GB" dirty="0" err="1"/>
              <a:t>stadi</a:t>
            </a:r>
            <a:r>
              <a:rPr lang="en-GB" dirty="0"/>
              <a:t> per </a:t>
            </a:r>
            <a:r>
              <a:rPr lang="en-GB" dirty="0" err="1"/>
              <a:t>produrre</a:t>
            </a:r>
            <a:r>
              <a:rPr lang="en-GB" dirty="0"/>
              <a:t> una rappresentazione </a:t>
            </a:r>
            <a:r>
              <a:rPr lang="en-GB" dirty="0" err="1"/>
              <a:t>gerarchica</a:t>
            </a:r>
            <a:r>
              <a:rPr lang="en-GB" dirty="0"/>
              <a:t> (</a:t>
            </a:r>
            <a:r>
              <a:rPr lang="en-GB" dirty="0" err="1"/>
              <a:t>esattamente</a:t>
            </a:r>
            <a:r>
              <a:rPr lang="en-GB" dirty="0"/>
              <a:t> come VGG o </a:t>
            </a:r>
            <a:r>
              <a:rPr lang="en-GB" dirty="0" err="1"/>
              <a:t>ResNet</a:t>
            </a:r>
            <a:r>
              <a:rPr lang="en-GB" dirty="0"/>
              <a:t>)</a:t>
            </a:r>
          </a:p>
          <a:p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29117299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Content Placeholder 14" descr="A diagram of a block diagram&#10;&#10;AI-generated content may be incorrect.">
            <a:extLst>
              <a:ext uri="{FF2B5EF4-FFF2-40B4-BE49-F238E27FC236}">
                <a16:creationId xmlns:a16="http://schemas.microsoft.com/office/drawing/2014/main" id="{803E2792-ED1B-B4F8-2CFA-1C239929F4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3467" y="1806871"/>
            <a:ext cx="10905066" cy="3244257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0E433413-3ADD-993B-4107-0CDDB3609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b="1" dirty="0" err="1"/>
              <a:t>Architettura</a:t>
            </a:r>
            <a:r>
              <a:rPr lang="en-GB" b="1" dirty="0"/>
              <a:t> Generale (Pipeline)</a:t>
            </a:r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27710494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2483F-CEBD-5AA9-38F7-2C803E275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Rappresentazione </a:t>
            </a:r>
            <a:r>
              <a:rPr lang="en-GB" b="1" dirty="0" err="1"/>
              <a:t>Gerarchica</a:t>
            </a:r>
            <a:r>
              <a:rPr lang="en-GB" b="1" dirty="0"/>
              <a:t> e Patch Merging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839642-2876-FC5F-F12C-6525C2E047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Obiettivo:</a:t>
            </a:r>
            <a:r>
              <a:rPr lang="en-GB" dirty="0"/>
              <a:t> </a:t>
            </a:r>
            <a:r>
              <a:rPr lang="en-GB" dirty="0" err="1"/>
              <a:t>Ridurre</a:t>
            </a:r>
            <a:r>
              <a:rPr lang="en-GB" dirty="0"/>
              <a:t> il </a:t>
            </a:r>
            <a:r>
              <a:rPr lang="en-GB" dirty="0" err="1"/>
              <a:t>numero</a:t>
            </a:r>
            <a:r>
              <a:rPr lang="en-GB" dirty="0"/>
              <a:t> di token man mano </a:t>
            </a:r>
            <a:r>
              <a:rPr lang="en-GB" dirty="0" err="1"/>
              <a:t>che</a:t>
            </a:r>
            <a:r>
              <a:rPr lang="en-GB" dirty="0"/>
              <a:t> la rete </a:t>
            </a:r>
            <a:r>
              <a:rPr lang="en-GB" dirty="0" err="1"/>
              <a:t>diventa</a:t>
            </a:r>
            <a:r>
              <a:rPr lang="en-GB" dirty="0"/>
              <a:t> </a:t>
            </a:r>
            <a:r>
              <a:rPr lang="en-GB" dirty="0" err="1"/>
              <a:t>più</a:t>
            </a:r>
            <a:r>
              <a:rPr lang="en-GB" dirty="0"/>
              <a:t> </a:t>
            </a:r>
            <a:r>
              <a:rPr lang="en-GB" dirty="0" err="1"/>
              <a:t>profonda</a:t>
            </a:r>
            <a:r>
              <a:rPr lang="en-GB" dirty="0"/>
              <a:t> per </a:t>
            </a:r>
            <a:r>
              <a:rPr lang="en-GB" dirty="0" err="1"/>
              <a:t>aumentare</a:t>
            </a:r>
            <a:r>
              <a:rPr lang="en-GB" dirty="0"/>
              <a:t> il campo </a:t>
            </a:r>
            <a:r>
              <a:rPr lang="en-GB" dirty="0" err="1"/>
              <a:t>recettivo</a:t>
            </a:r>
            <a:r>
              <a:rPr lang="en-GB" dirty="0"/>
              <a:t>.</a:t>
            </a:r>
          </a:p>
          <a:p>
            <a:r>
              <a:rPr lang="en-GB" b="1" dirty="0"/>
              <a:t>Patch Merging Layer:</a:t>
            </a:r>
          </a:p>
          <a:p>
            <a:pPr lvl="1"/>
            <a:r>
              <a:rPr lang="en-GB" dirty="0" err="1"/>
              <a:t>Concatena</a:t>
            </a:r>
            <a:r>
              <a:rPr lang="en-GB" dirty="0"/>
              <a:t> le feature di </a:t>
            </a:r>
            <a:r>
              <a:rPr lang="en-GB" dirty="0" err="1"/>
              <a:t>gruppi</a:t>
            </a:r>
            <a:r>
              <a:rPr lang="en-GB" dirty="0"/>
              <a:t> di 2×2 patch vicine.</a:t>
            </a:r>
          </a:p>
          <a:p>
            <a:pPr lvl="1"/>
            <a:r>
              <a:rPr lang="en-GB" dirty="0" err="1"/>
              <a:t>Riduce</a:t>
            </a:r>
            <a:r>
              <a:rPr lang="en-GB" dirty="0"/>
              <a:t> il </a:t>
            </a:r>
            <a:r>
              <a:rPr lang="en-GB" dirty="0" err="1"/>
              <a:t>numero</a:t>
            </a:r>
            <a:r>
              <a:rPr lang="en-GB" dirty="0"/>
              <a:t> di token di un </a:t>
            </a:r>
            <a:r>
              <a:rPr lang="en-GB" dirty="0" err="1"/>
              <a:t>fattore</a:t>
            </a:r>
            <a:r>
              <a:rPr lang="en-GB" dirty="0"/>
              <a:t> 4 (</a:t>
            </a:r>
            <a:r>
              <a:rPr lang="en-GB" dirty="0" err="1"/>
              <a:t>downsampling</a:t>
            </a:r>
            <a:r>
              <a:rPr lang="en-GB" dirty="0"/>
              <a:t> 2×).</a:t>
            </a:r>
          </a:p>
          <a:p>
            <a:pPr lvl="1"/>
            <a:r>
              <a:rPr lang="en-GB" dirty="0" err="1"/>
              <a:t>Aumenta</a:t>
            </a:r>
            <a:r>
              <a:rPr lang="en-GB" dirty="0"/>
              <a:t> </a:t>
            </a:r>
            <a:r>
              <a:rPr lang="en-GB" dirty="0" err="1"/>
              <a:t>l</a:t>
            </a:r>
            <a:r>
              <a:rPr lang="en-GB" b="1" dirty="0" err="1"/>
              <a:t>Risultato</a:t>
            </a:r>
            <a:r>
              <a:rPr lang="en-GB" b="1" dirty="0"/>
              <a:t>:</a:t>
            </a:r>
            <a:r>
              <a:rPr lang="en-GB" dirty="0"/>
              <a:t> Output con </a:t>
            </a:r>
            <a:r>
              <a:rPr lang="en-GB" dirty="0" err="1"/>
              <a:t>risoluzioni</a:t>
            </a:r>
            <a:r>
              <a:rPr lang="en-GB" dirty="0"/>
              <a:t> </a:t>
            </a:r>
            <a:r>
              <a:rPr lang="en-GB" dirty="0" err="1"/>
              <a:t>decrescenti</a:t>
            </a:r>
            <a:r>
              <a:rPr lang="en-GB" dirty="0"/>
              <a:t> (H/4,H/8,H/16,H/32), </a:t>
            </a:r>
            <a:r>
              <a:rPr lang="en-GB" dirty="0" err="1"/>
              <a:t>ideali</a:t>
            </a:r>
            <a:r>
              <a:rPr lang="en-GB" dirty="0"/>
              <a:t> per Feature Pyramid Networks (FPN) o U-Net</a:t>
            </a:r>
          </a:p>
          <a:p>
            <a:pPr lvl="1"/>
            <a:r>
              <a:rPr lang="en-GB" dirty="0"/>
              <a:t>a </a:t>
            </a:r>
            <a:r>
              <a:rPr lang="en-GB" dirty="0" err="1"/>
              <a:t>dimensione</a:t>
            </a:r>
            <a:r>
              <a:rPr lang="en-GB" dirty="0"/>
              <a:t> delle feature (es. da </a:t>
            </a:r>
            <a:r>
              <a:rPr lang="en-GB" dirty="0">
                <a:effectLst/>
              </a:rPr>
              <a:t>C</a:t>
            </a:r>
            <a:r>
              <a:rPr lang="en-GB" dirty="0"/>
              <a:t> a 2</a:t>
            </a:r>
            <a:r>
              <a:rPr lang="en-GB" dirty="0">
                <a:effectLst/>
              </a:rPr>
              <a:t>C</a:t>
            </a:r>
            <a:r>
              <a:rPr lang="en-GB" dirty="0"/>
              <a:t>).</a:t>
            </a:r>
          </a:p>
          <a:p>
            <a:endParaRPr lang="en-IT" dirty="0"/>
          </a:p>
        </p:txBody>
      </p:sp>
      <p:sp>
        <p:nvSpPr>
          <p:cNvPr id="6" name="AutoShape 4">
            <a:extLst>
              <a:ext uri="{FF2B5EF4-FFF2-40B4-BE49-F238E27FC236}">
                <a16:creationId xmlns:a16="http://schemas.microsoft.com/office/drawing/2014/main" id="{7CCD02B0-BB8A-27BB-FE85-9D22847B6E54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6018028" y="2030709"/>
            <a:ext cx="272488" cy="272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T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BA45C1-D218-9B88-C9A3-3047E3F669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450" y="5099003"/>
            <a:ext cx="2568617" cy="175899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6F61BDD-4CDD-7451-A11F-B47A3DCCA1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2088" y="5112397"/>
            <a:ext cx="2568617" cy="1732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990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7CF3F-7587-19DE-B195-B0EB49213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/>
              <a:t>Window-based Self-Attention (W-MSA)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8851B-0A9A-A35F-455E-E23406B453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 err="1"/>
              <a:t>Efficienza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Invece</a:t>
            </a:r>
            <a:r>
              <a:rPr lang="en-GB" dirty="0"/>
              <a:t> </a:t>
            </a:r>
            <a:r>
              <a:rPr lang="en-GB" dirty="0" err="1"/>
              <a:t>dell'attenzione</a:t>
            </a:r>
            <a:r>
              <a:rPr lang="en-GB" dirty="0"/>
              <a:t> </a:t>
            </a:r>
            <a:r>
              <a:rPr lang="en-GB" dirty="0" err="1"/>
              <a:t>globale</a:t>
            </a:r>
            <a:r>
              <a:rPr lang="en-GB" dirty="0"/>
              <a:t>, Swin </a:t>
            </a:r>
            <a:r>
              <a:rPr lang="en-GB" dirty="0" err="1"/>
              <a:t>calcola</a:t>
            </a:r>
            <a:r>
              <a:rPr lang="en-GB" dirty="0"/>
              <a:t> la self-attention solo </a:t>
            </a:r>
            <a:r>
              <a:rPr lang="en-GB" dirty="0" err="1"/>
              <a:t>all'interno</a:t>
            </a:r>
            <a:r>
              <a:rPr lang="en-GB" dirty="0"/>
              <a:t> di </a:t>
            </a:r>
            <a:r>
              <a:rPr lang="en-GB" b="1" dirty="0" err="1"/>
              <a:t>finestre</a:t>
            </a:r>
            <a:r>
              <a:rPr lang="en-GB" b="1" dirty="0"/>
              <a:t> </a:t>
            </a:r>
            <a:r>
              <a:rPr lang="en-GB" b="1" dirty="0" err="1"/>
              <a:t>locali</a:t>
            </a:r>
            <a:r>
              <a:rPr lang="en-GB" dirty="0"/>
              <a:t> non </a:t>
            </a:r>
            <a:r>
              <a:rPr lang="en-GB" dirty="0" err="1"/>
              <a:t>sovrapposte</a:t>
            </a:r>
            <a:r>
              <a:rPr lang="en-GB" dirty="0"/>
              <a:t>.</a:t>
            </a:r>
          </a:p>
          <a:p>
            <a:r>
              <a:rPr lang="en-GB" b="1" dirty="0" err="1"/>
              <a:t>Dimensione</a:t>
            </a:r>
            <a:r>
              <a:rPr lang="en-GB" b="1" dirty="0"/>
              <a:t> Finestra:</a:t>
            </a:r>
            <a:r>
              <a:rPr lang="en-GB" dirty="0"/>
              <a:t> </a:t>
            </a:r>
            <a:r>
              <a:rPr lang="en-GB" dirty="0" err="1"/>
              <a:t>Fissa</a:t>
            </a:r>
            <a:r>
              <a:rPr lang="en-GB" dirty="0"/>
              <a:t> a </a:t>
            </a:r>
            <a:r>
              <a:rPr lang="en-GB" dirty="0">
                <a:effectLst/>
              </a:rPr>
              <a:t>M</a:t>
            </a:r>
            <a:r>
              <a:rPr lang="en-GB" dirty="0"/>
              <a:t>×</a:t>
            </a:r>
            <a:r>
              <a:rPr lang="en-GB" dirty="0">
                <a:effectLst/>
              </a:rPr>
              <a:t>M</a:t>
            </a:r>
            <a:r>
              <a:rPr lang="en-GB" dirty="0"/>
              <a:t> patch (default </a:t>
            </a:r>
            <a:r>
              <a:rPr lang="en-GB" dirty="0">
                <a:effectLst/>
              </a:rPr>
              <a:t>M</a:t>
            </a:r>
            <a:r>
              <a:rPr lang="en-GB" dirty="0"/>
              <a:t>=7).</a:t>
            </a:r>
          </a:p>
          <a:p>
            <a:r>
              <a:rPr lang="en-GB" b="1" dirty="0" err="1"/>
              <a:t>Confronto</a:t>
            </a:r>
            <a:r>
              <a:rPr lang="en-GB" b="1" dirty="0"/>
              <a:t> di </a:t>
            </a:r>
            <a:r>
              <a:rPr lang="en-GB" b="1" dirty="0" err="1"/>
              <a:t>Complessità</a:t>
            </a:r>
            <a:r>
              <a:rPr lang="en-GB" b="1" dirty="0"/>
              <a:t>:</a:t>
            </a:r>
          </a:p>
          <a:p>
            <a:pPr lvl="1"/>
            <a:r>
              <a:rPr lang="en-GB" dirty="0"/>
              <a:t>MSA </a:t>
            </a:r>
            <a:r>
              <a:rPr lang="en-GB" dirty="0" err="1"/>
              <a:t>Globale</a:t>
            </a:r>
            <a:r>
              <a:rPr lang="en-GB" dirty="0"/>
              <a:t>: 4h</a:t>
            </a:r>
            <a:r>
              <a:rPr lang="en-GB" dirty="0">
                <a:effectLst/>
              </a:rPr>
              <a:t>wC2</a:t>
            </a:r>
            <a:r>
              <a:rPr lang="en-GB" dirty="0"/>
              <a:t>+2(</a:t>
            </a:r>
            <a:r>
              <a:rPr lang="en-GB" dirty="0" err="1"/>
              <a:t>h</a:t>
            </a:r>
            <a:r>
              <a:rPr lang="en-GB" dirty="0" err="1">
                <a:effectLst/>
              </a:rPr>
              <a:t>w</a:t>
            </a:r>
            <a:r>
              <a:rPr lang="en-GB" dirty="0"/>
              <a:t>)</a:t>
            </a:r>
            <a:r>
              <a:rPr lang="en-GB" dirty="0">
                <a:effectLst/>
              </a:rPr>
              <a:t>2C</a:t>
            </a:r>
            <a:r>
              <a:rPr lang="en-GB" dirty="0"/>
              <a:t> (</a:t>
            </a:r>
            <a:r>
              <a:rPr lang="en-GB" dirty="0" err="1"/>
              <a:t>Quadratica</a:t>
            </a:r>
            <a:r>
              <a:rPr lang="en-GB" dirty="0"/>
              <a:t> rispetto a </a:t>
            </a:r>
            <a:r>
              <a:rPr lang="en-GB" dirty="0" err="1"/>
              <a:t>h</a:t>
            </a:r>
            <a:r>
              <a:rPr lang="en-GB" dirty="0" err="1">
                <a:effectLst/>
              </a:rPr>
              <a:t>w</a:t>
            </a:r>
            <a:r>
              <a:rPr lang="en-GB" dirty="0"/>
              <a:t>).</a:t>
            </a:r>
          </a:p>
          <a:p>
            <a:pPr lvl="1"/>
            <a:r>
              <a:rPr lang="en-GB" dirty="0"/>
              <a:t>Window-MSA: 4h</a:t>
            </a:r>
            <a:r>
              <a:rPr lang="en-GB" dirty="0">
                <a:effectLst/>
              </a:rPr>
              <a:t>wC2</a:t>
            </a:r>
            <a:r>
              <a:rPr lang="en-GB" dirty="0"/>
              <a:t>+2</a:t>
            </a:r>
            <a:r>
              <a:rPr lang="en-GB" dirty="0">
                <a:effectLst/>
              </a:rPr>
              <a:t>M2</a:t>
            </a:r>
            <a:r>
              <a:rPr lang="en-GB" dirty="0"/>
              <a:t>h</a:t>
            </a:r>
            <a:r>
              <a:rPr lang="en-GB" dirty="0">
                <a:effectLst/>
              </a:rPr>
              <a:t>wC</a:t>
            </a:r>
            <a:r>
              <a:rPr lang="en-GB" dirty="0"/>
              <a:t> (</a:t>
            </a:r>
            <a:r>
              <a:rPr lang="en-GB" dirty="0" err="1"/>
              <a:t>Lineare</a:t>
            </a:r>
            <a:r>
              <a:rPr lang="en-GB" dirty="0"/>
              <a:t> rispetto a </a:t>
            </a:r>
            <a:r>
              <a:rPr lang="en-GB" dirty="0" err="1"/>
              <a:t>h</a:t>
            </a:r>
            <a:r>
              <a:rPr lang="en-GB" dirty="0" err="1">
                <a:effectLst/>
              </a:rPr>
              <a:t>w</a:t>
            </a:r>
            <a:r>
              <a:rPr lang="en-GB" dirty="0"/>
              <a:t>).</a:t>
            </a:r>
          </a:p>
          <a:p>
            <a:r>
              <a:rPr lang="en-GB" b="1" dirty="0" err="1"/>
              <a:t>Vantaggio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Scalabile</a:t>
            </a:r>
            <a:r>
              <a:rPr lang="en-GB" dirty="0"/>
              <a:t> per </a:t>
            </a:r>
            <a:r>
              <a:rPr lang="en-GB" dirty="0" err="1"/>
              <a:t>immagini</a:t>
            </a:r>
            <a:r>
              <a:rPr lang="en-GB" dirty="0"/>
              <a:t> di </a:t>
            </a:r>
            <a:r>
              <a:rPr lang="en-GB" dirty="0" err="1"/>
              <a:t>grandi</a:t>
            </a:r>
            <a:r>
              <a:rPr lang="en-GB" dirty="0"/>
              <a:t> </a:t>
            </a:r>
            <a:r>
              <a:rPr lang="en-GB" dirty="0" err="1"/>
              <a:t>dimensioni</a:t>
            </a:r>
            <a:endParaRPr lang="en-GB" dirty="0"/>
          </a:p>
          <a:p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26671975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F7A67-E251-0A15-86F4-1CFE1B3C3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Shifted Window Partitioning (SW-MSA)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0632F6-4444-AF89-6E22-C73EF0E33E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Il </a:t>
            </a:r>
            <a:r>
              <a:rPr lang="en-GB" b="1" dirty="0" err="1"/>
              <a:t>problema</a:t>
            </a:r>
            <a:r>
              <a:rPr lang="en-GB" b="1" dirty="0"/>
              <a:t> delle </a:t>
            </a:r>
            <a:r>
              <a:rPr lang="en-GB" b="1" dirty="0" err="1"/>
              <a:t>finestre</a:t>
            </a:r>
            <a:r>
              <a:rPr lang="en-GB" b="1" dirty="0"/>
              <a:t> </a:t>
            </a:r>
            <a:r>
              <a:rPr lang="en-GB" b="1" dirty="0" err="1"/>
              <a:t>fisse</a:t>
            </a:r>
            <a:r>
              <a:rPr lang="en-GB" b="1" dirty="0"/>
              <a:t>:</a:t>
            </a:r>
            <a:r>
              <a:rPr lang="en-GB" dirty="0"/>
              <a:t> Le </a:t>
            </a:r>
            <a:r>
              <a:rPr lang="en-GB" dirty="0" err="1"/>
              <a:t>finestre</a:t>
            </a:r>
            <a:r>
              <a:rPr lang="en-GB" dirty="0"/>
              <a:t> non </a:t>
            </a:r>
            <a:r>
              <a:rPr lang="en-GB" dirty="0" err="1"/>
              <a:t>sovrapposte</a:t>
            </a:r>
            <a:r>
              <a:rPr lang="en-GB" dirty="0"/>
              <a:t> </a:t>
            </a:r>
            <a:r>
              <a:rPr lang="en-GB" dirty="0" err="1"/>
              <a:t>mancano</a:t>
            </a:r>
            <a:r>
              <a:rPr lang="en-GB" dirty="0"/>
              <a:t> di </a:t>
            </a:r>
            <a:r>
              <a:rPr lang="en-GB" dirty="0" err="1"/>
              <a:t>connessioni</a:t>
            </a:r>
            <a:r>
              <a:rPr lang="en-GB" dirty="0"/>
              <a:t> </a:t>
            </a:r>
            <a:r>
              <a:rPr lang="en-GB" dirty="0" err="1"/>
              <a:t>tra</a:t>
            </a:r>
            <a:r>
              <a:rPr lang="en-GB" dirty="0"/>
              <a:t> loro, </a:t>
            </a:r>
            <a:r>
              <a:rPr lang="en-GB" dirty="0" err="1"/>
              <a:t>limitando</a:t>
            </a:r>
            <a:r>
              <a:rPr lang="en-GB" dirty="0"/>
              <a:t> la </a:t>
            </a:r>
            <a:r>
              <a:rPr lang="en-GB" dirty="0" err="1"/>
              <a:t>potenza</a:t>
            </a:r>
            <a:r>
              <a:rPr lang="en-GB" dirty="0"/>
              <a:t> di </a:t>
            </a:r>
            <a:r>
              <a:rPr lang="en-GB" dirty="0" err="1"/>
              <a:t>modellazione</a:t>
            </a:r>
            <a:r>
              <a:rPr lang="en-GB" dirty="0"/>
              <a:t>.</a:t>
            </a:r>
          </a:p>
          <a:p>
            <a:r>
              <a:rPr lang="en-GB" b="1" dirty="0"/>
              <a:t>La </a:t>
            </a:r>
            <a:r>
              <a:rPr lang="en-GB" b="1" dirty="0" err="1"/>
              <a:t>Soluzione</a:t>
            </a:r>
            <a:r>
              <a:rPr lang="en-GB" b="1" dirty="0"/>
              <a:t> (Shifted Windows):</a:t>
            </a:r>
            <a:r>
              <a:rPr lang="en-GB" dirty="0"/>
              <a:t>                                                         </a:t>
            </a:r>
            <a:r>
              <a:rPr lang="en-GB" dirty="0" err="1"/>
              <a:t>Alternare</a:t>
            </a:r>
            <a:r>
              <a:rPr lang="en-GB" dirty="0"/>
              <a:t> la </a:t>
            </a:r>
            <a:r>
              <a:rPr lang="en-GB" dirty="0" err="1"/>
              <a:t>partizione</a:t>
            </a:r>
            <a:r>
              <a:rPr lang="en-GB" dirty="0"/>
              <a:t> delle </a:t>
            </a:r>
            <a:r>
              <a:rPr lang="en-GB" dirty="0" err="1"/>
              <a:t>finestre</a:t>
            </a:r>
            <a:r>
              <a:rPr lang="en-GB" dirty="0"/>
              <a:t>                                                                     </a:t>
            </a:r>
            <a:r>
              <a:rPr lang="en-GB" dirty="0" err="1"/>
              <a:t>tra</a:t>
            </a:r>
            <a:r>
              <a:rPr lang="en-GB" dirty="0"/>
              <a:t> </a:t>
            </a:r>
            <a:r>
              <a:rPr lang="en-GB" dirty="0" err="1"/>
              <a:t>blocchi</a:t>
            </a:r>
            <a:r>
              <a:rPr lang="en-GB" dirty="0"/>
              <a:t> </a:t>
            </a:r>
            <a:r>
              <a:rPr lang="en-GB" dirty="0" err="1"/>
              <a:t>consecutivi</a:t>
            </a:r>
            <a:r>
              <a:rPr lang="en-GB" dirty="0"/>
              <a:t>.</a:t>
            </a:r>
          </a:p>
          <a:p>
            <a:pPr lvl="1"/>
            <a:r>
              <a:rPr lang="en-GB" b="1" dirty="0"/>
              <a:t>Layer </a:t>
            </a:r>
            <a:r>
              <a:rPr lang="en-GB" dirty="0">
                <a:effectLst/>
              </a:rPr>
              <a:t>l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Partizione</a:t>
            </a:r>
            <a:r>
              <a:rPr lang="en-GB" dirty="0"/>
              <a:t> </a:t>
            </a:r>
            <a:r>
              <a:rPr lang="en-GB" dirty="0" err="1"/>
              <a:t>regolare</a:t>
            </a:r>
            <a:r>
              <a:rPr lang="en-GB" dirty="0"/>
              <a:t>.</a:t>
            </a:r>
          </a:p>
          <a:p>
            <a:pPr lvl="1"/>
            <a:r>
              <a:rPr lang="en-GB" b="1" dirty="0"/>
              <a:t>Layer </a:t>
            </a:r>
            <a:r>
              <a:rPr lang="en-GB" dirty="0">
                <a:effectLst/>
              </a:rPr>
              <a:t>l</a:t>
            </a:r>
            <a:r>
              <a:rPr lang="en-GB" dirty="0"/>
              <a:t>+1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Partizione</a:t>
            </a:r>
            <a:r>
              <a:rPr lang="en-GB" dirty="0"/>
              <a:t> </a:t>
            </a:r>
            <a:r>
              <a:rPr lang="en-GB" dirty="0" err="1"/>
              <a:t>traslata</a:t>
            </a:r>
            <a:r>
              <a:rPr lang="en-GB" dirty="0"/>
              <a:t> (</a:t>
            </a:r>
            <a:r>
              <a:rPr lang="en-GB" dirty="0" err="1"/>
              <a:t>spostata</a:t>
            </a:r>
            <a:r>
              <a:rPr lang="en-GB" dirty="0"/>
              <a:t>) di (</a:t>
            </a:r>
            <a:r>
              <a:rPr lang="en-GB" dirty="0">
                <a:effectLst/>
              </a:rPr>
              <a:t>M</a:t>
            </a:r>
            <a:r>
              <a:rPr lang="en-GB" dirty="0"/>
              <a:t>/2,</a:t>
            </a:r>
            <a:r>
              <a:rPr lang="en-GB" dirty="0">
                <a:effectLst/>
              </a:rPr>
              <a:t>M</a:t>
            </a:r>
            <a:r>
              <a:rPr lang="en-GB" dirty="0"/>
              <a:t>/2) pixel.</a:t>
            </a:r>
          </a:p>
          <a:p>
            <a:r>
              <a:rPr lang="en-GB" b="1" dirty="0" err="1"/>
              <a:t>Effetto</a:t>
            </a:r>
            <a:r>
              <a:rPr lang="en-GB" b="1" dirty="0"/>
              <a:t>:</a:t>
            </a:r>
            <a:r>
              <a:rPr lang="en-GB" dirty="0"/>
              <a:t> Introduce </a:t>
            </a:r>
            <a:r>
              <a:rPr lang="en-GB" dirty="0" err="1"/>
              <a:t>connessioni</a:t>
            </a:r>
            <a:r>
              <a:rPr lang="en-GB" dirty="0"/>
              <a:t> </a:t>
            </a:r>
            <a:r>
              <a:rPr lang="en-GB" dirty="0" err="1"/>
              <a:t>tra</a:t>
            </a:r>
            <a:r>
              <a:rPr lang="en-GB" dirty="0"/>
              <a:t> </a:t>
            </a:r>
            <a:r>
              <a:rPr lang="en-GB" dirty="0" err="1"/>
              <a:t>finestre</a:t>
            </a:r>
            <a:r>
              <a:rPr lang="en-GB" dirty="0"/>
              <a:t> vicine del layer </a:t>
            </a:r>
            <a:r>
              <a:rPr lang="en-GB" dirty="0" err="1"/>
              <a:t>precedente</a:t>
            </a:r>
            <a:r>
              <a:rPr lang="en-GB" dirty="0"/>
              <a:t>, </a:t>
            </a:r>
            <a:r>
              <a:rPr lang="en-GB" dirty="0" err="1"/>
              <a:t>mantenendo</a:t>
            </a:r>
            <a:r>
              <a:rPr lang="en-GB" dirty="0"/>
              <a:t> </a:t>
            </a:r>
            <a:r>
              <a:rPr lang="en-GB" dirty="0" err="1"/>
              <a:t>l'efficienza</a:t>
            </a:r>
            <a:endParaRPr lang="en-GB" dirty="0"/>
          </a:p>
          <a:p>
            <a:endParaRPr lang="en-IT" dirty="0"/>
          </a:p>
        </p:txBody>
      </p:sp>
      <p:pic>
        <p:nvPicPr>
          <p:cNvPr id="4" name="Picture 3" descr="A screenshot of a layer of a window&#10;&#10;AI-generated content may be incorrect.">
            <a:extLst>
              <a:ext uri="{FF2B5EF4-FFF2-40B4-BE49-F238E27FC236}">
                <a16:creationId xmlns:a16="http://schemas.microsoft.com/office/drawing/2014/main" id="{E2F05FA6-3B5B-CAA2-638A-A283D2198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8540" y="2769668"/>
            <a:ext cx="4616925" cy="1722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8318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466D6-3675-C8F7-EA14-1AC686642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SW-MSA: </a:t>
            </a:r>
            <a:r>
              <a:rPr lang="en-GB" b="1" dirty="0" err="1"/>
              <a:t>Calcolo</a:t>
            </a:r>
            <a:r>
              <a:rPr lang="en-GB" b="1" dirty="0"/>
              <a:t> </a:t>
            </a:r>
            <a:r>
              <a:rPr lang="en-GB" b="1" dirty="0" err="1"/>
              <a:t>Efficiente</a:t>
            </a:r>
            <a:r>
              <a:rPr lang="en-GB" b="1" dirty="0"/>
              <a:t> (Cyclic Shift)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329C9-AEEB-E95D-9196-048FB706D2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GB" b="1" dirty="0" err="1"/>
              <a:t>Sfida</a:t>
            </a:r>
            <a:r>
              <a:rPr lang="en-GB" b="1" dirty="0"/>
              <a:t>:</a:t>
            </a:r>
            <a:r>
              <a:rPr lang="en-GB" dirty="0"/>
              <a:t> Lo </a:t>
            </a:r>
            <a:r>
              <a:rPr lang="en-GB" dirty="0" err="1"/>
              <a:t>spostamento</a:t>
            </a:r>
            <a:r>
              <a:rPr lang="en-GB" dirty="0"/>
              <a:t> delle </a:t>
            </a:r>
            <a:r>
              <a:rPr lang="en-GB" dirty="0" err="1"/>
              <a:t>finestre</a:t>
            </a:r>
            <a:r>
              <a:rPr lang="en-GB" dirty="0"/>
              <a:t> (shifting) </a:t>
            </a:r>
            <a:r>
              <a:rPr lang="en-GB" dirty="0" err="1"/>
              <a:t>crea</a:t>
            </a:r>
            <a:r>
              <a:rPr lang="en-GB" dirty="0"/>
              <a:t> </a:t>
            </a:r>
            <a:r>
              <a:rPr lang="en-GB" dirty="0" err="1"/>
              <a:t>più</a:t>
            </a:r>
            <a:r>
              <a:rPr lang="en-GB" dirty="0"/>
              <a:t> </a:t>
            </a:r>
            <a:r>
              <a:rPr lang="en-GB" dirty="0" err="1"/>
              <a:t>finestre</a:t>
            </a:r>
            <a:r>
              <a:rPr lang="en-GB" dirty="0"/>
              <a:t>, </a:t>
            </a:r>
            <a:r>
              <a:rPr lang="en-GB" dirty="0" err="1"/>
              <a:t>alcune</a:t>
            </a:r>
            <a:r>
              <a:rPr lang="en-GB" dirty="0"/>
              <a:t> delle </a:t>
            </a:r>
            <a:r>
              <a:rPr lang="en-GB" dirty="0" err="1"/>
              <a:t>quali</a:t>
            </a:r>
            <a:r>
              <a:rPr lang="en-GB" dirty="0"/>
              <a:t> </a:t>
            </a:r>
            <a:r>
              <a:rPr lang="en-GB" dirty="0" err="1"/>
              <a:t>più</a:t>
            </a:r>
            <a:r>
              <a:rPr lang="en-GB" dirty="0"/>
              <a:t> </a:t>
            </a:r>
            <a:r>
              <a:rPr lang="en-GB" dirty="0" err="1"/>
              <a:t>piccole</a:t>
            </a:r>
            <a:r>
              <a:rPr lang="en-GB" dirty="0"/>
              <a:t> di </a:t>
            </a:r>
            <a:r>
              <a:rPr lang="en-GB" dirty="0">
                <a:effectLst/>
              </a:rPr>
              <a:t>M</a:t>
            </a:r>
            <a:r>
              <a:rPr lang="en-GB" dirty="0"/>
              <a:t>×</a:t>
            </a:r>
            <a:r>
              <a:rPr lang="en-GB" dirty="0">
                <a:effectLst/>
              </a:rPr>
              <a:t>M</a:t>
            </a:r>
            <a:r>
              <a:rPr lang="en-GB" dirty="0"/>
              <a:t>.</a:t>
            </a:r>
          </a:p>
          <a:p>
            <a:r>
              <a:rPr lang="en-GB" b="1" dirty="0" err="1"/>
              <a:t>Soluzione</a:t>
            </a:r>
            <a:r>
              <a:rPr lang="en-GB" b="1" dirty="0"/>
              <a:t> Naive:</a:t>
            </a:r>
            <a:r>
              <a:rPr lang="en-GB" dirty="0"/>
              <a:t> Padding (</a:t>
            </a:r>
            <a:r>
              <a:rPr lang="en-GB" dirty="0" err="1"/>
              <a:t>riempimento</a:t>
            </a:r>
            <a:r>
              <a:rPr lang="en-GB" dirty="0"/>
              <a:t>) delle </a:t>
            </a:r>
            <a:r>
              <a:rPr lang="en-GB" dirty="0" err="1"/>
              <a:t>finestre</a:t>
            </a:r>
            <a:r>
              <a:rPr lang="en-GB" dirty="0"/>
              <a:t> </a:t>
            </a:r>
            <a:r>
              <a:rPr lang="en-GB" dirty="0" err="1"/>
              <a:t>piccole</a:t>
            </a:r>
            <a:r>
              <a:rPr lang="en-GB" dirty="0"/>
              <a:t> -&gt; </a:t>
            </a:r>
            <a:r>
              <a:rPr lang="en-GB" dirty="0" err="1"/>
              <a:t>Aumenta</a:t>
            </a:r>
            <a:r>
              <a:rPr lang="en-GB" dirty="0"/>
              <a:t> il </a:t>
            </a:r>
            <a:r>
              <a:rPr lang="en-GB" dirty="0" err="1"/>
              <a:t>calcolo</a:t>
            </a:r>
            <a:r>
              <a:rPr lang="en-GB" dirty="0"/>
              <a:t> (2×2 </a:t>
            </a:r>
            <a:r>
              <a:rPr lang="en-GB" dirty="0" err="1"/>
              <a:t>diventa</a:t>
            </a:r>
            <a:r>
              <a:rPr lang="en-GB" dirty="0"/>
              <a:t> 3×3).</a:t>
            </a:r>
          </a:p>
          <a:p>
            <a:r>
              <a:rPr lang="en-GB" b="1" dirty="0" err="1"/>
              <a:t>Soluzione</a:t>
            </a:r>
            <a:r>
              <a:rPr lang="en-GB" b="1" dirty="0"/>
              <a:t> Swin (Cyclic Shift):</a:t>
            </a:r>
            <a:r>
              <a:rPr lang="en-GB" dirty="0"/>
              <a:t> Sposta </a:t>
            </a:r>
            <a:r>
              <a:rPr lang="en-GB" dirty="0" err="1"/>
              <a:t>ciclicamente</a:t>
            </a:r>
            <a:r>
              <a:rPr lang="en-GB" dirty="0"/>
              <a:t> </a:t>
            </a:r>
            <a:r>
              <a:rPr lang="en-GB" dirty="0" err="1"/>
              <a:t>l'immagine</a:t>
            </a:r>
            <a:r>
              <a:rPr lang="en-GB" dirty="0"/>
              <a:t> verso </a:t>
            </a:r>
            <a:r>
              <a:rPr lang="en-GB" dirty="0" err="1"/>
              <a:t>l'alto</a:t>
            </a:r>
            <a:r>
              <a:rPr lang="en-GB" dirty="0"/>
              <a:t> a sinistra.</a:t>
            </a:r>
          </a:p>
          <a:p>
            <a:pPr lvl="1"/>
            <a:r>
              <a:rPr lang="en-GB" dirty="0"/>
              <a:t>Le </a:t>
            </a:r>
            <a:r>
              <a:rPr lang="en-GB" dirty="0" err="1"/>
              <a:t>finestre</a:t>
            </a:r>
            <a:r>
              <a:rPr lang="en-GB" dirty="0"/>
              <a:t> </a:t>
            </a:r>
            <a:r>
              <a:rPr lang="en-GB" dirty="0" err="1"/>
              <a:t>vengono</a:t>
            </a:r>
            <a:r>
              <a:rPr lang="en-GB" dirty="0"/>
              <a:t> </a:t>
            </a:r>
            <a:r>
              <a:rPr lang="en-GB" dirty="0" err="1"/>
              <a:t>composte</a:t>
            </a:r>
            <a:r>
              <a:rPr lang="en-GB" dirty="0"/>
              <a:t> da sotto-parti non </a:t>
            </a:r>
            <a:r>
              <a:rPr lang="en-GB" dirty="0" err="1"/>
              <a:t>adiacenti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Si </a:t>
            </a:r>
            <a:r>
              <a:rPr lang="en-GB" dirty="0" err="1"/>
              <a:t>utilizza</a:t>
            </a:r>
            <a:r>
              <a:rPr lang="en-GB" dirty="0"/>
              <a:t> un </a:t>
            </a:r>
            <a:r>
              <a:rPr lang="en-GB" b="1" dirty="0"/>
              <a:t>Masked MSA</a:t>
            </a:r>
            <a:r>
              <a:rPr lang="en-GB" dirty="0"/>
              <a:t> per </a:t>
            </a:r>
            <a:r>
              <a:rPr lang="en-GB" dirty="0" err="1"/>
              <a:t>limitare</a:t>
            </a:r>
            <a:r>
              <a:rPr lang="en-GB" dirty="0"/>
              <a:t> </a:t>
            </a:r>
            <a:r>
              <a:rPr lang="en-GB" dirty="0" err="1"/>
              <a:t>l'attenzione</a:t>
            </a:r>
            <a:r>
              <a:rPr lang="en-GB" dirty="0"/>
              <a:t> </a:t>
            </a:r>
            <a:r>
              <a:rPr lang="en-GB" dirty="0" err="1"/>
              <a:t>all'interno</a:t>
            </a:r>
            <a:r>
              <a:rPr lang="en-GB" dirty="0"/>
              <a:t> di </a:t>
            </a:r>
            <a:r>
              <a:rPr lang="en-GB" dirty="0" err="1"/>
              <a:t>ciascuna</a:t>
            </a:r>
            <a:r>
              <a:rPr lang="en-GB" dirty="0"/>
              <a:t> sotto-</a:t>
            </a:r>
            <a:r>
              <a:rPr lang="en-GB" dirty="0" err="1"/>
              <a:t>finestra</a:t>
            </a:r>
            <a:r>
              <a:rPr lang="en-GB" dirty="0"/>
              <a:t> </a:t>
            </a:r>
            <a:r>
              <a:rPr lang="en-GB" dirty="0" err="1"/>
              <a:t>contigua</a:t>
            </a:r>
            <a:r>
              <a:rPr lang="en-GB" dirty="0"/>
              <a:t>.</a:t>
            </a:r>
          </a:p>
          <a:p>
            <a:r>
              <a:rPr lang="en-GB" b="1" dirty="0" err="1"/>
              <a:t>Vantaggio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Mantiene</a:t>
            </a:r>
            <a:r>
              <a:rPr lang="en-GB" dirty="0"/>
              <a:t> lo </a:t>
            </a:r>
            <a:r>
              <a:rPr lang="en-GB" dirty="0" err="1"/>
              <a:t>stesso</a:t>
            </a:r>
            <a:r>
              <a:rPr lang="en-GB" dirty="0"/>
              <a:t> </a:t>
            </a:r>
            <a:r>
              <a:rPr lang="en-GB" dirty="0" err="1"/>
              <a:t>numero</a:t>
            </a:r>
            <a:r>
              <a:rPr lang="en-GB" dirty="0"/>
              <a:t> di </a:t>
            </a:r>
            <a:r>
              <a:rPr lang="en-GB" dirty="0" err="1"/>
              <a:t>finestre</a:t>
            </a:r>
            <a:r>
              <a:rPr lang="en-GB" dirty="0"/>
              <a:t> della </a:t>
            </a:r>
            <a:r>
              <a:rPr lang="en-GB" dirty="0" err="1"/>
              <a:t>partizione</a:t>
            </a:r>
            <a:r>
              <a:rPr lang="en-GB" dirty="0"/>
              <a:t> </a:t>
            </a:r>
            <a:r>
              <a:rPr lang="en-GB" dirty="0" err="1"/>
              <a:t>regolare</a:t>
            </a:r>
            <a:r>
              <a:rPr lang="en-GB" dirty="0"/>
              <a:t>, </a:t>
            </a:r>
            <a:r>
              <a:rPr lang="en-GB" dirty="0" err="1"/>
              <a:t>garantendo</a:t>
            </a:r>
            <a:r>
              <a:rPr lang="en-GB" dirty="0"/>
              <a:t> </a:t>
            </a:r>
            <a:r>
              <a:rPr lang="en-GB" dirty="0" err="1"/>
              <a:t>bassa</a:t>
            </a:r>
            <a:r>
              <a:rPr lang="en-GB" dirty="0"/>
              <a:t> </a:t>
            </a:r>
            <a:r>
              <a:rPr lang="en-GB" dirty="0" err="1"/>
              <a:t>latenza</a:t>
            </a:r>
            <a:r>
              <a:rPr lang="en-GB" dirty="0"/>
              <a:t>.</a:t>
            </a:r>
          </a:p>
          <a:p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16032614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C5C48-1559-FD73-859C-937E51C46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Relative Position Bias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F6047D-22A6-6C3B-5E23-0467A5C842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Char char="-"/>
            </a:pPr>
            <a:r>
              <a:rPr lang="en-GB" b="1" dirty="0" err="1"/>
              <a:t>Meccanismo</a:t>
            </a:r>
            <a:r>
              <a:rPr lang="en-GB" b="1" dirty="0"/>
              <a:t>:</a:t>
            </a:r>
            <a:r>
              <a:rPr lang="en-GB" dirty="0"/>
              <a:t> Durante il </a:t>
            </a:r>
            <a:r>
              <a:rPr lang="en-GB" dirty="0" err="1"/>
              <a:t>calcolo</a:t>
            </a:r>
            <a:r>
              <a:rPr lang="en-GB" dirty="0"/>
              <a:t> della </a:t>
            </a:r>
            <a:r>
              <a:rPr lang="en-GB" dirty="0" err="1"/>
              <a:t>similarità</a:t>
            </a:r>
            <a:r>
              <a:rPr lang="en-GB" dirty="0"/>
              <a:t> </a:t>
            </a:r>
            <a:r>
              <a:rPr lang="en-GB" dirty="0" err="1"/>
              <a:t>nell'attenzione</a:t>
            </a:r>
            <a:r>
              <a:rPr lang="en-GB" dirty="0"/>
              <a:t>, </a:t>
            </a:r>
            <a:r>
              <a:rPr lang="en-GB" dirty="0" err="1"/>
              <a:t>viene</a:t>
            </a:r>
            <a:r>
              <a:rPr lang="en-GB" dirty="0"/>
              <a:t> </a:t>
            </a:r>
            <a:r>
              <a:rPr lang="en-GB" dirty="0" err="1"/>
              <a:t>aggiunto</a:t>
            </a:r>
            <a:r>
              <a:rPr lang="en-GB" dirty="0"/>
              <a:t> un </a:t>
            </a:r>
            <a:r>
              <a:rPr lang="en-GB" dirty="0" err="1"/>
              <a:t>termine</a:t>
            </a:r>
            <a:r>
              <a:rPr lang="en-GB" dirty="0"/>
              <a:t> di bias </a:t>
            </a:r>
            <a:r>
              <a:rPr lang="en-GB" dirty="0">
                <a:effectLst/>
              </a:rPr>
              <a:t>B</a:t>
            </a:r>
            <a:r>
              <a:rPr lang="en-GB" dirty="0"/>
              <a:t> </a:t>
            </a:r>
            <a:r>
              <a:rPr lang="en-GB" dirty="0" err="1"/>
              <a:t>relativo</a:t>
            </a:r>
            <a:r>
              <a:rPr lang="en-GB" dirty="0"/>
              <a:t> alla </a:t>
            </a:r>
            <a:r>
              <a:rPr lang="en-GB" dirty="0" err="1"/>
              <a:t>posizione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dirty="0"/>
          </a:p>
          <a:p>
            <a:endParaRPr lang="en-GB" b="1" dirty="0"/>
          </a:p>
          <a:p>
            <a:r>
              <a:rPr lang="en-GB" b="1" dirty="0" err="1"/>
              <a:t>Importanza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Migliora</a:t>
            </a:r>
            <a:r>
              <a:rPr lang="en-GB" dirty="0"/>
              <a:t> </a:t>
            </a:r>
            <a:r>
              <a:rPr lang="en-GB" dirty="0" err="1"/>
              <a:t>significativamente</a:t>
            </a:r>
            <a:r>
              <a:rPr lang="en-GB" dirty="0"/>
              <a:t> le </a:t>
            </a:r>
            <a:r>
              <a:rPr lang="en-GB" dirty="0" err="1"/>
              <a:t>prestazioni</a:t>
            </a:r>
            <a:r>
              <a:rPr lang="en-GB" dirty="0"/>
              <a:t> rispetto </a:t>
            </a:r>
            <a:r>
              <a:rPr lang="en-GB" dirty="0" err="1"/>
              <a:t>all'assenza</a:t>
            </a:r>
            <a:r>
              <a:rPr lang="en-GB" dirty="0"/>
              <a:t> di </a:t>
            </a:r>
            <a:r>
              <a:rPr lang="en-GB" dirty="0" err="1"/>
              <a:t>codifica</a:t>
            </a:r>
            <a:r>
              <a:rPr lang="en-GB" dirty="0"/>
              <a:t> </a:t>
            </a:r>
            <a:r>
              <a:rPr lang="en-GB" dirty="0" err="1"/>
              <a:t>posizionale</a:t>
            </a:r>
            <a:r>
              <a:rPr lang="en-GB" dirty="0"/>
              <a:t> o </a:t>
            </a:r>
            <a:r>
              <a:rPr lang="en-GB" dirty="0" err="1"/>
              <a:t>all'uso</a:t>
            </a:r>
            <a:r>
              <a:rPr lang="en-GB" dirty="0"/>
              <a:t> di embedding </a:t>
            </a:r>
            <a:r>
              <a:rPr lang="en-GB" dirty="0" err="1"/>
              <a:t>posizionali</a:t>
            </a:r>
            <a:r>
              <a:rPr lang="en-GB" dirty="0"/>
              <a:t> </a:t>
            </a:r>
            <a:r>
              <a:rPr lang="en-GB" dirty="0" err="1"/>
              <a:t>assoluti</a:t>
            </a:r>
            <a:r>
              <a:rPr lang="en-GB" dirty="0"/>
              <a:t> (</a:t>
            </a:r>
            <a:r>
              <a:rPr lang="en-GB" dirty="0" err="1"/>
              <a:t>tipici</a:t>
            </a:r>
            <a:r>
              <a:rPr lang="en-GB" dirty="0"/>
              <a:t> di </a:t>
            </a:r>
            <a:r>
              <a:rPr lang="en-GB" dirty="0" err="1"/>
              <a:t>ViT</a:t>
            </a:r>
            <a:r>
              <a:rPr lang="en-GB" dirty="0"/>
              <a:t>).</a:t>
            </a:r>
          </a:p>
          <a:p>
            <a:r>
              <a:rPr lang="en-GB" dirty="0" err="1"/>
              <a:t>L'induttività</a:t>
            </a:r>
            <a:r>
              <a:rPr lang="en-GB" dirty="0"/>
              <a:t> della </a:t>
            </a:r>
            <a:r>
              <a:rPr lang="en-GB" dirty="0" err="1"/>
              <a:t>traslazione</a:t>
            </a:r>
            <a:r>
              <a:rPr lang="en-GB" dirty="0"/>
              <a:t> (</a:t>
            </a:r>
            <a:r>
              <a:rPr lang="en-GB" dirty="0" err="1"/>
              <a:t>invarianza</a:t>
            </a:r>
            <a:r>
              <a:rPr lang="en-GB" dirty="0"/>
              <a:t>) </a:t>
            </a:r>
            <a:r>
              <a:rPr lang="en-GB" dirty="0" err="1"/>
              <a:t>si</a:t>
            </a:r>
            <a:r>
              <a:rPr lang="en-GB" dirty="0"/>
              <a:t> </a:t>
            </a:r>
            <a:r>
              <a:rPr lang="en-GB" dirty="0" err="1"/>
              <a:t>rivela</a:t>
            </a:r>
            <a:r>
              <a:rPr lang="en-GB" dirty="0"/>
              <a:t> </a:t>
            </a:r>
            <a:r>
              <a:rPr lang="en-GB" dirty="0" err="1"/>
              <a:t>ancora</a:t>
            </a:r>
            <a:r>
              <a:rPr lang="en-GB" dirty="0"/>
              <a:t> </a:t>
            </a:r>
            <a:r>
              <a:rPr lang="en-GB" dirty="0" err="1"/>
              <a:t>cruciale</a:t>
            </a:r>
            <a:r>
              <a:rPr lang="en-GB" dirty="0"/>
              <a:t> per la </a:t>
            </a:r>
            <a:r>
              <a:rPr lang="en-GB" dirty="0" err="1"/>
              <a:t>modellazione</a:t>
            </a:r>
            <a:r>
              <a:rPr lang="en-GB" dirty="0"/>
              <a:t> </a:t>
            </a:r>
            <a:r>
              <a:rPr lang="en-GB" dirty="0" err="1"/>
              <a:t>visiva</a:t>
            </a:r>
            <a:endParaRPr lang="en-GB" dirty="0"/>
          </a:p>
          <a:p>
            <a:pPr>
              <a:buFontTx/>
              <a:buChar char="-"/>
            </a:pPr>
            <a:endParaRPr lang="en-I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6F790A-6B40-32C5-38CE-C87FE78CD9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392" y="2907748"/>
            <a:ext cx="7167215" cy="521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2039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56578-C5A5-44C4-6873-B57A663B9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 err="1"/>
              <a:t>Varianti</a:t>
            </a:r>
            <a:r>
              <a:rPr lang="en-GB" b="1" dirty="0"/>
              <a:t> </a:t>
            </a:r>
            <a:r>
              <a:rPr lang="en-GB" b="1" dirty="0" err="1"/>
              <a:t>dell'Architettura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936D8D-F363-71FF-3A04-FDBC7A9D2F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Per </a:t>
            </a:r>
            <a:r>
              <a:rPr lang="en-GB" dirty="0" err="1"/>
              <a:t>confrontarsi</a:t>
            </a:r>
            <a:r>
              <a:rPr lang="en-GB" dirty="0"/>
              <a:t> con </a:t>
            </a:r>
            <a:r>
              <a:rPr lang="en-GB" dirty="0" err="1"/>
              <a:t>modelli</a:t>
            </a:r>
            <a:r>
              <a:rPr lang="en-GB" dirty="0"/>
              <a:t> </a:t>
            </a:r>
            <a:r>
              <a:rPr lang="en-GB" dirty="0" err="1"/>
              <a:t>esistenti</a:t>
            </a:r>
            <a:r>
              <a:rPr lang="en-GB" dirty="0"/>
              <a:t> (es. </a:t>
            </a:r>
            <a:r>
              <a:rPr lang="en-GB" dirty="0" err="1"/>
              <a:t>ResNet</a:t>
            </a:r>
            <a:r>
              <a:rPr lang="en-GB" dirty="0"/>
              <a:t>, </a:t>
            </a:r>
            <a:r>
              <a:rPr lang="en-GB" dirty="0" err="1"/>
              <a:t>DeiT</a:t>
            </a:r>
            <a:r>
              <a:rPr lang="en-GB" dirty="0"/>
              <a:t>), Swin </a:t>
            </a:r>
            <a:r>
              <a:rPr lang="en-GB" dirty="0" err="1"/>
              <a:t>è</a:t>
            </a:r>
            <a:r>
              <a:rPr lang="en-GB" dirty="0"/>
              <a:t> </a:t>
            </a:r>
            <a:r>
              <a:rPr lang="en-GB" dirty="0" err="1"/>
              <a:t>proposto</a:t>
            </a:r>
            <a:r>
              <a:rPr lang="en-GB" dirty="0"/>
              <a:t> in diverse </a:t>
            </a:r>
            <a:r>
              <a:rPr lang="en-GB" dirty="0" err="1"/>
              <a:t>dimensioni</a:t>
            </a:r>
            <a:r>
              <a:rPr lang="en-GB" dirty="0"/>
              <a:t>:</a:t>
            </a:r>
          </a:p>
          <a:p>
            <a:pPr lvl="1"/>
            <a:r>
              <a:rPr lang="en-GB" b="1" dirty="0"/>
              <a:t>Swin-T (Tiny):</a:t>
            </a:r>
            <a:r>
              <a:rPr lang="en-GB" dirty="0"/>
              <a:t> Simile a ResNet-50 / </a:t>
            </a:r>
            <a:r>
              <a:rPr lang="en-GB" dirty="0" err="1"/>
              <a:t>DeiT</a:t>
            </a:r>
            <a:r>
              <a:rPr lang="en-GB" dirty="0"/>
              <a:t>-S (29M </a:t>
            </a:r>
            <a:r>
              <a:rPr lang="en-GB" dirty="0" err="1"/>
              <a:t>parametri</a:t>
            </a:r>
            <a:r>
              <a:rPr lang="en-GB" dirty="0"/>
              <a:t>).</a:t>
            </a:r>
          </a:p>
          <a:p>
            <a:pPr lvl="1"/>
            <a:r>
              <a:rPr lang="en-GB" b="1" dirty="0"/>
              <a:t>Swin-S (Small):</a:t>
            </a:r>
            <a:r>
              <a:rPr lang="en-GB" dirty="0"/>
              <a:t> Simile a ResNet-101 (50M </a:t>
            </a:r>
            <a:r>
              <a:rPr lang="en-GB" dirty="0" err="1"/>
              <a:t>parametri</a:t>
            </a:r>
            <a:r>
              <a:rPr lang="en-GB" dirty="0"/>
              <a:t>).</a:t>
            </a:r>
          </a:p>
          <a:p>
            <a:pPr lvl="1"/>
            <a:r>
              <a:rPr lang="en-GB" b="1" dirty="0"/>
              <a:t>Swin-B (Base):</a:t>
            </a:r>
            <a:r>
              <a:rPr lang="en-GB" dirty="0"/>
              <a:t> Simile a </a:t>
            </a:r>
            <a:r>
              <a:rPr lang="en-GB" dirty="0" err="1"/>
              <a:t>ViT</a:t>
            </a:r>
            <a:r>
              <a:rPr lang="en-GB" dirty="0"/>
              <a:t>-B / </a:t>
            </a:r>
            <a:r>
              <a:rPr lang="en-GB" dirty="0" err="1"/>
              <a:t>DeiT</a:t>
            </a:r>
            <a:r>
              <a:rPr lang="en-GB" dirty="0"/>
              <a:t>-B (88M </a:t>
            </a:r>
            <a:r>
              <a:rPr lang="en-GB" dirty="0" err="1"/>
              <a:t>parametri</a:t>
            </a:r>
            <a:r>
              <a:rPr lang="en-GB" dirty="0"/>
              <a:t>.</a:t>
            </a:r>
          </a:p>
          <a:p>
            <a:pPr lvl="1"/>
            <a:r>
              <a:rPr lang="en-GB" b="1" dirty="0"/>
              <a:t>Swin-L (Large):</a:t>
            </a:r>
            <a:r>
              <a:rPr lang="en-GB" dirty="0"/>
              <a:t> </a:t>
            </a:r>
            <a:r>
              <a:rPr lang="en-GB" dirty="0" err="1"/>
              <a:t>Modello</a:t>
            </a:r>
            <a:r>
              <a:rPr lang="en-GB" dirty="0"/>
              <a:t> </a:t>
            </a:r>
            <a:r>
              <a:rPr lang="en-GB" dirty="0" err="1"/>
              <a:t>più</a:t>
            </a:r>
            <a:r>
              <a:rPr lang="en-GB" dirty="0"/>
              <a:t> grande per </a:t>
            </a:r>
            <a:r>
              <a:rPr lang="en-GB" dirty="0" err="1"/>
              <a:t>prestazioni</a:t>
            </a:r>
            <a:r>
              <a:rPr lang="en-GB" dirty="0"/>
              <a:t> </a:t>
            </a:r>
            <a:r>
              <a:rPr lang="en-GB" dirty="0" err="1"/>
              <a:t>massime</a:t>
            </a:r>
            <a:r>
              <a:rPr lang="en-GB" dirty="0"/>
              <a:t> (197M </a:t>
            </a:r>
            <a:r>
              <a:rPr lang="en-GB" dirty="0" err="1"/>
              <a:t>parametri</a:t>
            </a:r>
            <a:r>
              <a:rPr lang="en-GB" dirty="0"/>
              <a:t>)</a:t>
            </a:r>
          </a:p>
          <a:p>
            <a:endParaRPr lang="en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613FE6-E325-EF66-846D-CE34677038E7}"/>
              </a:ext>
            </a:extLst>
          </p:cNvPr>
          <p:cNvSpPr txBox="1"/>
          <p:nvPr/>
        </p:nvSpPr>
        <p:spPr>
          <a:xfrm>
            <a:off x="6362163" y="1378039"/>
            <a:ext cx="13653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</a:t>
            </a:r>
            <a:r>
              <a:rPr lang="en-IT" dirty="0"/>
              <a:t>a togliere?</a:t>
            </a:r>
          </a:p>
        </p:txBody>
      </p:sp>
    </p:spTree>
    <p:extLst>
      <p:ext uri="{BB962C8B-B14F-4D97-AF65-F5344CB8AC3E}">
        <p14:creationId xmlns:p14="http://schemas.microsoft.com/office/powerpoint/2010/main" val="15498290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5187E-9715-046D-4694-40342D7D9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 err="1"/>
              <a:t>Risultati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DD45C6-7819-D866-1E98-DFE25728E2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 err="1"/>
              <a:t>Classificazione</a:t>
            </a:r>
            <a:r>
              <a:rPr lang="en-GB" dirty="0"/>
              <a:t>:</a:t>
            </a:r>
          </a:p>
          <a:p>
            <a:pPr lvl="1"/>
            <a:r>
              <a:rPr lang="en-GB" dirty="0"/>
              <a:t>Swin Transformer </a:t>
            </a:r>
            <a:r>
              <a:rPr lang="en-GB" dirty="0" err="1"/>
              <a:t>supera</a:t>
            </a:r>
            <a:r>
              <a:rPr lang="en-GB" dirty="0"/>
              <a:t> </a:t>
            </a:r>
            <a:r>
              <a:rPr lang="en-GB" dirty="0" err="1"/>
              <a:t>significativamente</a:t>
            </a:r>
            <a:r>
              <a:rPr lang="en-GB" dirty="0"/>
              <a:t> i </a:t>
            </a:r>
            <a:r>
              <a:rPr lang="en-GB" dirty="0" err="1"/>
              <a:t>modelli</a:t>
            </a:r>
            <a:r>
              <a:rPr lang="en-GB" dirty="0"/>
              <a:t> </a:t>
            </a:r>
            <a:r>
              <a:rPr lang="en-GB" dirty="0" err="1"/>
              <a:t>precedenti</a:t>
            </a:r>
            <a:r>
              <a:rPr lang="en-GB" dirty="0"/>
              <a:t> (</a:t>
            </a:r>
            <a:r>
              <a:rPr lang="en-GB" dirty="0" err="1"/>
              <a:t>DeiT</a:t>
            </a:r>
            <a:r>
              <a:rPr lang="en-GB" dirty="0"/>
              <a:t>, </a:t>
            </a:r>
            <a:r>
              <a:rPr lang="en-GB" dirty="0" err="1"/>
              <a:t>ViT</a:t>
            </a:r>
            <a:r>
              <a:rPr lang="en-GB" dirty="0"/>
              <a:t>, </a:t>
            </a:r>
            <a:r>
              <a:rPr lang="en-GB" dirty="0" err="1"/>
              <a:t>EfficientNet</a:t>
            </a:r>
            <a:r>
              <a:rPr lang="en-GB" dirty="0"/>
              <a:t>) con </a:t>
            </a:r>
            <a:r>
              <a:rPr lang="en-GB" dirty="0" err="1"/>
              <a:t>complessità</a:t>
            </a:r>
            <a:r>
              <a:rPr lang="en-GB" dirty="0"/>
              <a:t> simile In task di </a:t>
            </a:r>
            <a:r>
              <a:rPr lang="en-GB" dirty="0" err="1"/>
              <a:t>classificazione</a:t>
            </a:r>
            <a:r>
              <a:rPr lang="en-GB" dirty="0"/>
              <a:t>. </a:t>
            </a:r>
          </a:p>
          <a:p>
            <a:pPr lvl="1"/>
            <a:r>
              <a:rPr lang="en-GB" dirty="0"/>
              <a:t>Migliore </a:t>
            </a:r>
            <a:r>
              <a:rPr lang="en-GB" dirty="0" err="1"/>
              <a:t>compromesso</a:t>
            </a:r>
            <a:r>
              <a:rPr lang="en-GB" dirty="0"/>
              <a:t> </a:t>
            </a:r>
            <a:r>
              <a:rPr lang="en-GB" dirty="0" err="1"/>
              <a:t>velocità-accuratezza</a:t>
            </a:r>
            <a:r>
              <a:rPr lang="en-GB" dirty="0"/>
              <a:t> rispetto a </a:t>
            </a:r>
            <a:r>
              <a:rPr lang="en-GB" dirty="0" err="1"/>
              <a:t>ViT</a:t>
            </a:r>
            <a:r>
              <a:rPr lang="en-GB" dirty="0"/>
              <a:t> e </a:t>
            </a:r>
            <a:r>
              <a:rPr lang="en-GB" dirty="0" err="1"/>
              <a:t>ConvNets</a:t>
            </a:r>
            <a:endParaRPr lang="en-GB" dirty="0"/>
          </a:p>
          <a:p>
            <a:r>
              <a:rPr lang="en-GB" b="1" dirty="0"/>
              <a:t>Object Detection (COCO):</a:t>
            </a:r>
          </a:p>
          <a:p>
            <a:pPr lvl="1"/>
            <a:r>
              <a:rPr lang="en-GB" dirty="0"/>
              <a:t>Swin-L </a:t>
            </a:r>
            <a:r>
              <a:rPr lang="en-GB" dirty="0" err="1"/>
              <a:t>raggiunge</a:t>
            </a:r>
            <a:r>
              <a:rPr lang="en-GB" dirty="0"/>
              <a:t> </a:t>
            </a:r>
            <a:r>
              <a:rPr lang="en-GB" b="1" dirty="0"/>
              <a:t>58.7 AP</a:t>
            </a:r>
            <a:r>
              <a:rPr lang="en-GB" dirty="0"/>
              <a:t>, </a:t>
            </a:r>
            <a:r>
              <a:rPr lang="en-GB" dirty="0" err="1"/>
              <a:t>superando</a:t>
            </a:r>
            <a:r>
              <a:rPr lang="en-GB" dirty="0"/>
              <a:t> il </a:t>
            </a:r>
            <a:r>
              <a:rPr lang="en-GB" dirty="0" err="1"/>
              <a:t>precedente</a:t>
            </a:r>
            <a:r>
              <a:rPr lang="en-GB" dirty="0"/>
              <a:t> state-of-the-art (Copy-paste) di +2.7 AP.</a:t>
            </a:r>
          </a:p>
          <a:p>
            <a:pPr lvl="1"/>
            <a:r>
              <a:rPr lang="en-GB" dirty="0"/>
              <a:t>Supera ResNet-50 di +3.4~4.2 box AP con </a:t>
            </a:r>
            <a:r>
              <a:rPr lang="en-GB" dirty="0" err="1"/>
              <a:t>parametri</a:t>
            </a:r>
            <a:r>
              <a:rPr lang="en-GB" dirty="0"/>
              <a:t> </a:t>
            </a:r>
            <a:r>
              <a:rPr lang="en-GB" dirty="0" err="1"/>
              <a:t>simili</a:t>
            </a:r>
            <a:r>
              <a:rPr lang="en-GB" dirty="0"/>
              <a:t>.</a:t>
            </a:r>
          </a:p>
          <a:p>
            <a:r>
              <a:rPr lang="en-GB" b="1" dirty="0"/>
              <a:t>Semantic Segmentation (ADE20K):</a:t>
            </a:r>
          </a:p>
          <a:p>
            <a:pPr lvl="1"/>
            <a:r>
              <a:rPr lang="en-GB" dirty="0"/>
              <a:t>Swin-L </a:t>
            </a:r>
            <a:r>
              <a:rPr lang="en-GB" dirty="0" err="1"/>
              <a:t>raggiunge</a:t>
            </a:r>
            <a:r>
              <a:rPr lang="en-GB" dirty="0"/>
              <a:t> </a:t>
            </a:r>
            <a:r>
              <a:rPr lang="en-GB" b="1" dirty="0"/>
              <a:t>53.5 </a:t>
            </a:r>
            <a:r>
              <a:rPr lang="en-GB" b="1" dirty="0" err="1"/>
              <a:t>mIoU</a:t>
            </a:r>
            <a:r>
              <a:rPr lang="en-GB" dirty="0"/>
              <a:t>, </a:t>
            </a:r>
            <a:r>
              <a:rPr lang="en-GB" dirty="0" err="1"/>
              <a:t>superando</a:t>
            </a:r>
            <a:r>
              <a:rPr lang="en-GB" dirty="0"/>
              <a:t> il </a:t>
            </a:r>
            <a:r>
              <a:rPr lang="en-GB" dirty="0" err="1"/>
              <a:t>precedente</a:t>
            </a:r>
            <a:r>
              <a:rPr lang="en-GB" dirty="0"/>
              <a:t> SOTA (SETR) di +3.2 </a:t>
            </a:r>
            <a:r>
              <a:rPr lang="en-GB" dirty="0" err="1"/>
              <a:t>mIoU</a:t>
            </a:r>
            <a:endParaRPr lang="en-GB" dirty="0"/>
          </a:p>
          <a:p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34570868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BE807-B713-8E6B-CE74-337D6076C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Ablation Studies (</a:t>
            </a:r>
            <a:r>
              <a:rPr lang="en-GB" b="1" dirty="0" err="1"/>
              <a:t>Analisi</a:t>
            </a:r>
            <a:r>
              <a:rPr lang="en-GB" b="1" dirty="0"/>
              <a:t> </a:t>
            </a:r>
            <a:r>
              <a:rPr lang="en-GB" b="1" dirty="0" err="1"/>
              <a:t>dei</a:t>
            </a:r>
            <a:r>
              <a:rPr lang="en-GB" b="1" dirty="0"/>
              <a:t> </a:t>
            </a:r>
            <a:r>
              <a:rPr lang="en-GB" b="1" dirty="0" err="1"/>
              <a:t>Componenti</a:t>
            </a:r>
            <a:r>
              <a:rPr lang="en-GB" b="1" dirty="0"/>
              <a:t>)</a:t>
            </a:r>
            <a:endParaRPr lang="en-IT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4E6FC-61D4-FC48-C8EE-BC387B0625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Cosa </a:t>
            </a:r>
            <a:r>
              <a:rPr lang="en-GB" dirty="0" err="1"/>
              <a:t>rende</a:t>
            </a:r>
            <a:r>
              <a:rPr lang="en-GB" dirty="0"/>
              <a:t> Swin </a:t>
            </a:r>
            <a:r>
              <a:rPr lang="en-GB" dirty="0" err="1"/>
              <a:t>efficace</a:t>
            </a:r>
            <a:r>
              <a:rPr lang="en-GB" dirty="0"/>
              <a:t>?</a:t>
            </a:r>
          </a:p>
          <a:p>
            <a:pPr marL="914400" lvl="1" indent="-457200">
              <a:buAutoNum type="arabicPeriod"/>
            </a:pPr>
            <a:r>
              <a:rPr lang="en-GB" b="1" dirty="0"/>
              <a:t>Shifted Windows:</a:t>
            </a:r>
            <a:r>
              <a:rPr lang="en-GB" dirty="0"/>
              <a:t> Senza lo </a:t>
            </a:r>
            <a:r>
              <a:rPr lang="en-GB" dirty="0" err="1"/>
              <a:t>spostamento</a:t>
            </a:r>
            <a:r>
              <a:rPr lang="en-GB" dirty="0"/>
              <a:t> delle </a:t>
            </a:r>
            <a:r>
              <a:rPr lang="en-GB" dirty="0" err="1"/>
              <a:t>finestre</a:t>
            </a:r>
            <a:r>
              <a:rPr lang="en-GB" dirty="0"/>
              <a:t>, le performance </a:t>
            </a:r>
            <a:r>
              <a:rPr lang="en-GB" dirty="0" err="1"/>
              <a:t>crollano</a:t>
            </a:r>
            <a:r>
              <a:rPr lang="en-GB" dirty="0"/>
              <a:t> (es. -2.8 AP </a:t>
            </a:r>
            <a:r>
              <a:rPr lang="en-GB" dirty="0" err="1"/>
              <a:t>su</a:t>
            </a:r>
            <a:r>
              <a:rPr lang="en-GB" dirty="0"/>
              <a:t> COCO), </a:t>
            </a:r>
            <a:r>
              <a:rPr lang="en-GB" dirty="0" err="1"/>
              <a:t>dimostrando</a:t>
            </a:r>
            <a:r>
              <a:rPr lang="en-GB" dirty="0"/>
              <a:t> </a:t>
            </a:r>
            <a:r>
              <a:rPr lang="en-GB" dirty="0" err="1"/>
              <a:t>che</a:t>
            </a:r>
            <a:r>
              <a:rPr lang="en-GB" dirty="0"/>
              <a:t> le </a:t>
            </a:r>
            <a:r>
              <a:rPr lang="en-GB" dirty="0" err="1"/>
              <a:t>connessioni</a:t>
            </a:r>
            <a:r>
              <a:rPr lang="en-GB" dirty="0"/>
              <a:t> </a:t>
            </a:r>
            <a:r>
              <a:rPr lang="en-GB" dirty="0" err="1"/>
              <a:t>tra</a:t>
            </a:r>
            <a:r>
              <a:rPr lang="en-GB" dirty="0"/>
              <a:t> </a:t>
            </a:r>
            <a:r>
              <a:rPr lang="en-GB" dirty="0" err="1"/>
              <a:t>finestre</a:t>
            </a:r>
            <a:r>
              <a:rPr lang="en-GB" dirty="0"/>
              <a:t> sono </a:t>
            </a:r>
            <a:r>
              <a:rPr lang="en-GB" dirty="0" err="1"/>
              <a:t>cruciali</a:t>
            </a:r>
            <a:r>
              <a:rPr lang="en-GB" dirty="0"/>
              <a:t>.</a:t>
            </a:r>
          </a:p>
          <a:p>
            <a:pPr marL="914400" lvl="1" indent="-457200">
              <a:buAutoNum type="arabicPeriod"/>
            </a:pPr>
            <a:r>
              <a:rPr lang="en-GB" b="1" dirty="0"/>
              <a:t>Relative Position Bias:</a:t>
            </a:r>
            <a:r>
              <a:rPr lang="en-GB" dirty="0"/>
              <a:t> </a:t>
            </a:r>
            <a:r>
              <a:rPr lang="en-GB" dirty="0" err="1"/>
              <a:t>Aggiunge</a:t>
            </a:r>
            <a:r>
              <a:rPr lang="en-GB" dirty="0"/>
              <a:t> +1.2% </a:t>
            </a:r>
            <a:r>
              <a:rPr lang="en-GB" dirty="0" err="1"/>
              <a:t>su</a:t>
            </a:r>
            <a:r>
              <a:rPr lang="en-GB" dirty="0"/>
              <a:t> ImageNet e +1.3 AP </a:t>
            </a:r>
            <a:r>
              <a:rPr lang="en-GB" dirty="0" err="1"/>
              <a:t>su</a:t>
            </a:r>
            <a:r>
              <a:rPr lang="en-GB" dirty="0"/>
              <a:t> COCO rispetto </a:t>
            </a:r>
            <a:r>
              <a:rPr lang="en-GB" dirty="0" err="1"/>
              <a:t>all'assenza</a:t>
            </a:r>
            <a:r>
              <a:rPr lang="en-GB" dirty="0"/>
              <a:t> di </a:t>
            </a:r>
            <a:r>
              <a:rPr lang="en-GB" dirty="0" err="1"/>
              <a:t>codifica</a:t>
            </a:r>
            <a:r>
              <a:rPr lang="en-GB" dirty="0"/>
              <a:t> </a:t>
            </a:r>
            <a:r>
              <a:rPr lang="en-GB" dirty="0" err="1"/>
              <a:t>posizionale</a:t>
            </a:r>
            <a:r>
              <a:rPr lang="en-GB" dirty="0"/>
              <a:t>.</a:t>
            </a:r>
          </a:p>
          <a:p>
            <a:pPr marL="914400" lvl="1" indent="-457200">
              <a:buAutoNum type="arabicPeriod"/>
            </a:pPr>
            <a:r>
              <a:rPr lang="en-GB" b="1" dirty="0" err="1"/>
              <a:t>Velocità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L'implementazione</a:t>
            </a:r>
            <a:r>
              <a:rPr lang="en-GB" dirty="0"/>
              <a:t> </a:t>
            </a:r>
            <a:r>
              <a:rPr lang="en-GB" dirty="0" err="1"/>
              <a:t>ciclica</a:t>
            </a:r>
            <a:r>
              <a:rPr lang="en-GB" dirty="0"/>
              <a:t> </a:t>
            </a:r>
            <a:r>
              <a:rPr lang="en-GB" dirty="0" err="1"/>
              <a:t>è</a:t>
            </a:r>
            <a:r>
              <a:rPr lang="en-GB" dirty="0"/>
              <a:t> </a:t>
            </a:r>
            <a:r>
              <a:rPr lang="en-GB" dirty="0" err="1"/>
              <a:t>più</a:t>
            </a:r>
            <a:r>
              <a:rPr lang="en-GB" dirty="0"/>
              <a:t> veloce del padding (</a:t>
            </a:r>
            <a:r>
              <a:rPr lang="en-GB" dirty="0" err="1"/>
              <a:t>fino</a:t>
            </a:r>
            <a:r>
              <a:rPr lang="en-GB" dirty="0"/>
              <a:t> al 18% di speed-up).</a:t>
            </a:r>
          </a:p>
          <a:p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32618335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4133E-F18E-1E73-FD7E-9AE239294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Conclusione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880660-4FA2-D6F8-259F-CF6BAA3856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 err="1"/>
              <a:t>Sintesi</a:t>
            </a:r>
            <a:r>
              <a:rPr lang="en-GB" b="1" dirty="0"/>
              <a:t>:</a:t>
            </a:r>
            <a:r>
              <a:rPr lang="en-GB" dirty="0"/>
              <a:t> Swin Transformer </a:t>
            </a:r>
            <a:r>
              <a:rPr lang="en-GB" dirty="0" err="1"/>
              <a:t>risolve</a:t>
            </a:r>
            <a:r>
              <a:rPr lang="en-GB" dirty="0"/>
              <a:t> i </a:t>
            </a:r>
            <a:r>
              <a:rPr lang="en-GB" dirty="0" err="1"/>
              <a:t>problemi</a:t>
            </a:r>
            <a:r>
              <a:rPr lang="en-GB" dirty="0"/>
              <a:t> di scala e </a:t>
            </a:r>
            <a:r>
              <a:rPr lang="en-GB" dirty="0" err="1"/>
              <a:t>risoluzione</a:t>
            </a:r>
            <a:r>
              <a:rPr lang="en-GB" dirty="0"/>
              <a:t> </a:t>
            </a:r>
            <a:r>
              <a:rPr lang="en-GB" dirty="0" err="1"/>
              <a:t>dei</a:t>
            </a:r>
            <a:r>
              <a:rPr lang="en-GB" dirty="0"/>
              <a:t> Transformer </a:t>
            </a:r>
            <a:r>
              <a:rPr lang="en-GB" dirty="0" err="1"/>
              <a:t>nella</a:t>
            </a:r>
            <a:r>
              <a:rPr lang="en-GB" dirty="0"/>
              <a:t> </a:t>
            </a:r>
            <a:r>
              <a:rPr lang="en-GB" dirty="0" err="1"/>
              <a:t>visione</a:t>
            </a:r>
            <a:r>
              <a:rPr lang="en-GB" dirty="0"/>
              <a:t> </a:t>
            </a:r>
            <a:r>
              <a:rPr lang="en-GB" dirty="0" err="1"/>
              <a:t>tramite</a:t>
            </a:r>
            <a:r>
              <a:rPr lang="en-GB" dirty="0"/>
              <a:t> una </a:t>
            </a:r>
            <a:r>
              <a:rPr lang="en-GB" dirty="0" err="1"/>
              <a:t>gerarchia</a:t>
            </a:r>
            <a:r>
              <a:rPr lang="en-GB" dirty="0"/>
              <a:t> e </a:t>
            </a:r>
            <a:r>
              <a:rPr lang="en-GB" dirty="0" err="1"/>
              <a:t>finestre</a:t>
            </a:r>
            <a:r>
              <a:rPr lang="en-GB" dirty="0"/>
              <a:t> </a:t>
            </a:r>
            <a:r>
              <a:rPr lang="en-GB" dirty="0" err="1"/>
              <a:t>traslate</a:t>
            </a:r>
            <a:r>
              <a:rPr lang="en-GB" dirty="0"/>
              <a:t>.</a:t>
            </a:r>
          </a:p>
          <a:p>
            <a:r>
              <a:rPr lang="en-GB" b="1" dirty="0" err="1"/>
              <a:t>Impatto</a:t>
            </a:r>
            <a:r>
              <a:rPr lang="en-GB" b="1" dirty="0"/>
              <a:t>:</a:t>
            </a:r>
          </a:p>
          <a:p>
            <a:pPr lvl="1"/>
            <a:r>
              <a:rPr lang="en-GB" dirty="0" err="1"/>
              <a:t>Complessità</a:t>
            </a:r>
            <a:r>
              <a:rPr lang="en-GB" dirty="0"/>
              <a:t> </a:t>
            </a:r>
            <a:r>
              <a:rPr lang="en-GB" dirty="0" err="1"/>
              <a:t>computazionale</a:t>
            </a:r>
            <a:r>
              <a:rPr lang="en-GB" dirty="0"/>
              <a:t> </a:t>
            </a:r>
            <a:r>
              <a:rPr lang="en-GB" dirty="0" err="1"/>
              <a:t>lineare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Nuovo </a:t>
            </a:r>
            <a:r>
              <a:rPr lang="en-GB" dirty="0" err="1"/>
              <a:t>stato</a:t>
            </a:r>
            <a:r>
              <a:rPr lang="en-GB" dirty="0"/>
              <a:t> dell'arte </a:t>
            </a:r>
            <a:r>
              <a:rPr lang="en-GB" dirty="0" err="1"/>
              <a:t>su</a:t>
            </a:r>
            <a:r>
              <a:rPr lang="en-GB" dirty="0"/>
              <a:t> detection e segmentation.</a:t>
            </a:r>
          </a:p>
          <a:p>
            <a:pPr lvl="1"/>
            <a:r>
              <a:rPr lang="en-GB" b="1" dirty="0" err="1"/>
              <a:t>Visione</a:t>
            </a:r>
            <a:r>
              <a:rPr lang="en-GB" b="1" dirty="0"/>
              <a:t> </a:t>
            </a:r>
            <a:r>
              <a:rPr lang="en-GB" b="1" dirty="0" err="1"/>
              <a:t>futura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Un'architettura</a:t>
            </a:r>
            <a:r>
              <a:rPr lang="en-GB" dirty="0"/>
              <a:t> </a:t>
            </a:r>
            <a:r>
              <a:rPr lang="en-GB" dirty="0" err="1"/>
              <a:t>unificata</a:t>
            </a:r>
            <a:r>
              <a:rPr lang="en-GB" dirty="0"/>
              <a:t> per </a:t>
            </a:r>
            <a:r>
              <a:rPr lang="en-GB" dirty="0" err="1"/>
              <a:t>Visione</a:t>
            </a:r>
            <a:r>
              <a:rPr lang="en-GB" dirty="0"/>
              <a:t> e NLP, </a:t>
            </a:r>
            <a:r>
              <a:rPr lang="en-GB" dirty="0" err="1"/>
              <a:t>facilitando</a:t>
            </a:r>
            <a:r>
              <a:rPr lang="en-GB" dirty="0"/>
              <a:t> la </a:t>
            </a:r>
            <a:r>
              <a:rPr lang="en-GB" dirty="0" err="1"/>
              <a:t>modellazione</a:t>
            </a:r>
            <a:r>
              <a:rPr lang="en-GB" dirty="0"/>
              <a:t> </a:t>
            </a:r>
            <a:r>
              <a:rPr lang="en-GB" dirty="0" err="1"/>
              <a:t>congiunta</a:t>
            </a:r>
            <a:r>
              <a:rPr lang="en-GB" dirty="0"/>
              <a:t> di </a:t>
            </a:r>
            <a:r>
              <a:rPr lang="en-GB" dirty="0" err="1"/>
              <a:t>segnali</a:t>
            </a:r>
            <a:r>
              <a:rPr lang="en-GB" dirty="0"/>
              <a:t> </a:t>
            </a:r>
            <a:r>
              <a:rPr lang="en-GB" dirty="0" err="1"/>
              <a:t>visivi</a:t>
            </a:r>
            <a:r>
              <a:rPr lang="en-GB" dirty="0"/>
              <a:t> e </a:t>
            </a:r>
            <a:r>
              <a:rPr lang="en-GB" dirty="0" err="1"/>
              <a:t>testuali</a:t>
            </a:r>
            <a:r>
              <a:rPr lang="en-GB" dirty="0"/>
              <a:t>.</a:t>
            </a:r>
          </a:p>
          <a:p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30336101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060D4-1EBB-FAC7-489E-AF6EFD3D0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6372A-321F-AEB7-3FBE-FDBA2D8467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T" dirty="0"/>
              <a:t>Swin Transformer for Chest X-Ray classification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C5B6534-27A7-027F-9530-2D6EDC9F6B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3904393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4CC8C-9DE8-A62A-71FD-C14D81C33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Swin Transformer for Chest X-Ray classification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B6789-E8B9-DAB3-AB14-EC7E0D18EF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31354630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A8A41-0424-0CB6-75A0-AE7D269C0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6EBBE3-0BE4-D7E6-E7F6-4DDB6D171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2249028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3572</TotalTime>
  <Words>1080</Words>
  <Application>Microsoft Macintosh PowerPoint</Application>
  <PresentationFormat>Widescreen</PresentationFormat>
  <Paragraphs>88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Office Theme</vt:lpstr>
      <vt:lpstr>Swin Transformer</vt:lpstr>
      <vt:lpstr>Introduzione e Contesto</vt:lpstr>
      <vt:lpstr>Limitazioni dei Transformer esistenti (es. ViT)</vt:lpstr>
      <vt:lpstr>La Soluzione - Swin Transformer</vt:lpstr>
      <vt:lpstr>Architettura Generale (Pipeline)</vt:lpstr>
      <vt:lpstr>Architettura Generale (Pipeline)</vt:lpstr>
      <vt:lpstr>Rappresentazione Gerarchica e Patch Merging</vt:lpstr>
      <vt:lpstr>Window-based Self-Attention (W-MSA)</vt:lpstr>
      <vt:lpstr>Shifted Window Partitioning (SW-MSA)</vt:lpstr>
      <vt:lpstr>SW-MSA: Calcolo Efficiente (Cyclic Shift)</vt:lpstr>
      <vt:lpstr>Relative Position Bias</vt:lpstr>
      <vt:lpstr>Varianti dell'Architettura</vt:lpstr>
      <vt:lpstr>Risultati</vt:lpstr>
      <vt:lpstr>Ablation Studies (Analisi dei Componenti)</vt:lpstr>
      <vt:lpstr>Conclusione</vt:lpstr>
      <vt:lpstr>Swin Transformer for Chest X-Ray classification</vt:lpstr>
      <vt:lpstr>Swin Transformer for Chest X-Ray classification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Matteo Fontana</dc:creator>
  <cp:lastModifiedBy>Matteo Fontana</cp:lastModifiedBy>
  <cp:revision>5</cp:revision>
  <dcterms:created xsi:type="dcterms:W3CDTF">2026-01-29T10:26:47Z</dcterms:created>
  <dcterms:modified xsi:type="dcterms:W3CDTF">2026-02-01T17:08:18Z</dcterms:modified>
</cp:coreProperties>
</file>