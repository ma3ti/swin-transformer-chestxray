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8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9" r:id="rId12"/>
    <p:sldId id="274" r:id="rId13"/>
    <p:sldId id="281" r:id="rId14"/>
    <p:sldId id="282" r:id="rId15"/>
    <p:sldId id="286" r:id="rId16"/>
    <p:sldId id="278" r:id="rId17"/>
    <p:sldId id="283" r:id="rId18"/>
    <p:sldId id="279" r:id="rId19"/>
    <p:sldId id="284" r:id="rId20"/>
    <p:sldId id="285" r:id="rId21"/>
  </p:sldIdLst>
  <p:sldSz cx="12192000" cy="6858000"/>
  <p:notesSz cx="6858000" cy="9144000"/>
  <p:defaultTextStyle>
    <a:defPPr>
      <a:defRPr lang="en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728"/>
    <p:restoredTop sz="94779"/>
  </p:normalViewPr>
  <p:slideViewPr>
    <p:cSldViewPr snapToGrid="0">
      <p:cViewPr>
        <p:scale>
          <a:sx n="126" d="100"/>
          <a:sy n="126" d="100"/>
        </p:scale>
        <p:origin x="4536" y="20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3BDF3-2A01-1A91-0AEB-106DD68A8A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478EF3-6AB1-D6EA-AF74-96B6A7DF53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3F9AD6-E388-3314-2D4F-6A4560C6FD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06EC92-AD42-EA4E-843F-66F941399442}" type="datetimeFigureOut">
              <a:rPr lang="en-IT" smtClean="0"/>
              <a:t>30/01/26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71BEE-B79F-EC07-9928-43382809DD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40C3E4-8A54-66D9-693D-339CF0C89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40952-BDAF-C745-9B3E-D577F167F08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324792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C2EDB-B9DC-00F7-D469-E85421CB7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0085B3-2F71-9B09-8849-F4CF60D8A8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96AD42-385F-CE7B-1B59-9651D34ABF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06EC92-AD42-EA4E-843F-66F941399442}" type="datetimeFigureOut">
              <a:rPr lang="en-IT" smtClean="0"/>
              <a:t>30/01/26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25AC86-FADD-DBCA-6CD8-C44D5F5D2A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3510FE-6B20-E106-EB6D-498417F56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40952-BDAF-C745-9B3E-D577F167F08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2448998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95095-47F4-2558-3A4A-EB309E53A7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9E368B-CB08-B1AC-0E8C-28BBD72F44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5646F2-915A-EC79-86B6-C043577605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06EC92-AD42-EA4E-843F-66F941399442}" type="datetimeFigureOut">
              <a:rPr lang="en-IT" smtClean="0"/>
              <a:t>30/01/26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B0B1C0-6DF1-A0AC-1E4F-8E2D8931AF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24C4B-D9CB-9F57-9A09-856803C47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40952-BDAF-C745-9B3E-D577F167F08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3295837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CF202-8C8F-18C8-5FE7-8065357176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9C2006-9997-B892-CEE1-F5AB1EBD0C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E12833-201A-F49C-78A5-353A414D19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EAF481-0E74-91FF-B8A2-3DB6D0139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06EC92-AD42-EA4E-843F-66F941399442}" type="datetimeFigureOut">
              <a:rPr lang="en-IT" smtClean="0"/>
              <a:t>30/01/26</a:t>
            </a:fld>
            <a:endParaRPr lang="en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898A0F-2E04-A3BA-F524-0D92E3D8BC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422E70-6E01-CAF3-284A-7112070BB7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40952-BDAF-C745-9B3E-D577F167F08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9541060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BBA48-6322-FF39-E568-7316407CB0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1AE153-DB10-8122-6E0C-5FF0D95DA9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27F977-60E3-BBAE-DC04-61D90CBDCE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21B0F5-AA19-6EC9-A887-3D682B83DE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16FEAC-4BD3-6139-CE03-B0B93C7462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DF6D31A-FC73-7C3C-5E69-59CF27A2C9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06EC92-AD42-EA4E-843F-66F941399442}" type="datetimeFigureOut">
              <a:rPr lang="en-IT" smtClean="0"/>
              <a:t>30/01/26</a:t>
            </a:fld>
            <a:endParaRPr lang="en-I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164ACD-3DAA-AAE2-A6D6-278034E882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4808E4C-D41F-4AB4-1B2A-97D2510E97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40952-BDAF-C745-9B3E-D577F167F08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9437549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081C8-2AD7-5774-C54C-CBECB3533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82CE189-6910-6C78-5184-60DD084B34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06EC92-AD42-EA4E-843F-66F941399442}" type="datetimeFigureOut">
              <a:rPr lang="en-IT" smtClean="0"/>
              <a:t>30/01/26</a:t>
            </a:fld>
            <a:endParaRPr lang="en-I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1D87055-6A42-90BB-09FF-93DE8A9940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322005-5F34-59F8-E046-E82C80177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40952-BDAF-C745-9B3E-D577F167F08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5508955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8CBD40-8612-12B1-32B2-04237732CD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06EC92-AD42-EA4E-843F-66F941399442}" type="datetimeFigureOut">
              <a:rPr lang="en-IT" smtClean="0"/>
              <a:t>30/01/26</a:t>
            </a:fld>
            <a:endParaRPr lang="en-I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B2C795D-F975-E446-BF2B-F75FD8B398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416B0A-34F0-C4D0-5DF9-1E4AA960D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40952-BDAF-C745-9B3E-D577F167F08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3700303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F1E7F-BED4-7102-8818-83793F1958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A755CB-9E13-E16E-983F-35D03CF2BF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B91491-203F-13AB-5816-23EFE00C1A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BDCA6F-1F88-0175-6598-F72BDD2F95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06EC92-AD42-EA4E-843F-66F941399442}" type="datetimeFigureOut">
              <a:rPr lang="en-IT" smtClean="0"/>
              <a:t>30/01/26</a:t>
            </a:fld>
            <a:endParaRPr lang="en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1ECB8F-98A1-FECD-1FD8-1C3B8159A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CD94BB-B28C-5E8F-DDB9-D05DC2E99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40952-BDAF-C745-9B3E-D577F167F08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5334484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30F30C-8EC4-F7DF-A961-5707D2B55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E3EBEAF-DF08-E79A-6AAE-856863A83C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A221E3A-029C-A1F1-1D09-FE689832B3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97A312-D776-DAD9-DDBA-C7E147E5E5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06EC92-AD42-EA4E-843F-66F941399442}" type="datetimeFigureOut">
              <a:rPr lang="en-IT" smtClean="0"/>
              <a:t>30/01/26</a:t>
            </a:fld>
            <a:endParaRPr lang="en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5EEC34-D18B-6AA3-F549-EBFB6E0642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4C70F9-2DE6-1B5D-A6F6-47D8D31BED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40952-BDAF-C745-9B3E-D577F167F08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5553748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D9D21-9F45-D502-5A37-2688AC91F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DB209D-F034-6BC2-C262-DB45D0CDC8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127493-7B5C-016A-EE1F-198FE995C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06EC92-AD42-EA4E-843F-66F941399442}" type="datetimeFigureOut">
              <a:rPr lang="en-IT" smtClean="0"/>
              <a:t>30/01/26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BDC203-B23B-05E8-9A75-FEBFD9EC40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DB494F-A751-A137-B0BC-A9CA6B9A1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40952-BDAF-C745-9B3E-D577F167F08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6674812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1FFF7A7-FB0B-F2AB-61A5-291066371FE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02132AE-23BE-5E11-4E5F-4D7AF0611B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AFD414-9CBF-5311-4FA5-BCE03B24E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06EC92-AD42-EA4E-843F-66F941399442}" type="datetimeFigureOut">
              <a:rPr lang="en-IT" smtClean="0"/>
              <a:t>30/01/26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1D895C-0802-FD8F-E351-39D5B15BB8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90586C-A8D7-6400-A5DA-34A2835CE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40952-BDAF-C745-9B3E-D577F167F08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4114790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FD91F8-75D7-8C1F-0FA8-2D45FA9D20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A90823-5D75-0FF4-F210-4F790BA7DE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9BA2E6-0268-0076-42D6-1528F3CC54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06EC92-AD42-EA4E-843F-66F941399442}" type="datetimeFigureOut">
              <a:rPr lang="en-IT" smtClean="0"/>
              <a:t>30/01/26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13972-287A-7E38-CE18-F77A204D59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B713AE-1C94-CC40-6700-C99B80CB34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640952-BDAF-C745-9B3E-D577F167F08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82779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3EC76-45AC-C925-D594-B5C1B11D3B6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T" dirty="0"/>
              <a:t>Swin Transformer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E82987-BC4E-49AC-F87C-D10E106E82E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T" dirty="0"/>
              <a:t>Computer Vision 24/25</a:t>
            </a:r>
          </a:p>
          <a:p>
            <a:endParaRPr lang="en-IT" dirty="0"/>
          </a:p>
          <a:p>
            <a:r>
              <a:rPr lang="en-IT" dirty="0"/>
              <a:t>Matteo Fontana</a:t>
            </a:r>
          </a:p>
        </p:txBody>
      </p:sp>
    </p:spTree>
    <p:extLst>
      <p:ext uri="{BB962C8B-B14F-4D97-AF65-F5344CB8AC3E}">
        <p14:creationId xmlns:p14="http://schemas.microsoft.com/office/powerpoint/2010/main" val="41600042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0BC9A-9B0B-454A-27D0-C6D50397F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Introduction and Context</a:t>
            </a:r>
            <a:endParaRPr lang="en-I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568987-24BC-F0E7-94C8-E12CAE389F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 b="1" dirty="0"/>
              <a:t>Evolution: </a:t>
            </a:r>
            <a:r>
              <a:rPr lang="en-GB" sz="2400" dirty="0"/>
              <a:t>Modelling in computer vision has long been dominated by CNNs.</a:t>
            </a:r>
          </a:p>
          <a:p>
            <a:pPr lvl="1"/>
            <a:r>
              <a:rPr lang="en-GB" sz="2000" dirty="0"/>
              <a:t>Meanwhile, in NLP the dominant architecture has become Transformer.</a:t>
            </a:r>
          </a:p>
          <a:p>
            <a:r>
              <a:rPr lang="en-GB" sz="2400" b="1" dirty="0"/>
              <a:t>The problem: </a:t>
            </a:r>
            <a:r>
              <a:rPr lang="en-GB" sz="2400" dirty="0"/>
              <a:t>Adapting Transformers from language to vision is difficult due to two main differences:</a:t>
            </a:r>
          </a:p>
          <a:p>
            <a:pPr marL="914400" lvl="1" indent="-457200">
              <a:buAutoNum type="arabicPeriod"/>
            </a:pPr>
            <a:r>
              <a:rPr lang="en-GB" sz="2000" b="1" dirty="0"/>
              <a:t>Scale</a:t>
            </a:r>
            <a:r>
              <a:rPr lang="en-GB" sz="2000" dirty="0"/>
              <a:t>: Visual entities vary dramatically in scale (unlike word "tokens" that have a fixed size).</a:t>
            </a:r>
          </a:p>
          <a:p>
            <a:pPr marL="914400" lvl="1" indent="-457200">
              <a:buAutoNum type="arabicPeriod"/>
            </a:pPr>
            <a:r>
              <a:rPr lang="en-GB" sz="2000" b="1" dirty="0"/>
              <a:t>Resolution</a:t>
            </a:r>
            <a:r>
              <a:rPr lang="en-GB" sz="2000" dirty="0"/>
              <a:t>: Images have a much higher resolution than texts, making global attention computationally expensive.</a:t>
            </a:r>
            <a:endParaRPr lang="en-IT" sz="2000" dirty="0"/>
          </a:p>
        </p:txBody>
      </p:sp>
    </p:spTree>
    <p:extLst>
      <p:ext uri="{BB962C8B-B14F-4D97-AF65-F5344CB8AC3E}">
        <p14:creationId xmlns:p14="http://schemas.microsoft.com/office/powerpoint/2010/main" val="16032840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41722-D410-475C-DFC3-1B46D71215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Transformer Limitations</a:t>
            </a:r>
            <a:endParaRPr lang="en-I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6F9060-66B2-448F-ADBA-A3B373440F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 b="1" dirty="0"/>
              <a:t>Vision Transformer</a:t>
            </a:r>
            <a:r>
              <a:rPr lang="en-GB" sz="2400" dirty="0"/>
              <a:t> (</a:t>
            </a:r>
            <a:r>
              <a:rPr lang="en-GB" sz="2400" dirty="0" err="1"/>
              <a:t>ViT</a:t>
            </a:r>
            <a:r>
              <a:rPr lang="en-GB" sz="2400" dirty="0"/>
              <a:t>): Processes low-resolution feature maps and has quadratic complexity with respect to image size.</a:t>
            </a:r>
          </a:p>
          <a:p>
            <a:r>
              <a:rPr lang="en-GB" sz="2400" b="1" dirty="0"/>
              <a:t>The bottleneck</a:t>
            </a:r>
            <a:r>
              <a:rPr lang="en-GB" sz="2400" dirty="0"/>
              <a:t>: The global self-attention algorithm calculates the relationships between one token and all other tokens.</a:t>
            </a:r>
          </a:p>
          <a:p>
            <a:r>
              <a:rPr lang="en-GB" sz="2400" b="1" dirty="0"/>
              <a:t>Complexity</a:t>
            </a:r>
            <a:r>
              <a:rPr lang="en-GB" sz="2400" dirty="0"/>
              <a:t>: O(N2), where N is the number of tokens (pixels/patch)</a:t>
            </a:r>
          </a:p>
          <a:p>
            <a:r>
              <a:rPr lang="en-GB" sz="2400" b="1" dirty="0"/>
              <a:t>Consequence</a:t>
            </a:r>
            <a:r>
              <a:rPr lang="en-GB" sz="2400" dirty="0"/>
              <a:t>: This makes classical Transformers unsuitable for "dense prediction" tasks (such as segmentation) or for high-resolution images</a:t>
            </a:r>
          </a:p>
        </p:txBody>
      </p:sp>
    </p:spTree>
    <p:extLst>
      <p:ext uri="{BB962C8B-B14F-4D97-AF65-F5344CB8AC3E}">
        <p14:creationId xmlns:p14="http://schemas.microsoft.com/office/powerpoint/2010/main" val="42335191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62ECD0-4E89-AB35-7334-B3DB563F3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The Solution: Swin Transformer</a:t>
            </a:r>
            <a:endParaRPr lang="en-I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BA687E-8ED4-FFE5-98B0-91C037A63B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 b="1" dirty="0"/>
              <a:t>Key Concept</a:t>
            </a:r>
            <a:r>
              <a:rPr lang="en-GB" sz="2400" dirty="0"/>
              <a:t>: A hierarchical Transformer using Shifted Windows mechanism.</a:t>
            </a:r>
          </a:p>
          <a:p>
            <a:r>
              <a:rPr lang="en-GB" sz="2400" b="1" dirty="0"/>
              <a:t>Distinguishing features</a:t>
            </a:r>
            <a:r>
              <a:rPr lang="en-GB" sz="2400" dirty="0"/>
              <a:t>:</a:t>
            </a:r>
          </a:p>
          <a:p>
            <a:pPr lvl="1"/>
            <a:r>
              <a:rPr lang="en-GB" sz="2000" dirty="0"/>
              <a:t>It builds hierarchical feature maps (like CNNs), allowing you to model various scales.</a:t>
            </a:r>
          </a:p>
          <a:p>
            <a:pPr lvl="1"/>
            <a:r>
              <a:rPr lang="en-GB" sz="2000" dirty="0"/>
              <a:t>It has a computational complexity linear with respect to the image size.</a:t>
            </a:r>
          </a:p>
          <a:p>
            <a:r>
              <a:rPr lang="en-GB" sz="2400" b="1" dirty="0"/>
              <a:t>Result</a:t>
            </a:r>
            <a:r>
              <a:rPr lang="en-GB" sz="2400" dirty="0"/>
              <a:t>: It serves as a "general-purpose" backbone compatible with classification, object detection and semantic segmentation.</a:t>
            </a:r>
            <a:endParaRPr lang="en-IT" sz="2400" dirty="0"/>
          </a:p>
        </p:txBody>
      </p:sp>
      <p:pic>
        <p:nvPicPr>
          <p:cNvPr id="5" name="Picture 4" descr="A diagram of a solar panel&#10;&#10;AI-generated content may be incorrect.">
            <a:extLst>
              <a:ext uri="{FF2B5EF4-FFF2-40B4-BE49-F238E27FC236}">
                <a16:creationId xmlns:a16="http://schemas.microsoft.com/office/drawing/2014/main" id="{3E98AD36-2ABB-9544-EE8F-93AAD3AC97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5520" y="4270680"/>
            <a:ext cx="4100959" cy="2222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26138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EB8C-CD76-E660-3B55-DA244E693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General Architecture (Pipeline)</a:t>
            </a:r>
            <a:endParaRPr lang="en-I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63D1D-AB1C-0B19-E2B8-67DBB1667E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 b="1" dirty="0"/>
              <a:t>Patch Partition</a:t>
            </a:r>
            <a:r>
              <a:rPr lang="en-GB" sz="2400" dirty="0"/>
              <a:t>: The RGB image is split into non-overlapping patches</a:t>
            </a:r>
          </a:p>
          <a:p>
            <a:r>
              <a:rPr lang="en-GB" sz="2400" b="1" dirty="0"/>
              <a:t>Linear Embedding</a:t>
            </a:r>
            <a:r>
              <a:rPr lang="en-GB" sz="2400" dirty="0"/>
              <a:t>: Projects the raw feature into an arbitrary dimension C.</a:t>
            </a:r>
          </a:p>
          <a:p>
            <a:r>
              <a:rPr lang="en-GB" sz="2400" b="1" dirty="0"/>
              <a:t>Patch Merging</a:t>
            </a:r>
            <a:r>
              <a:rPr lang="en-GB" sz="2400" dirty="0"/>
              <a:t>: At each stage merge 2x2 neighbouring patches.</a:t>
            </a:r>
          </a:p>
          <a:p>
            <a:r>
              <a:rPr lang="en-GB" sz="2400" b="1" dirty="0"/>
              <a:t>Swin Transformer Blocks</a:t>
            </a:r>
            <a:r>
              <a:rPr lang="en-GB" sz="2400" dirty="0"/>
              <a:t>: Modified self-attention blocks applied to tokens.</a:t>
            </a:r>
          </a:p>
          <a:p>
            <a:r>
              <a:rPr lang="en-GB" sz="2400" b="1" dirty="0"/>
              <a:t>Stages</a:t>
            </a:r>
            <a:r>
              <a:rPr lang="en-GB" sz="2400" dirty="0"/>
              <a:t>: The architecture is divided into 4 stages to produce a hierarchical representation.</a:t>
            </a:r>
            <a:endParaRPr lang="en-IT" sz="2400" dirty="0"/>
          </a:p>
        </p:txBody>
      </p:sp>
      <p:pic>
        <p:nvPicPr>
          <p:cNvPr id="4" name="Content Placeholder 14" descr="A diagram of a block diagram&#10;&#10;AI-generated content may be incorrect.">
            <a:extLst>
              <a:ext uri="{FF2B5EF4-FFF2-40B4-BE49-F238E27FC236}">
                <a16:creationId xmlns:a16="http://schemas.microsoft.com/office/drawing/2014/main" id="{05859712-3917-5C6E-0D15-8F8B6FCA7E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2036" y="4303553"/>
            <a:ext cx="8067927" cy="2400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7299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32483F-CEBD-5AA9-38F7-2C803E2757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Patch Merging</a:t>
            </a:r>
            <a:endParaRPr lang="en-I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839642-2876-FC5F-F12C-6525C2E047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 b="1" dirty="0"/>
              <a:t>Objective</a:t>
            </a:r>
            <a:r>
              <a:rPr lang="en-GB" sz="2400" dirty="0"/>
              <a:t>: Reduce the number of tokens as the network deepens to increase the receptive field.</a:t>
            </a:r>
          </a:p>
          <a:p>
            <a:r>
              <a:rPr lang="en-GB" sz="2400" b="1" dirty="0"/>
              <a:t>Patch merge level</a:t>
            </a:r>
            <a:r>
              <a:rPr lang="en-GB" sz="2400" dirty="0"/>
              <a:t>:</a:t>
            </a:r>
          </a:p>
          <a:p>
            <a:pPr lvl="1"/>
            <a:r>
              <a:rPr lang="en-GB" sz="2000" dirty="0"/>
              <a:t>Concatenate features from groups of 2×2 neighbouring patches.</a:t>
            </a:r>
          </a:p>
          <a:p>
            <a:pPr lvl="1"/>
            <a:r>
              <a:rPr lang="en-GB" sz="2000" dirty="0"/>
              <a:t>Reduce the number of tokens by a factor of 4 (</a:t>
            </a:r>
            <a:r>
              <a:rPr lang="en-GB" sz="2000" dirty="0" err="1"/>
              <a:t>downsampling</a:t>
            </a:r>
            <a:r>
              <a:rPr lang="en-GB" sz="2000" dirty="0"/>
              <a:t> 2×).</a:t>
            </a:r>
          </a:p>
          <a:p>
            <a:pPr lvl="1"/>
            <a:r>
              <a:rPr lang="en-GB" sz="2000" dirty="0"/>
              <a:t>Increase the Result: Output with decreasing resolutions (H/4,H/8,H/16,H/32), ideal for Feature Pyramid Networks (FPN) or U-Net a feature size (e.g. C to 2C).</a:t>
            </a:r>
            <a:endParaRPr lang="en-IT" sz="2000" dirty="0"/>
          </a:p>
        </p:txBody>
      </p:sp>
      <p:sp>
        <p:nvSpPr>
          <p:cNvPr id="6" name="AutoShape 4">
            <a:extLst>
              <a:ext uri="{FF2B5EF4-FFF2-40B4-BE49-F238E27FC236}">
                <a16:creationId xmlns:a16="http://schemas.microsoft.com/office/drawing/2014/main" id="{7CCD02B0-BB8A-27BB-FE85-9D22847B6E54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6018028" y="2030709"/>
            <a:ext cx="272488" cy="272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T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8BA45C1-D218-9B88-C9A3-3047E3F669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5359" y="4552903"/>
            <a:ext cx="2568617" cy="175899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6F61BDD-4CDD-7451-A11F-B47A3DCCA1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2472" y="4579692"/>
            <a:ext cx="2568617" cy="1732208"/>
          </a:xfrm>
          <a:prstGeom prst="rect">
            <a:avLst/>
          </a:prstGeom>
        </p:spPr>
      </p:pic>
      <p:sp>
        <p:nvSpPr>
          <p:cNvPr id="9" name="Right Arrow 8">
            <a:extLst>
              <a:ext uri="{FF2B5EF4-FFF2-40B4-BE49-F238E27FC236}">
                <a16:creationId xmlns:a16="http://schemas.microsoft.com/office/drawing/2014/main" id="{7444337B-C698-F413-F69E-FB6EFD66EABE}"/>
              </a:ext>
            </a:extLst>
          </p:cNvPr>
          <p:cNvSpPr/>
          <p:nvPr/>
        </p:nvSpPr>
        <p:spPr>
          <a:xfrm>
            <a:off x="5759020" y="5203480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313990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C7CF3F-7587-19DE-B195-B0EB49213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/>
              <a:t>Window-based Self-Attention (W-MSA)</a:t>
            </a:r>
            <a:endParaRPr lang="en-I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A8851B-0A9A-A35F-455E-E23406B453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 b="1" dirty="0"/>
              <a:t>Efficiency</a:t>
            </a:r>
            <a:r>
              <a:rPr lang="en-GB" sz="2400" dirty="0"/>
              <a:t>: Instead of global attention, Swin calculates self-attention only within non-overlapping local windows.</a:t>
            </a:r>
          </a:p>
          <a:p>
            <a:r>
              <a:rPr lang="en-GB" sz="2400" b="1" dirty="0"/>
              <a:t>Window Size</a:t>
            </a:r>
            <a:r>
              <a:rPr lang="en-GB" sz="2400" dirty="0"/>
              <a:t>: Fixed to M×M patch (default M=7).</a:t>
            </a:r>
          </a:p>
          <a:p>
            <a:r>
              <a:rPr lang="en-GB" sz="2400" b="1" dirty="0"/>
              <a:t>Complexity Comparison</a:t>
            </a:r>
            <a:r>
              <a:rPr lang="en-GB" sz="2400" dirty="0"/>
              <a:t>:</a:t>
            </a:r>
          </a:p>
          <a:p>
            <a:pPr lvl="1"/>
            <a:r>
              <a:rPr lang="en-GB" sz="2000" dirty="0"/>
              <a:t>Global self-attention computation is generally unaffordable for a large </a:t>
            </a:r>
            <a:r>
              <a:rPr lang="en-GB" sz="2000" dirty="0" err="1"/>
              <a:t>hw</a:t>
            </a:r>
            <a:r>
              <a:rPr lang="en-GB" sz="2000" dirty="0"/>
              <a:t>, while the window based self-attention is scalable.</a:t>
            </a:r>
          </a:p>
          <a:p>
            <a:endParaRPr lang="en-GB" sz="2000" b="1" dirty="0"/>
          </a:p>
          <a:p>
            <a:endParaRPr lang="en-GB" sz="2400" b="1" dirty="0"/>
          </a:p>
          <a:p>
            <a:r>
              <a:rPr lang="en-GB" sz="2400" b="1" dirty="0"/>
              <a:t>Advantage</a:t>
            </a:r>
            <a:r>
              <a:rPr lang="en-GB" sz="2400" dirty="0"/>
              <a:t>: Scalable for large images.</a:t>
            </a:r>
            <a:endParaRPr lang="en-IT" sz="2400" dirty="0"/>
          </a:p>
        </p:txBody>
      </p:sp>
      <p:pic>
        <p:nvPicPr>
          <p:cNvPr id="9" name="Picture 8" descr="A black text on a white background&#10;&#10;AI-generated content may be incorrect.">
            <a:extLst>
              <a:ext uri="{FF2B5EF4-FFF2-40B4-BE49-F238E27FC236}">
                <a16:creationId xmlns:a16="http://schemas.microsoft.com/office/drawing/2014/main" id="{0BF32E92-41E1-55CA-7326-D8314F7B31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4103204"/>
            <a:ext cx="4064000" cy="88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71975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F7A67-E251-0A15-86F4-1CFE1B3C3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Shifted Window Partitioning (SW-MSA)</a:t>
            </a:r>
            <a:endParaRPr lang="en-I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0632F6-4444-AF89-6E22-C73EF0E33E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 b="1" dirty="0"/>
              <a:t>The Fixed Window Problem</a:t>
            </a:r>
            <a:r>
              <a:rPr lang="en-GB" sz="2400" dirty="0"/>
              <a:t>: Non-overlapping windows lack connections between them, limiting modelling power.</a:t>
            </a:r>
          </a:p>
          <a:p>
            <a:r>
              <a:rPr lang="en-GB" sz="2400" b="1" dirty="0"/>
              <a:t>The Solution (Shifted Windows)</a:t>
            </a:r>
            <a:r>
              <a:rPr lang="en-GB" sz="2400" dirty="0"/>
              <a:t>:</a:t>
            </a:r>
            <a:r>
              <a:rPr lang="en-GB" sz="2400" b="1" dirty="0"/>
              <a:t>  </a:t>
            </a:r>
            <a:r>
              <a:rPr lang="en-GB" sz="2400" dirty="0"/>
              <a:t>Alternate partitioning windows                                                                              between consecutive blocks.</a:t>
            </a:r>
          </a:p>
          <a:p>
            <a:pPr lvl="1"/>
            <a:r>
              <a:rPr lang="en-GB" sz="2000" b="1" dirty="0"/>
              <a:t>Layer l</a:t>
            </a:r>
            <a:r>
              <a:rPr lang="en-GB" sz="2000" dirty="0"/>
              <a:t>: Regular partition.</a:t>
            </a:r>
          </a:p>
          <a:p>
            <a:pPr lvl="1"/>
            <a:r>
              <a:rPr lang="en-GB" sz="2000" b="1" dirty="0"/>
              <a:t>Layer l+1</a:t>
            </a:r>
            <a:r>
              <a:rPr lang="en-GB" sz="2000" dirty="0"/>
              <a:t>: Translated (shifted) partition of (M/2,M/2) pixels.</a:t>
            </a:r>
          </a:p>
          <a:p>
            <a:r>
              <a:rPr lang="en-GB" sz="2400" b="1" dirty="0"/>
              <a:t>Effect</a:t>
            </a:r>
            <a:r>
              <a:rPr lang="en-GB" sz="2400" dirty="0"/>
              <a:t>: Introduces connections between neighbouring windows of the previous layer, maintaining efficiency.</a:t>
            </a:r>
            <a:endParaRPr lang="en-IT" sz="2400" dirty="0"/>
          </a:p>
        </p:txBody>
      </p:sp>
      <p:pic>
        <p:nvPicPr>
          <p:cNvPr id="4" name="Picture 3" descr="A screenshot of a layer of a window&#10;&#10;AI-generated content may be incorrect.">
            <a:extLst>
              <a:ext uri="{FF2B5EF4-FFF2-40B4-BE49-F238E27FC236}">
                <a16:creationId xmlns:a16="http://schemas.microsoft.com/office/drawing/2014/main" id="{E2F05FA6-3B5B-CAA2-638A-A283D21981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0923" y="4552038"/>
            <a:ext cx="4718108" cy="1759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8318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5466D6-3675-C8F7-EA14-1AC686642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SW-MSA: Efficient Batch Computation</a:t>
            </a:r>
            <a:endParaRPr lang="en-I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B329C9-AEEB-E95D-9196-048FB706D2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 b="1" dirty="0"/>
              <a:t>Challenge</a:t>
            </a:r>
            <a:r>
              <a:rPr lang="en-GB" sz="2400" dirty="0"/>
              <a:t>: Moving windows (shifting) creates multiple windows, some of which are smaller than M×M.</a:t>
            </a:r>
          </a:p>
          <a:p>
            <a:r>
              <a:rPr lang="en-GB" sz="2400" b="1" dirty="0"/>
              <a:t>Naive Solution</a:t>
            </a:r>
            <a:r>
              <a:rPr lang="en-GB" sz="2400" dirty="0"/>
              <a:t>: Padding (filling) small windows -&gt; Increases the calculation (2×2 becomes 3×3).</a:t>
            </a:r>
          </a:p>
          <a:p>
            <a:r>
              <a:rPr lang="en-GB" sz="2400" b="1" dirty="0"/>
              <a:t>Swin Solution </a:t>
            </a:r>
            <a:r>
              <a:rPr lang="en-GB" sz="2400" dirty="0"/>
              <a:t>(</a:t>
            </a:r>
            <a:r>
              <a:rPr lang="en-GB" sz="2400" b="1" dirty="0"/>
              <a:t>Cyclic Shift</a:t>
            </a:r>
            <a:r>
              <a:rPr lang="en-GB" sz="2400" dirty="0"/>
              <a:t>): Cyclically move the image up to the left.</a:t>
            </a:r>
          </a:p>
          <a:p>
            <a:pPr lvl="1"/>
            <a:r>
              <a:rPr lang="en-GB" sz="2000" dirty="0"/>
              <a:t>Windows are composed of non-adjacent sub-parts.</a:t>
            </a:r>
          </a:p>
          <a:p>
            <a:pPr lvl="1"/>
            <a:r>
              <a:rPr lang="en-GB" sz="2000" dirty="0"/>
              <a:t>A Masked MSA is used to limit attention within each contiguous </a:t>
            </a:r>
            <a:r>
              <a:rPr lang="en-GB" sz="2000" dirty="0" err="1"/>
              <a:t>subwindow</a:t>
            </a:r>
            <a:r>
              <a:rPr lang="en-GB" sz="2000" dirty="0"/>
              <a:t>.</a:t>
            </a:r>
          </a:p>
          <a:p>
            <a:r>
              <a:rPr lang="en-GB" sz="2400" b="1" dirty="0"/>
              <a:t>Advantage</a:t>
            </a:r>
            <a:r>
              <a:rPr lang="en-GB" sz="2400" dirty="0"/>
              <a:t>: Maintains the same number of windows as the regular partition, ensuring low latency.</a:t>
            </a:r>
            <a:endParaRPr lang="en-IT" sz="2400" dirty="0"/>
          </a:p>
        </p:txBody>
      </p:sp>
      <p:pic>
        <p:nvPicPr>
          <p:cNvPr id="5" name="Picture 4" descr="A diagram of a graph&#10;&#10;AI-generated content may be incorrect.">
            <a:extLst>
              <a:ext uri="{FF2B5EF4-FFF2-40B4-BE49-F238E27FC236}">
                <a16:creationId xmlns:a16="http://schemas.microsoft.com/office/drawing/2014/main" id="{E2FB43DF-523E-5E82-8BAE-C2146E022E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3793" y="4964926"/>
            <a:ext cx="5646768" cy="1527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2614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C5C48-1559-FD73-859C-937E51C46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Relative Position Bias</a:t>
            </a:r>
            <a:endParaRPr lang="en-I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F6047D-22A6-6C3B-5E23-0467A5C842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 b="1" dirty="0"/>
              <a:t>Mechanism</a:t>
            </a:r>
            <a:r>
              <a:rPr lang="en-GB" sz="2400" dirty="0"/>
              <a:t>: When calculating similarity in attention, a position-related bias term B is added.</a:t>
            </a:r>
          </a:p>
          <a:p>
            <a:endParaRPr lang="en-GB" sz="2400" dirty="0"/>
          </a:p>
          <a:p>
            <a:endParaRPr lang="en-GB" sz="2400" dirty="0"/>
          </a:p>
          <a:p>
            <a:r>
              <a:rPr lang="en-GB" sz="2400" b="1" dirty="0"/>
              <a:t>Importance</a:t>
            </a:r>
            <a:r>
              <a:rPr lang="en-GB" sz="2400" dirty="0"/>
              <a:t>: Significantly improves performance compared to no positional coding or the use of absolute positional embeddings (typical of </a:t>
            </a:r>
            <a:r>
              <a:rPr lang="en-GB" sz="2400" dirty="0" err="1"/>
              <a:t>ViT</a:t>
            </a:r>
            <a:r>
              <a:rPr lang="en-GB" sz="2400" dirty="0"/>
              <a:t>).</a:t>
            </a:r>
          </a:p>
          <a:p>
            <a:r>
              <a:rPr lang="en-GB" sz="2400" dirty="0"/>
              <a:t>Translation inductivity (invariance) still proves crucial for visual </a:t>
            </a:r>
            <a:r>
              <a:rPr lang="en-GB" sz="2400" dirty="0" err="1"/>
              <a:t>modeling</a:t>
            </a:r>
            <a:endParaRPr lang="en-IT" sz="2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A6F790A-6B40-32C5-38CE-C87FE78CD9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2392" y="2689635"/>
            <a:ext cx="7167215" cy="521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42039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BE807-B713-8E6B-CE74-337D6076C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Ablation Studies: Component Analysis</a:t>
            </a:r>
            <a:endParaRPr lang="en-I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64E6FC-61D4-FC48-C8EE-BC387B0625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 dirty="0"/>
              <a:t>What makes Swin effective?</a:t>
            </a:r>
          </a:p>
          <a:p>
            <a:pPr lvl="1"/>
            <a:r>
              <a:rPr lang="en-GB" sz="2000" b="1" dirty="0"/>
              <a:t>Shifted Windows</a:t>
            </a:r>
            <a:r>
              <a:rPr lang="en-GB" sz="2000" dirty="0"/>
              <a:t>: Without moving windows, performance drops (e.g. -2.8 AP on COCO), demonstrating that connections between windows are crucial.</a:t>
            </a:r>
          </a:p>
          <a:p>
            <a:pPr lvl="1"/>
            <a:r>
              <a:rPr lang="en-GB" sz="2000" b="1" dirty="0"/>
              <a:t>Relative Position Bias</a:t>
            </a:r>
            <a:r>
              <a:rPr lang="en-GB" sz="2000" dirty="0"/>
              <a:t>: Adds +1.2% on ImageNet and +1.3 AP on COCO compared to no positional encoding.</a:t>
            </a:r>
          </a:p>
          <a:p>
            <a:pPr lvl="1"/>
            <a:r>
              <a:rPr lang="en-GB" sz="2000" b="1" dirty="0"/>
              <a:t>Speed</a:t>
            </a:r>
            <a:r>
              <a:rPr lang="en-GB" sz="2000" dirty="0"/>
              <a:t>: Cyclic implementation is faster than padding (up to 18% speed-up).</a:t>
            </a:r>
            <a:endParaRPr lang="en-IT" sz="2000" dirty="0"/>
          </a:p>
        </p:txBody>
      </p:sp>
    </p:spTree>
    <p:extLst>
      <p:ext uri="{BB962C8B-B14F-4D97-AF65-F5344CB8AC3E}">
        <p14:creationId xmlns:p14="http://schemas.microsoft.com/office/powerpoint/2010/main" val="32618335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060D4-1EBB-FAC7-489E-AF6EFD3D0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6372A-321F-AEB7-3FBE-FDBA2D8467B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T" dirty="0"/>
              <a:t>Swin Transformer for Chest X-Ray classification</a:t>
            </a:r>
          </a:p>
        </p:txBody>
      </p:sp>
    </p:spTree>
    <p:extLst>
      <p:ext uri="{BB962C8B-B14F-4D97-AF65-F5344CB8AC3E}">
        <p14:creationId xmlns:p14="http://schemas.microsoft.com/office/powerpoint/2010/main" val="13904393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975ADE-F1B5-A4F8-B3CC-B59777BC7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073019-5F2F-310C-CFEE-0577D88A33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T" sz="2400" dirty="0"/>
              <a:t>Task: Binary classificatio of chest X-ray images into Normal and Pneumonia classes.</a:t>
            </a:r>
          </a:p>
          <a:p>
            <a:pPr lvl="1"/>
            <a:r>
              <a:rPr lang="en-IT" sz="2000" dirty="0"/>
              <a:t>Pneumonia class generalize both Bacterial and Viral Penumonia.</a:t>
            </a:r>
          </a:p>
        </p:txBody>
      </p:sp>
      <p:pic>
        <p:nvPicPr>
          <p:cNvPr id="4" name="Content Placeholder 3" descr="A x-ray of a chest&#10;&#10;AI-generated content may be incorrect.">
            <a:extLst>
              <a:ext uri="{FF2B5EF4-FFF2-40B4-BE49-F238E27FC236}">
                <a16:creationId xmlns:a16="http://schemas.microsoft.com/office/drawing/2014/main" id="{EA67B1A7-0C37-A871-60FE-004B28CB59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5744" y="3187700"/>
            <a:ext cx="8500511" cy="270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48060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1B94E4-949F-8C92-FCA7-DD08F5591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0B3287-843A-FEA2-5576-81AC08762F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T" sz="2400" dirty="0"/>
              <a:t>Unbalanced Dataset 5865 images Chest X-Ray dataset:</a:t>
            </a:r>
          </a:p>
          <a:p>
            <a:pPr lvl="1"/>
            <a:r>
              <a:rPr lang="en-IT" sz="2000" dirty="0"/>
              <a:t>1583 NORMAL</a:t>
            </a:r>
          </a:p>
          <a:p>
            <a:pPr lvl="1"/>
            <a:r>
              <a:rPr lang="en-IT" sz="2000" dirty="0"/>
              <a:t>4102 PNEUMONIA.</a:t>
            </a:r>
          </a:p>
        </p:txBody>
      </p:sp>
      <p:pic>
        <p:nvPicPr>
          <p:cNvPr id="4" name="Content Placeholder 6" descr="A graph with numbers and a bar&#10;&#10;AI-generated content may be incorrect.">
            <a:extLst>
              <a:ext uri="{FF2B5EF4-FFF2-40B4-BE49-F238E27FC236}">
                <a16:creationId xmlns:a16="http://schemas.microsoft.com/office/drawing/2014/main" id="{27338CEF-2CA9-DECE-5D13-B3B2175681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27" y="2360632"/>
            <a:ext cx="6616700" cy="3951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60537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580EC-39F3-3F9F-BA7E-4598D7E06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Training Results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8C9210-55BF-E314-4148-C3D7183FC9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T" sz="2400" dirty="0"/>
              <a:t>Due to original class imbalance </a:t>
            </a:r>
            <a:r>
              <a:rPr lang="en-GB" sz="2400" dirty="0"/>
              <a:t>in favor of positive case, it has been used the classic Binary Cross Entropy Loss.</a:t>
            </a:r>
          </a:p>
          <a:p>
            <a:r>
              <a:rPr lang="en-IT" sz="2400" dirty="0"/>
              <a:t>Same backbone (Swin-Tiny, 28M parmeters).</a:t>
            </a:r>
          </a:p>
          <a:p>
            <a:r>
              <a:rPr lang="en-US" sz="2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Training:  50</a:t>
            </a:r>
            <a:r>
              <a:rPr lang="en-US" sz="2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epochs  ·  </a:t>
            </a:r>
            <a:r>
              <a:rPr lang="en-US" sz="24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AdamW</a:t>
            </a:r>
            <a:r>
              <a:rPr lang="en-US" sz="2400"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24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BatchSize</a:t>
            </a:r>
            <a:r>
              <a:rPr lang="en-US" sz="2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32.</a:t>
            </a:r>
            <a:endParaRPr lang="en-US" sz="2400" dirty="0"/>
          </a:p>
          <a:p>
            <a:endParaRPr lang="en-IT" sz="24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0486B89-9957-8DE1-2BA6-468D062025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07" y="3773338"/>
            <a:ext cx="9892385" cy="2838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5240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761DDFE-071F-4200-B0AA-394476C2D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3E5CF3-C918-8CC5-9AED-96E961246E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8" y="547815"/>
            <a:ext cx="10466072" cy="1680519"/>
          </a:xfrm>
        </p:spPr>
        <p:txBody>
          <a:bodyPr>
            <a:normAutofit/>
          </a:bodyPr>
          <a:lstStyle/>
          <a:p>
            <a:r>
              <a:rPr lang="en-IT" sz="4000" dirty="0"/>
              <a:t>Classification Metrics</a:t>
            </a:r>
          </a:p>
        </p:txBody>
      </p:sp>
      <p:graphicFrame>
        <p:nvGraphicFramePr>
          <p:cNvPr id="4" name="Table 0">
            <a:extLst>
              <a:ext uri="{FF2B5EF4-FFF2-40B4-BE49-F238E27FC236}">
                <a16:creationId xmlns:a16="http://schemas.microsoft.com/office/drawing/2014/main" id="{B0EF9231-0786-918E-2966-A881A08C81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2003881"/>
              </p:ext>
            </p:extLst>
          </p:nvPr>
        </p:nvGraphicFramePr>
        <p:xfrm>
          <a:off x="1307648" y="2050449"/>
          <a:ext cx="9396704" cy="3603732"/>
        </p:xfrm>
        <a:graphic>
          <a:graphicData uri="http://schemas.openxmlformats.org/drawingml/2006/table">
            <a:tbl>
              <a:tblPr firstRow="1" firstCol="1" bandRow="1"/>
              <a:tblGrid>
                <a:gridCol w="17432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4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49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20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9161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3972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7759" marR="107759" marT="53879" marB="5387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7759" marR="107759" marT="53879" marB="5387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Bal. Accuracy</a:t>
                      </a:r>
                      <a:endParaRPr lang="en-US" sz="14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7759" marR="107759" marT="53879" marB="5387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Sensitivity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7759" marR="107759" marT="53879" marB="5387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Specificity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7759" marR="107759" marT="53879" marB="5387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8495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>
                          <a:solidFill>
                            <a:srgbClr val="3B82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Swin-T (W7)</a:t>
                      </a:r>
                      <a:endParaRPr lang="en-US" sz="15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7759" marR="107759" marT="53879" marB="5387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93.53 %</a:t>
                      </a:r>
                      <a:endParaRPr lang="en-US" sz="15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7759" marR="107759" marT="53879" marB="5387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94.18 %</a:t>
                      </a:r>
                      <a:endParaRPr lang="en-US" sz="150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7759" marR="107759" marT="53879" marB="5387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92.76 %</a:t>
                      </a:r>
                      <a:endParaRPr lang="en-US" sz="15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7759" marR="107759" marT="53879" marB="5387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95.60 %</a:t>
                      </a:r>
                      <a:endParaRPr lang="en-US" sz="1500" b="1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7759" marR="107759" marT="53879" marB="5387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8952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Swin-T (W14)</a:t>
                      </a:r>
                      <a:endParaRPr lang="en-US" sz="15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7759" marR="107759" marT="53879" marB="5387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94.04 %</a:t>
                      </a:r>
                      <a:endParaRPr lang="en-US" sz="1500" b="1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7759" marR="107759" marT="53879" marB="5387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94.13 %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7759" marR="107759" marT="53879" marB="5387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93.93 %</a:t>
                      </a:r>
                      <a:endParaRPr lang="en-US" sz="1500" b="1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7759" marR="107759" marT="53879" marB="5387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94.34</a:t>
                      </a: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500" b="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15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7759" marR="107759" marT="53879" marB="5387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8952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Swin-T (W56)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7759" marR="107759" marT="53879" marB="5387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92.33 %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7759" marR="107759" marT="53879" marB="5387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92.77 %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7759" marR="107759" marT="53879" marB="5387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91.82 %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7759" marR="107759" marT="53879" marB="5387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93.71 %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7759" marR="107759" marT="53879" marB="53879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081707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9954C-6072-1F24-23E5-3DDF980CF2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Memory &amp; Speed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0A3F9F9-C221-563B-C48D-09D9FB1050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65159" y="1825625"/>
            <a:ext cx="6261681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91279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2C203-6346-FF22-01D9-4DFDEB9C8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ROC Curves and Holistic Comparison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20C0C0B2-22C7-C6D4-497E-CA405CF2C77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42437" y="1548788"/>
            <a:ext cx="4915877" cy="501298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DD37217-5427-FB01-0EF7-6A5120D5B2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3686" y="1789816"/>
            <a:ext cx="5020114" cy="4717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88298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C95DA5-1C7B-118F-2562-C48699219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Holistic Comparison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613D0D-2BB6-3276-77C2-24509B03FB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T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E879DD4-0619-8E69-4CE9-A4EC727F34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2942" y="1894320"/>
            <a:ext cx="4268307" cy="4011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2576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64616-25B2-92F1-A2C7-1EA6440DB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57EBBC-51B9-5319-C034-05FFDB2D3E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T" sz="2400" dirty="0"/>
              <a:t>Swin-T(Win7) achieves the best accuracy, lowest memory and fast inference.</a:t>
            </a:r>
          </a:p>
          <a:p>
            <a:r>
              <a:rPr lang="en-IT" sz="2400" dirty="0"/>
              <a:t>Increasing windows size degrade performance:</a:t>
            </a:r>
          </a:p>
          <a:p>
            <a:pPr lvl="1"/>
            <a:r>
              <a:rPr lang="en-IT" dirty="0"/>
              <a:t>Win56 is slighlty worse than win14 and win7.</a:t>
            </a:r>
          </a:p>
          <a:p>
            <a:r>
              <a:rPr lang="en-IT" sz="2400" dirty="0"/>
              <a:t>Global (ViT simulation) attention is the weakes:</a:t>
            </a:r>
          </a:p>
          <a:p>
            <a:pPr lvl="1"/>
            <a:r>
              <a:rPr lang="en-IT" dirty="0"/>
              <a:t>Lowest metrics performances overall.</a:t>
            </a:r>
          </a:p>
          <a:p>
            <a:pPr lvl="1"/>
            <a:r>
              <a:rPr lang="en-IT" dirty="0"/>
              <a:t>Quadratic memory use w.r.t image size.</a:t>
            </a:r>
          </a:p>
          <a:p>
            <a:pPr lvl="1"/>
            <a:r>
              <a:rPr lang="en-IT" dirty="0"/>
              <a:t>Slower Inference.</a:t>
            </a:r>
          </a:p>
          <a:p>
            <a:r>
              <a:rPr lang="en-IT" sz="2400" dirty="0"/>
              <a:t>Localily is a beneficial inductive bias for chest X-ray classificatio at 224x224.</a:t>
            </a:r>
          </a:p>
        </p:txBody>
      </p:sp>
    </p:spTree>
    <p:extLst>
      <p:ext uri="{BB962C8B-B14F-4D97-AF65-F5344CB8AC3E}">
        <p14:creationId xmlns:p14="http://schemas.microsoft.com/office/powerpoint/2010/main" val="28700842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4651</TotalTime>
  <Words>974</Words>
  <Application>Microsoft Macintosh PowerPoint</Application>
  <PresentationFormat>Widescreen</PresentationFormat>
  <Paragraphs>110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Arial</vt:lpstr>
      <vt:lpstr>Calibri</vt:lpstr>
      <vt:lpstr>Office Theme</vt:lpstr>
      <vt:lpstr>Swin Transformer</vt:lpstr>
      <vt:lpstr>Introduction and Context</vt:lpstr>
      <vt:lpstr>Transformer Limitations</vt:lpstr>
      <vt:lpstr>The Solution: Swin Transformer</vt:lpstr>
      <vt:lpstr>General Architecture (Pipeline)</vt:lpstr>
      <vt:lpstr>Patch Merging</vt:lpstr>
      <vt:lpstr>Window-based Self-Attention (W-MSA)</vt:lpstr>
      <vt:lpstr>Shifted Window Partitioning (SW-MSA)</vt:lpstr>
      <vt:lpstr>SW-MSA: Efficient Batch Computation</vt:lpstr>
      <vt:lpstr>Relative Position Bias</vt:lpstr>
      <vt:lpstr>Ablation Studies: Component Analysis</vt:lpstr>
      <vt:lpstr>Swin Transformer for Chest X-Ray classification</vt:lpstr>
      <vt:lpstr>Problem</vt:lpstr>
      <vt:lpstr>Dataset</vt:lpstr>
      <vt:lpstr>Training Results </vt:lpstr>
      <vt:lpstr>Classification Metrics</vt:lpstr>
      <vt:lpstr>Memory &amp; Speed</vt:lpstr>
      <vt:lpstr>ROC Curves and Holistic Comparison</vt:lpstr>
      <vt:lpstr>Holistic Comparison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Matteo Fontana</dc:creator>
  <cp:lastModifiedBy>Matteo Fontana</cp:lastModifiedBy>
  <cp:revision>29</cp:revision>
  <dcterms:created xsi:type="dcterms:W3CDTF">2026-01-29T10:26:47Z</dcterms:created>
  <dcterms:modified xsi:type="dcterms:W3CDTF">2026-02-02T11:07:26Z</dcterms:modified>
</cp:coreProperties>
</file>